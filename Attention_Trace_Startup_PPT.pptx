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2"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96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D92B8-6066-4141-8EC1-9E07C5A9C7E7}" type="datetimeFigureOut">
              <a:rPr lang="en-US" smtClean="0"/>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4B1618-270E-4DCD-9A65-2E32FFCFEF65}" type="slidenum">
              <a:rPr lang="en-US" smtClean="0"/>
              <a:t>‹#›</a:t>
            </a:fld>
            <a:endParaRPr lang="en-US"/>
          </a:p>
        </p:txBody>
      </p:sp>
    </p:spTree>
    <p:extLst>
      <p:ext uri="{BB962C8B-B14F-4D97-AF65-F5344CB8AC3E}">
        <p14:creationId xmlns:p14="http://schemas.microsoft.com/office/powerpoint/2010/main" val="2826600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DF2BF-5278-4435-8511-2416BBE5EF91}" type="slidenum">
              <a:rPr lang="en-US" smtClean="0"/>
              <a:t>1</a:t>
            </a:fld>
            <a:endParaRPr lang="en-US"/>
          </a:p>
        </p:txBody>
      </p:sp>
    </p:spTree>
    <p:extLst>
      <p:ext uri="{BB962C8B-B14F-4D97-AF65-F5344CB8AC3E}">
        <p14:creationId xmlns:p14="http://schemas.microsoft.com/office/powerpoint/2010/main" val="3560248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A1FBD-80A1-DF00-5EBD-2F22CB866B50}"/>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F34359B8-152B-0D91-0F4F-303D57C85AAF}"/>
              </a:ext>
            </a:extLst>
          </p:cNvPr>
          <p:cNvSpPr/>
          <p:nvPr/>
        </p:nvSpPr>
        <p:spPr>
          <a:xfrm>
            <a:off x="10682748" y="4967211"/>
            <a:ext cx="3018503" cy="3131573"/>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a:extLst>
              <a:ext uri="{FF2B5EF4-FFF2-40B4-BE49-F238E27FC236}">
                <a16:creationId xmlns:a16="http://schemas.microsoft.com/office/drawing/2014/main" id="{9E13417D-42BC-1E8D-8E57-438626D95566}"/>
              </a:ext>
            </a:extLst>
          </p:cNvPr>
          <p:cNvSpPr/>
          <p:nvPr/>
        </p:nvSpPr>
        <p:spPr>
          <a:xfrm>
            <a:off x="3810000" y="782649"/>
            <a:ext cx="4572000" cy="508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0141CBC9-BF1F-00DC-2B29-2CFFB69005D8}"/>
              </a:ext>
            </a:extLst>
          </p:cNvPr>
          <p:cNvSpPr txBox="1"/>
          <p:nvPr/>
        </p:nvSpPr>
        <p:spPr>
          <a:xfrm>
            <a:off x="859335" y="3233075"/>
            <a:ext cx="3329203" cy="1015663"/>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Submitted To:</a:t>
            </a:r>
          </a:p>
          <a:p>
            <a:r>
              <a:rPr lang="en-IN" sz="2000" dirty="0">
                <a:latin typeface="Times New Roman" panose="02020603050405020304" pitchFamily="18" charset="0"/>
                <a:cs typeface="Times New Roman" panose="02020603050405020304" pitchFamily="18" charset="0"/>
              </a:rPr>
              <a:t>Dr.(Prof.) R.K SINGH </a:t>
            </a:r>
          </a:p>
          <a:p>
            <a:r>
              <a:rPr lang="en-IN" sz="2000" dirty="0">
                <a:latin typeface="Times New Roman" panose="02020603050405020304" pitchFamily="18" charset="0"/>
                <a:cs typeface="Times New Roman" panose="02020603050405020304" pitchFamily="18" charset="0"/>
              </a:rPr>
              <a:t>Prof. </a:t>
            </a:r>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SONAM</a:t>
            </a:r>
            <a:r>
              <a:rPr lang="en-IN" sz="2000" dirty="0">
                <a:latin typeface="Times New Roman" panose="02020603050405020304" pitchFamily="18" charset="0"/>
                <a:cs typeface="Times New Roman" panose="02020603050405020304" pitchFamily="18" charset="0"/>
              </a:rPr>
              <a:t> ARYA</a:t>
            </a:r>
          </a:p>
        </p:txBody>
      </p:sp>
      <p:sp>
        <p:nvSpPr>
          <p:cNvPr id="13" name="TextBox 12">
            <a:extLst>
              <a:ext uri="{FF2B5EF4-FFF2-40B4-BE49-F238E27FC236}">
                <a16:creationId xmlns:a16="http://schemas.microsoft.com/office/drawing/2014/main" id="{7E6435B2-238C-BF67-977A-543C6314B2FE}"/>
              </a:ext>
            </a:extLst>
          </p:cNvPr>
          <p:cNvSpPr txBox="1"/>
          <p:nvPr/>
        </p:nvSpPr>
        <p:spPr>
          <a:xfrm>
            <a:off x="8438666" y="3242021"/>
            <a:ext cx="3018503"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Submitted By:</a:t>
            </a:r>
          </a:p>
          <a:p>
            <a:r>
              <a:rPr lang="en-IN" dirty="0">
                <a:latin typeface="Times New Roman" panose="02020603050405020304" pitchFamily="18" charset="0"/>
                <a:cs typeface="Times New Roman" panose="02020603050405020304" pitchFamily="18" charset="0"/>
              </a:rPr>
              <a:t>SAURABH KUMAR(24764)</a:t>
            </a:r>
          </a:p>
          <a:p>
            <a:r>
              <a:rPr lang="en-IN" dirty="0">
                <a:latin typeface="Times New Roman" panose="02020603050405020304" pitchFamily="18" charset="0"/>
                <a:cs typeface="Times New Roman" panose="02020603050405020304" pitchFamily="18" charset="0"/>
              </a:rPr>
              <a:t>SUJAN </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CHAURASIA</a:t>
            </a:r>
            <a:r>
              <a:rPr lang="en-IN" dirty="0">
                <a:latin typeface="Times New Roman" panose="02020603050405020304" pitchFamily="18" charset="0"/>
                <a:cs typeface="Times New Roman" panose="02020603050405020304" pitchFamily="18" charset="0"/>
              </a:rPr>
              <a:t>(24768)</a:t>
            </a:r>
          </a:p>
          <a:p>
            <a:r>
              <a:rPr lang="en-IN" dirty="0">
                <a:latin typeface="Times New Roman" panose="02020603050405020304" pitchFamily="18" charset="0"/>
                <a:cs typeface="Times New Roman" panose="02020603050405020304" pitchFamily="18" charset="0"/>
              </a:rPr>
              <a:t>KARTIK YADAV(24735)</a:t>
            </a:r>
          </a:p>
        </p:txBody>
      </p:sp>
      <p:grpSp>
        <p:nvGrpSpPr>
          <p:cNvPr id="19" name="Group 18">
            <a:extLst>
              <a:ext uri="{FF2B5EF4-FFF2-40B4-BE49-F238E27FC236}">
                <a16:creationId xmlns:a16="http://schemas.microsoft.com/office/drawing/2014/main" id="{1AC385CA-27DB-A635-D1DD-0A0B7CDD8D58}"/>
              </a:ext>
            </a:extLst>
          </p:cNvPr>
          <p:cNvGrpSpPr/>
          <p:nvPr/>
        </p:nvGrpSpPr>
        <p:grpSpPr>
          <a:xfrm>
            <a:off x="5099255" y="2838894"/>
            <a:ext cx="1993490" cy="1941248"/>
            <a:chOff x="4694903" y="2576051"/>
            <a:chExt cx="2802195" cy="2800555"/>
          </a:xfrm>
        </p:grpSpPr>
        <p:sp>
          <p:nvSpPr>
            <p:cNvPr id="2" name="Oval 1">
              <a:extLst>
                <a:ext uri="{FF2B5EF4-FFF2-40B4-BE49-F238E27FC236}">
                  <a16:creationId xmlns:a16="http://schemas.microsoft.com/office/drawing/2014/main" id="{69796A5C-02AC-F3AE-3C79-AB52C9E4934E}"/>
                </a:ext>
              </a:extLst>
            </p:cNvPr>
            <p:cNvSpPr/>
            <p:nvPr/>
          </p:nvSpPr>
          <p:spPr>
            <a:xfrm>
              <a:off x="4694903" y="2576051"/>
              <a:ext cx="2802195" cy="2800555"/>
            </a:xfrm>
            <a:prstGeom prst="ellipse">
              <a:avLst/>
            </a:prstGeom>
            <a:ln>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dirty="0"/>
            </a:p>
          </p:txBody>
        </p:sp>
        <p:pic>
          <p:nvPicPr>
            <p:cNvPr id="15" name="Picture 14">
              <a:extLst>
                <a:ext uri="{FF2B5EF4-FFF2-40B4-BE49-F238E27FC236}">
                  <a16:creationId xmlns:a16="http://schemas.microsoft.com/office/drawing/2014/main" id="{54C25CD8-2DA9-A37D-AC7E-1FCE126C00ED}"/>
                </a:ext>
              </a:extLst>
            </p:cNvPr>
            <p:cNvPicPr>
              <a:picLocks noChangeAspect="1"/>
            </p:cNvPicPr>
            <p:nvPr/>
          </p:nvPicPr>
          <p:blipFill>
            <a:blip r:embed="rId3"/>
            <a:stretch>
              <a:fillRect/>
            </a:stretch>
          </p:blipFill>
          <p:spPr>
            <a:xfrm>
              <a:off x="4856532" y="2753031"/>
              <a:ext cx="2488769" cy="2488769"/>
            </a:xfrm>
            <a:prstGeom prst="rect">
              <a:avLst/>
            </a:prstGeom>
          </p:spPr>
        </p:pic>
      </p:grpSp>
      <p:sp>
        <p:nvSpPr>
          <p:cNvPr id="18" name="TextBox 17">
            <a:extLst>
              <a:ext uri="{FF2B5EF4-FFF2-40B4-BE49-F238E27FC236}">
                <a16:creationId xmlns:a16="http://schemas.microsoft.com/office/drawing/2014/main" id="{A8B0F1F3-E94F-DE70-F923-E5E7CCE811C7}"/>
              </a:ext>
            </a:extLst>
          </p:cNvPr>
          <p:cNvSpPr txBox="1"/>
          <p:nvPr/>
        </p:nvSpPr>
        <p:spPr>
          <a:xfrm>
            <a:off x="2462981" y="5206783"/>
            <a:ext cx="7266038" cy="707886"/>
          </a:xfrm>
          <a:prstGeom prst="rect">
            <a:avLst/>
          </a:prstGeom>
          <a:noFill/>
        </p:spPr>
        <p:txBody>
          <a:bodyPr wrap="square">
            <a:spAutoFit/>
          </a:bodyPr>
          <a:lstStyle/>
          <a:p>
            <a:pPr algn="ctr"/>
            <a:r>
              <a:rPr lang="en-US" sz="2000" b="1" dirty="0">
                <a:latin typeface="Arial Black" panose="020B0A04020102020204" pitchFamily="34" charset="0"/>
              </a:rPr>
              <a:t>KAMLA NEHRU INSTITUTE OF TECHNOLOGY SULTANPUR (U.P.)</a:t>
            </a:r>
          </a:p>
        </p:txBody>
      </p:sp>
      <p:sp>
        <p:nvSpPr>
          <p:cNvPr id="20" name="Rectangle 19">
            <a:extLst>
              <a:ext uri="{FF2B5EF4-FFF2-40B4-BE49-F238E27FC236}">
                <a16:creationId xmlns:a16="http://schemas.microsoft.com/office/drawing/2014/main" id="{905E4D65-E917-261E-6061-E57FABC25205}"/>
              </a:ext>
            </a:extLst>
          </p:cNvPr>
          <p:cNvSpPr/>
          <p:nvPr/>
        </p:nvSpPr>
        <p:spPr>
          <a:xfrm>
            <a:off x="3810000" y="6293645"/>
            <a:ext cx="4572000" cy="508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B7C9F1CF-DEB6-EB57-F284-9BCD8B767C6C}"/>
              </a:ext>
            </a:extLst>
          </p:cNvPr>
          <p:cNvSpPr txBox="1"/>
          <p:nvPr/>
        </p:nvSpPr>
        <p:spPr>
          <a:xfrm>
            <a:off x="2462981" y="5876797"/>
            <a:ext cx="7266038" cy="400110"/>
          </a:xfrm>
          <a:prstGeom prst="rect">
            <a:avLst/>
          </a:prstGeom>
          <a:noFill/>
        </p:spPr>
        <p:txBody>
          <a:bodyPr wrap="square">
            <a:spAutoFit/>
          </a:bodyPr>
          <a:lstStyle/>
          <a:p>
            <a:pPr marL="0" algn="ctr" rtl="0" eaLnBrk="1" latinLnBrk="0" hangingPunct="1">
              <a:buNone/>
            </a:pPr>
            <a:r>
              <a:rPr lang="en-US" sz="2000" kern="1200" dirty="0">
                <a:effectLst/>
                <a:latin typeface="Times New Roman" panose="02020603050405020304" pitchFamily="18" charset="0"/>
                <a:ea typeface="Times New Roman" panose="02020603050405020304" pitchFamily="18" charset="0"/>
                <a:cs typeface="+mn-cs"/>
              </a:rPr>
              <a:t> </a:t>
            </a:r>
            <a:r>
              <a:rPr lang="en-US" sz="2000" b="1" kern="1200" dirty="0">
                <a:effectLst/>
                <a:latin typeface="Times New Roman" panose="02020603050405020304" pitchFamily="18" charset="0"/>
                <a:ea typeface="Times New Roman" panose="02020603050405020304" pitchFamily="18" charset="0"/>
                <a:cs typeface="+mn-cs"/>
              </a:rPr>
              <a:t>MASTER</a:t>
            </a:r>
            <a:r>
              <a:rPr lang="en-US" sz="2000" b="1" kern="1200" spc="-11" dirty="0">
                <a:effectLst/>
                <a:latin typeface="Times New Roman" panose="02020603050405020304" pitchFamily="18" charset="0"/>
                <a:ea typeface="Times New Roman" panose="02020603050405020304" pitchFamily="18" charset="0"/>
                <a:cs typeface="+mn-cs"/>
              </a:rPr>
              <a:t> </a:t>
            </a:r>
            <a:r>
              <a:rPr lang="en-US" sz="2000" b="1" kern="1200" dirty="0">
                <a:effectLst/>
                <a:latin typeface="Times New Roman" panose="02020603050405020304" pitchFamily="18" charset="0"/>
                <a:ea typeface="Times New Roman" panose="02020603050405020304" pitchFamily="18" charset="0"/>
                <a:cs typeface="+mn-cs"/>
              </a:rPr>
              <a:t>OF</a:t>
            </a:r>
            <a:r>
              <a:rPr lang="en-US" sz="2000" b="1" kern="1200" spc="-38" dirty="0">
                <a:effectLst/>
                <a:latin typeface="Times New Roman" panose="02020603050405020304" pitchFamily="18" charset="0"/>
                <a:ea typeface="Times New Roman" panose="02020603050405020304" pitchFamily="18" charset="0"/>
                <a:cs typeface="+mn-cs"/>
              </a:rPr>
              <a:t> </a:t>
            </a:r>
            <a:r>
              <a:rPr lang="en-US" sz="2000" b="1" kern="1200" dirty="0">
                <a:effectLst/>
                <a:latin typeface="Times New Roman" panose="02020603050405020304" pitchFamily="18" charset="0"/>
                <a:ea typeface="Times New Roman" panose="02020603050405020304" pitchFamily="18" charset="0"/>
                <a:cs typeface="+mn-cs"/>
              </a:rPr>
              <a:t>COMPUTER</a:t>
            </a:r>
            <a:r>
              <a:rPr lang="en-US" sz="2000" b="1" kern="1200" spc="-56" dirty="0">
                <a:effectLst/>
                <a:latin typeface="Times New Roman" panose="02020603050405020304" pitchFamily="18" charset="0"/>
                <a:ea typeface="Times New Roman" panose="02020603050405020304" pitchFamily="18" charset="0"/>
                <a:cs typeface="+mn-cs"/>
              </a:rPr>
              <a:t> </a:t>
            </a:r>
            <a:r>
              <a:rPr lang="en-US" sz="2000" b="1" kern="1200" spc="-8" dirty="0">
                <a:effectLst/>
                <a:latin typeface="Times New Roman" panose="02020603050405020304" pitchFamily="18" charset="0"/>
                <a:ea typeface="Times New Roman" panose="02020603050405020304" pitchFamily="18" charset="0"/>
                <a:cs typeface="+mn-cs"/>
              </a:rPr>
              <a:t>APPLICATIONS</a:t>
            </a:r>
            <a:endParaRPr lang="en-US" sz="2000" dirty="0">
              <a:effectLst/>
            </a:endParaRPr>
          </a:p>
        </p:txBody>
      </p:sp>
      <p:sp>
        <p:nvSpPr>
          <p:cNvPr id="24" name="Rectangle: Rounded Corners 23">
            <a:extLst>
              <a:ext uri="{FF2B5EF4-FFF2-40B4-BE49-F238E27FC236}">
                <a16:creationId xmlns:a16="http://schemas.microsoft.com/office/drawing/2014/main" id="{40EBFD18-B1E3-77BE-4670-BCAB504A3D59}"/>
              </a:ext>
            </a:extLst>
          </p:cNvPr>
          <p:cNvSpPr/>
          <p:nvPr/>
        </p:nvSpPr>
        <p:spPr>
          <a:xfrm>
            <a:off x="-1132764" y="-873458"/>
            <a:ext cx="2715904" cy="2661314"/>
          </a:xfrm>
          <a:prstGeom prst="roundRect">
            <a:avLst>
              <a:gd name="adj" fmla="val 19866"/>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1D656A5-1C31-186F-1958-32EBEF7EAEBC}"/>
              </a:ext>
            </a:extLst>
          </p:cNvPr>
          <p:cNvSpPr txBox="1"/>
          <p:nvPr/>
        </p:nvSpPr>
        <p:spPr>
          <a:xfrm>
            <a:off x="746760" y="836570"/>
            <a:ext cx="10698480" cy="914400"/>
          </a:xfrm>
          <a:prstGeom prst="rect">
            <a:avLst/>
          </a:prstGeom>
          <a:noFill/>
        </p:spPr>
        <p:txBody>
          <a:bodyPr wrap="square">
            <a:spAutoFit/>
          </a:bodyPr>
          <a:lstStyle/>
          <a:p>
            <a:pPr algn="ctr">
              <a:defRPr sz="5200" b="1">
                <a:solidFill>
                  <a:srgbClr val="FFFFFF"/>
                </a:solidFill>
                <a:latin typeface="Trebuchet MS"/>
              </a:defRPr>
            </a:pPr>
            <a:r>
              <a:rPr dirty="0">
                <a:solidFill>
                  <a:schemeClr val="tx1">
                    <a:lumMod val="95000"/>
                    <a:lumOff val="5000"/>
                  </a:schemeClr>
                </a:solidFill>
              </a:rPr>
              <a:t>ATTENTION TRACE</a:t>
            </a:r>
          </a:p>
        </p:txBody>
      </p:sp>
    </p:spTree>
    <p:extLst>
      <p:ext uri="{BB962C8B-B14F-4D97-AF65-F5344CB8AC3E}">
        <p14:creationId xmlns:p14="http://schemas.microsoft.com/office/powerpoint/2010/main" val="3372182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val 1"/>
          <p:cNvSpPr/>
          <p:nvPr/>
        </p:nvSpPr>
        <p:spPr>
          <a:xfrm>
            <a:off x="-914400" y="-914400"/>
            <a:ext cx="3657600" cy="3657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144000" y="4114800"/>
            <a:ext cx="3657600" cy="36576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840480" y="2011680"/>
            <a:ext cx="4572000" cy="508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0"/>
            <a:ext cx="10698480" cy="914400"/>
          </a:xfrm>
          <a:prstGeom prst="rect">
            <a:avLst/>
          </a:prstGeom>
          <a:noFill/>
        </p:spPr>
        <p:txBody>
          <a:bodyPr wrap="square">
            <a:spAutoFit/>
          </a:bodyPr>
          <a:lstStyle/>
          <a:p>
            <a:pPr algn="ctr">
              <a:defRPr sz="5200" b="1">
                <a:solidFill>
                  <a:srgbClr val="FFFFFF"/>
                </a:solidFill>
                <a:latin typeface="Arial Black"/>
              </a:defRPr>
            </a:pPr>
            <a:r>
              <a:t>ATTENTION TRACE</a:t>
            </a:r>
          </a:p>
        </p:txBody>
      </p:sp>
      <p:sp>
        <p:nvSpPr>
          <p:cNvPr id="6" name="TextBox 5"/>
          <p:cNvSpPr txBox="1"/>
          <p:nvPr/>
        </p:nvSpPr>
        <p:spPr>
          <a:xfrm>
            <a:off x="731520" y="3200400"/>
            <a:ext cx="10698480" cy="548640"/>
          </a:xfrm>
          <a:prstGeom prst="rect">
            <a:avLst/>
          </a:prstGeom>
          <a:noFill/>
        </p:spPr>
        <p:txBody>
          <a:bodyPr wrap="square">
            <a:spAutoFit/>
          </a:bodyPr>
          <a:lstStyle/>
          <a:p>
            <a:pPr algn="ctr">
              <a:defRPr sz="2400" b="0">
                <a:solidFill>
                  <a:srgbClr val="FF4D29"/>
                </a:solidFill>
                <a:latin typeface="Times New Roman"/>
              </a:defRPr>
            </a:pPr>
            <a:r>
              <a:t>AI-Powered Real-Time Advertising Analytics Platform</a:t>
            </a:r>
          </a:p>
        </p:txBody>
      </p:sp>
      <p:sp>
        <p:nvSpPr>
          <p:cNvPr id="7" name="TextBox 6"/>
          <p:cNvSpPr txBox="1"/>
          <p:nvPr/>
        </p:nvSpPr>
        <p:spPr>
          <a:xfrm>
            <a:off x="1371600" y="4023360"/>
            <a:ext cx="9418320" cy="457200"/>
          </a:xfrm>
          <a:prstGeom prst="rect">
            <a:avLst/>
          </a:prstGeom>
          <a:noFill/>
        </p:spPr>
        <p:txBody>
          <a:bodyPr wrap="square">
            <a:spAutoFit/>
          </a:bodyPr>
          <a:lstStyle/>
          <a:p>
            <a:pPr algn="ctr">
              <a:defRPr sz="1400" b="0">
                <a:solidFill>
                  <a:srgbClr val="94A3B8"/>
                </a:solidFill>
                <a:latin typeface="Times New Roman"/>
              </a:defRPr>
            </a:pPr>
            <a:r>
              <a:t>Leveraging Computer Vision, Emotion AI &amp; Behavioral Tracking for Next-Gen Ad Intelligence</a:t>
            </a:r>
          </a:p>
        </p:txBody>
      </p:sp>
      <p:sp>
        <p:nvSpPr>
          <p:cNvPr id="8" name="TextBox 7"/>
          <p:cNvSpPr txBox="1"/>
          <p:nvPr/>
        </p:nvSpPr>
        <p:spPr>
          <a:xfrm>
            <a:off x="1371600" y="5029200"/>
            <a:ext cx="9418320" cy="365760"/>
          </a:xfrm>
          <a:prstGeom prst="rect">
            <a:avLst/>
          </a:prstGeom>
          <a:noFill/>
        </p:spPr>
        <p:txBody>
          <a:bodyPr wrap="square">
            <a:spAutoFit/>
          </a:bodyPr>
          <a:lstStyle/>
          <a:p>
            <a:pPr algn="ctr">
              <a:defRPr sz="1300" b="0">
                <a:solidFill>
                  <a:srgbClr val="64748B"/>
                </a:solidFill>
                <a:latin typeface="Times New Roman"/>
              </a:defRPr>
            </a:pPr>
            <a:r>
              <a:t>Final Year Project Presentation  |  May 2026</a:t>
            </a:r>
          </a:p>
        </p:txBody>
      </p:sp>
      <p:sp>
        <p:nvSpPr>
          <p:cNvPr id="9" name="TextBox 8"/>
          <p:cNvSpPr txBox="1"/>
          <p:nvPr/>
        </p:nvSpPr>
        <p:spPr>
          <a:xfrm>
            <a:off x="1371600" y="5394960"/>
            <a:ext cx="9418320" cy="365760"/>
          </a:xfrm>
          <a:prstGeom prst="rect">
            <a:avLst/>
          </a:prstGeom>
          <a:noFill/>
        </p:spPr>
        <p:txBody>
          <a:bodyPr wrap="square">
            <a:spAutoFit/>
          </a:bodyPr>
          <a:lstStyle/>
          <a:p>
            <a:pPr algn="ctr">
              <a:defRPr sz="1200" b="0">
                <a:solidFill>
                  <a:srgbClr val="64748B"/>
                </a:solidFill>
                <a:latin typeface="Times New Roman"/>
              </a:defRPr>
            </a:pPr>
            <a:r>
              <a:t>Guided by: Dr. (Prof.) R. K. Singh  &amp;  Prof. Sonam Arya</a:t>
            </a:r>
          </a:p>
        </p:txBody>
      </p:sp>
      <p:sp>
        <p:nvSpPr>
          <p:cNvPr id="10" name="TextBox 9"/>
          <p:cNvSpPr txBox="1"/>
          <p:nvPr/>
        </p:nvSpPr>
        <p:spPr>
          <a:xfrm>
            <a:off x="1371600" y="5715000"/>
            <a:ext cx="9418320" cy="365760"/>
          </a:xfrm>
          <a:prstGeom prst="rect">
            <a:avLst/>
          </a:prstGeom>
          <a:noFill/>
        </p:spPr>
        <p:txBody>
          <a:bodyPr wrap="square">
            <a:spAutoFit/>
          </a:bodyPr>
          <a:lstStyle/>
          <a:p>
            <a:pPr algn="ctr">
              <a:defRPr sz="1200" b="0">
                <a:solidFill>
                  <a:srgbClr val="64748B"/>
                </a:solidFill>
                <a:latin typeface="Times New Roman"/>
              </a:defRPr>
            </a:pPr>
            <a:r>
              <a:t>Presented by: Saurabh Kumar  |  Sujan Chaurasia  |  Kartik Yadav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01</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Introduction</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645920"/>
            <a:ext cx="11155680" cy="1097280"/>
          </a:xfrm>
          <a:prstGeom prst="rect">
            <a:avLst/>
          </a:prstGeom>
          <a:noFill/>
        </p:spPr>
        <p:txBody>
          <a:bodyPr wrap="square">
            <a:spAutoFit/>
          </a:bodyPr>
          <a:lstStyle/>
          <a:p>
            <a:pPr algn="l">
              <a:defRPr sz="1600" b="0">
                <a:solidFill>
                  <a:srgbClr val="334155"/>
                </a:solidFill>
                <a:latin typeface="Times New Roman"/>
              </a:defRPr>
            </a:pPr>
            <a:r>
              <a:t>Attention Trace is a SaaS-based advertising analytics platform that uses Artificial Intelligence to measure how users truly engage with online advertisements. Unlike traditional ad tracking that only counts impressions and clicks, our platform leverages real-time computer vision and behavioral analysis to deliver a comprehensive Engagement Score.</a:t>
            </a:r>
          </a:p>
        </p:txBody>
      </p:sp>
      <p:sp>
        <p:nvSpPr>
          <p:cNvPr id="8" name="Rounded Rectangle 7"/>
          <p:cNvSpPr/>
          <p:nvPr/>
        </p:nvSpPr>
        <p:spPr>
          <a:xfrm>
            <a:off x="365760" y="3200400"/>
            <a:ext cx="3538728" cy="2743200"/>
          </a:xfrm>
          <a:prstGeom prst="roundRect">
            <a:avLst/>
          </a:prstGeom>
          <a:solidFill>
            <a:srgbClr val="F1F5F9"/>
          </a:solidFill>
          <a:ln w="12700">
            <a:solidFill>
              <a:srgbClr val="FF4D2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3383280"/>
            <a:ext cx="457200" cy="508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3611880"/>
            <a:ext cx="3081528" cy="365760"/>
          </a:xfrm>
          <a:prstGeom prst="rect">
            <a:avLst/>
          </a:prstGeom>
          <a:noFill/>
        </p:spPr>
        <p:txBody>
          <a:bodyPr wrap="square">
            <a:spAutoFit/>
          </a:bodyPr>
          <a:lstStyle/>
          <a:p>
            <a:pPr algn="l">
              <a:defRPr sz="1600" b="1">
                <a:solidFill>
                  <a:srgbClr val="0F172A"/>
                </a:solidFill>
                <a:latin typeface="Arial Black"/>
              </a:defRPr>
            </a:pPr>
            <a:r>
              <a:t>Emotion Detection</a:t>
            </a:r>
          </a:p>
        </p:txBody>
      </p:sp>
      <p:sp>
        <p:nvSpPr>
          <p:cNvPr id="11" name="TextBox 10"/>
          <p:cNvSpPr txBox="1"/>
          <p:nvPr/>
        </p:nvSpPr>
        <p:spPr>
          <a:xfrm>
            <a:off x="685800" y="4114800"/>
            <a:ext cx="2990088" cy="502920"/>
          </a:xfrm>
          <a:prstGeom prst="rect">
            <a:avLst/>
          </a:prstGeom>
          <a:noFill/>
        </p:spPr>
        <p:txBody>
          <a:bodyPr wrap="square">
            <a:spAutoFit/>
          </a:bodyPr>
          <a:lstStyle/>
          <a:p>
            <a:pPr algn="l">
              <a:defRPr sz="1100" b="0">
                <a:solidFill>
                  <a:srgbClr val="334155"/>
                </a:solidFill>
                <a:latin typeface="Times New Roman"/>
              </a:defRPr>
            </a:pPr>
            <a:r>
              <a:t>Real-time facial expression analysis using FER deep learning model</a:t>
            </a:r>
          </a:p>
        </p:txBody>
      </p:sp>
      <p:sp>
        <p:nvSpPr>
          <p:cNvPr id="12" name="TextBox 11"/>
          <p:cNvSpPr txBox="1"/>
          <p:nvPr/>
        </p:nvSpPr>
        <p:spPr>
          <a:xfrm>
            <a:off x="685800" y="4663440"/>
            <a:ext cx="2990088" cy="502920"/>
          </a:xfrm>
          <a:prstGeom prst="rect">
            <a:avLst/>
          </a:prstGeom>
          <a:noFill/>
        </p:spPr>
        <p:txBody>
          <a:bodyPr wrap="square">
            <a:spAutoFit/>
          </a:bodyPr>
          <a:lstStyle/>
          <a:p>
            <a:pPr algn="l">
              <a:defRPr sz="1100" b="0">
                <a:solidFill>
                  <a:srgbClr val="334155"/>
                </a:solidFill>
                <a:latin typeface="Times New Roman"/>
              </a:defRPr>
            </a:pPr>
            <a:r>
              <a:t>Tracks 7 emotions: Happy, Sad, Angry, Surprise, Fear, Disgust, Neutral</a:t>
            </a:r>
          </a:p>
        </p:txBody>
      </p:sp>
      <p:sp>
        <p:nvSpPr>
          <p:cNvPr id="13" name="TextBox 12"/>
          <p:cNvSpPr txBox="1"/>
          <p:nvPr/>
        </p:nvSpPr>
        <p:spPr>
          <a:xfrm>
            <a:off x="685800" y="5212080"/>
            <a:ext cx="2990088" cy="502920"/>
          </a:xfrm>
          <a:prstGeom prst="rect">
            <a:avLst/>
          </a:prstGeom>
          <a:noFill/>
        </p:spPr>
        <p:txBody>
          <a:bodyPr wrap="square">
            <a:spAutoFit/>
          </a:bodyPr>
          <a:lstStyle/>
          <a:p>
            <a:pPr algn="l">
              <a:defRPr sz="1100" b="0">
                <a:solidFill>
                  <a:srgbClr val="334155"/>
                </a:solidFill>
                <a:latin typeface="Times New Roman"/>
              </a:defRPr>
            </a:pPr>
            <a:r>
              <a:t>Emotion timeline and distribution charts generated per session</a:t>
            </a:r>
          </a:p>
        </p:txBody>
      </p:sp>
      <p:sp>
        <p:nvSpPr>
          <p:cNvPr id="14" name="Rounded Rectangle 13"/>
          <p:cNvSpPr/>
          <p:nvPr/>
        </p:nvSpPr>
        <p:spPr>
          <a:xfrm>
            <a:off x="4087368" y="3200400"/>
            <a:ext cx="3538728" cy="2743200"/>
          </a:xfrm>
          <a:prstGeom prst="roundRect">
            <a:avLst/>
          </a:prstGeom>
          <a:solidFill>
            <a:srgbClr val="F1F5F9"/>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70248" y="3383280"/>
            <a:ext cx="4572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15968" y="3611880"/>
            <a:ext cx="3081528" cy="365760"/>
          </a:xfrm>
          <a:prstGeom prst="rect">
            <a:avLst/>
          </a:prstGeom>
          <a:noFill/>
        </p:spPr>
        <p:txBody>
          <a:bodyPr wrap="square">
            <a:spAutoFit/>
          </a:bodyPr>
          <a:lstStyle/>
          <a:p>
            <a:pPr algn="l">
              <a:defRPr sz="1600" b="1">
                <a:solidFill>
                  <a:srgbClr val="0F172A"/>
                </a:solidFill>
                <a:latin typeface="Arial Black"/>
              </a:defRPr>
            </a:pPr>
            <a:r>
              <a:t>Gaze Tracking</a:t>
            </a:r>
          </a:p>
        </p:txBody>
      </p:sp>
      <p:sp>
        <p:nvSpPr>
          <p:cNvPr id="17" name="TextBox 16"/>
          <p:cNvSpPr txBox="1"/>
          <p:nvPr/>
        </p:nvSpPr>
        <p:spPr>
          <a:xfrm>
            <a:off x="4407408" y="4114800"/>
            <a:ext cx="2990088" cy="502920"/>
          </a:xfrm>
          <a:prstGeom prst="rect">
            <a:avLst/>
          </a:prstGeom>
          <a:noFill/>
        </p:spPr>
        <p:txBody>
          <a:bodyPr wrap="square">
            <a:spAutoFit/>
          </a:bodyPr>
          <a:lstStyle/>
          <a:p>
            <a:pPr algn="l">
              <a:defRPr sz="1100" b="0">
                <a:solidFill>
                  <a:srgbClr val="334155"/>
                </a:solidFill>
                <a:latin typeface="Times New Roman"/>
              </a:defRPr>
            </a:pPr>
            <a:r>
              <a:t>Google MediaPipe Face Mesh with 478 facial landmarks</a:t>
            </a:r>
          </a:p>
        </p:txBody>
      </p:sp>
      <p:sp>
        <p:nvSpPr>
          <p:cNvPr id="18" name="TextBox 17"/>
          <p:cNvSpPr txBox="1"/>
          <p:nvPr/>
        </p:nvSpPr>
        <p:spPr>
          <a:xfrm>
            <a:off x="4407408" y="4663440"/>
            <a:ext cx="2990088" cy="502920"/>
          </a:xfrm>
          <a:prstGeom prst="rect">
            <a:avLst/>
          </a:prstGeom>
          <a:noFill/>
        </p:spPr>
        <p:txBody>
          <a:bodyPr wrap="square">
            <a:spAutoFit/>
          </a:bodyPr>
          <a:lstStyle/>
          <a:p>
            <a:pPr algn="l">
              <a:defRPr sz="1100" b="0">
                <a:solidFill>
                  <a:srgbClr val="334155"/>
                </a:solidFill>
                <a:latin typeface="Times New Roman"/>
              </a:defRPr>
            </a:pPr>
            <a:r>
              <a:t>Iris position mapping for precise on-screen gaze coordinates</a:t>
            </a:r>
          </a:p>
        </p:txBody>
      </p:sp>
      <p:sp>
        <p:nvSpPr>
          <p:cNvPr id="19" name="TextBox 18"/>
          <p:cNvSpPr txBox="1"/>
          <p:nvPr/>
        </p:nvSpPr>
        <p:spPr>
          <a:xfrm>
            <a:off x="4407408" y="5212080"/>
            <a:ext cx="2990088" cy="502920"/>
          </a:xfrm>
          <a:prstGeom prst="rect">
            <a:avLst/>
          </a:prstGeom>
          <a:noFill/>
        </p:spPr>
        <p:txBody>
          <a:bodyPr wrap="square">
            <a:spAutoFit/>
          </a:bodyPr>
          <a:lstStyle/>
          <a:p>
            <a:pPr algn="l">
              <a:defRPr sz="1100" b="0">
                <a:solidFill>
                  <a:srgbClr val="334155"/>
                </a:solidFill>
                <a:latin typeface="Times New Roman"/>
              </a:defRPr>
            </a:pPr>
            <a:r>
              <a:t>On-ad / Off-ad detection to measure visual attention percentage</a:t>
            </a:r>
          </a:p>
        </p:txBody>
      </p:sp>
      <p:sp>
        <p:nvSpPr>
          <p:cNvPr id="20" name="Rounded Rectangle 19"/>
          <p:cNvSpPr/>
          <p:nvPr/>
        </p:nvSpPr>
        <p:spPr>
          <a:xfrm>
            <a:off x="7808976" y="3200400"/>
            <a:ext cx="3538728" cy="2743200"/>
          </a:xfrm>
          <a:prstGeom prst="roundRect">
            <a:avLst/>
          </a:prstGeom>
          <a:solidFill>
            <a:srgbClr val="F1F5F9"/>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991856" y="3383280"/>
            <a:ext cx="457200" cy="50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37576" y="3611880"/>
            <a:ext cx="3081528" cy="365760"/>
          </a:xfrm>
          <a:prstGeom prst="rect">
            <a:avLst/>
          </a:prstGeom>
          <a:noFill/>
        </p:spPr>
        <p:txBody>
          <a:bodyPr wrap="square">
            <a:spAutoFit/>
          </a:bodyPr>
          <a:lstStyle/>
          <a:p>
            <a:pPr algn="l">
              <a:defRPr sz="1600" b="1">
                <a:solidFill>
                  <a:srgbClr val="0F172A"/>
                </a:solidFill>
                <a:latin typeface="Arial Black"/>
              </a:defRPr>
            </a:pPr>
            <a:r>
              <a:t>Behavioral Analytics</a:t>
            </a:r>
          </a:p>
        </p:txBody>
      </p:sp>
      <p:sp>
        <p:nvSpPr>
          <p:cNvPr id="23" name="TextBox 22"/>
          <p:cNvSpPr txBox="1"/>
          <p:nvPr/>
        </p:nvSpPr>
        <p:spPr>
          <a:xfrm>
            <a:off x="8129016" y="4114800"/>
            <a:ext cx="2990088" cy="502920"/>
          </a:xfrm>
          <a:prstGeom prst="rect">
            <a:avLst/>
          </a:prstGeom>
          <a:noFill/>
        </p:spPr>
        <p:txBody>
          <a:bodyPr wrap="square">
            <a:spAutoFit/>
          </a:bodyPr>
          <a:lstStyle/>
          <a:p>
            <a:pPr algn="l">
              <a:defRPr sz="1100" b="0">
                <a:solidFill>
                  <a:srgbClr val="334155"/>
                </a:solidFill>
                <a:latin typeface="Times New Roman"/>
              </a:defRPr>
            </a:pPr>
            <a:r>
              <a:t>Mouse movement heatmaps, velocity tracking, hover zone analysis</a:t>
            </a:r>
          </a:p>
        </p:txBody>
      </p:sp>
      <p:sp>
        <p:nvSpPr>
          <p:cNvPr id="24" name="TextBox 23"/>
          <p:cNvSpPr txBox="1"/>
          <p:nvPr/>
        </p:nvSpPr>
        <p:spPr>
          <a:xfrm>
            <a:off x="8129016" y="4663440"/>
            <a:ext cx="2990088" cy="502920"/>
          </a:xfrm>
          <a:prstGeom prst="rect">
            <a:avLst/>
          </a:prstGeom>
          <a:noFill/>
        </p:spPr>
        <p:txBody>
          <a:bodyPr wrap="square">
            <a:spAutoFit/>
          </a:bodyPr>
          <a:lstStyle/>
          <a:p>
            <a:pPr algn="l">
              <a:defRPr sz="1100" b="0">
                <a:solidFill>
                  <a:srgbClr val="334155"/>
                </a:solidFill>
                <a:latin typeface="Times New Roman"/>
              </a:defRPr>
            </a:pPr>
            <a:r>
              <a:t>Click tracking, idle time vs active time measurement</a:t>
            </a:r>
          </a:p>
        </p:txBody>
      </p:sp>
      <p:sp>
        <p:nvSpPr>
          <p:cNvPr id="25" name="TextBox 24"/>
          <p:cNvSpPr txBox="1"/>
          <p:nvPr/>
        </p:nvSpPr>
        <p:spPr>
          <a:xfrm>
            <a:off x="8129016" y="5212080"/>
            <a:ext cx="2990088" cy="502920"/>
          </a:xfrm>
          <a:prstGeom prst="rect">
            <a:avLst/>
          </a:prstGeom>
          <a:noFill/>
        </p:spPr>
        <p:txBody>
          <a:bodyPr wrap="square">
            <a:spAutoFit/>
          </a:bodyPr>
          <a:lstStyle/>
          <a:p>
            <a:pPr algn="l">
              <a:defRPr sz="1100" b="0">
                <a:solidFill>
                  <a:srgbClr val="334155"/>
                </a:solidFill>
                <a:latin typeface="Times New Roman"/>
              </a:defRPr>
            </a:pPr>
            <a:r>
              <a:t>Tab visibility monitoring with keepalive data persistence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02</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Problem Statement</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60" y="17881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737360"/>
            <a:ext cx="10241280" cy="502920"/>
          </a:xfrm>
          <a:prstGeom prst="rect">
            <a:avLst/>
          </a:prstGeom>
          <a:noFill/>
        </p:spPr>
        <p:txBody>
          <a:bodyPr wrap="square">
            <a:spAutoFit/>
          </a:bodyPr>
          <a:lstStyle/>
          <a:p>
            <a:pPr algn="l">
              <a:defRPr sz="1600" b="0">
                <a:solidFill>
                  <a:srgbClr val="334155"/>
                </a:solidFill>
                <a:latin typeface="Times New Roman"/>
              </a:defRPr>
            </a:pPr>
            <a:r>
              <a:t>Traditional ad metrics (impressions, CTR) only measure surface-level interactions -- they cannot tell if a user actually looked at, understood, or emotionally responded to an advertisement.</a:t>
            </a:r>
          </a:p>
        </p:txBody>
      </p:sp>
      <p:sp>
        <p:nvSpPr>
          <p:cNvPr id="9" name="Oval 8"/>
          <p:cNvSpPr/>
          <p:nvPr/>
        </p:nvSpPr>
        <p:spPr>
          <a:xfrm>
            <a:off x="822960" y="27025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651760"/>
            <a:ext cx="10241280" cy="502920"/>
          </a:xfrm>
          <a:prstGeom prst="rect">
            <a:avLst/>
          </a:prstGeom>
          <a:noFill/>
        </p:spPr>
        <p:txBody>
          <a:bodyPr wrap="square">
            <a:spAutoFit/>
          </a:bodyPr>
          <a:lstStyle/>
          <a:p>
            <a:pPr algn="l">
              <a:defRPr sz="1600" b="0">
                <a:solidFill>
                  <a:srgbClr val="334155"/>
                </a:solidFill>
                <a:latin typeface="Times New Roman"/>
              </a:defRPr>
            </a:pPr>
            <a:r>
              <a:t>Advertisers spend billions annually on digital ads with no reliable way to measure genuine human attention, leading to wasted budgets and ineffective campaigns.</a:t>
            </a:r>
          </a:p>
        </p:txBody>
      </p:sp>
      <p:sp>
        <p:nvSpPr>
          <p:cNvPr id="11" name="Oval 10"/>
          <p:cNvSpPr/>
          <p:nvPr/>
        </p:nvSpPr>
        <p:spPr>
          <a:xfrm>
            <a:off x="822960" y="36169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3566160"/>
            <a:ext cx="10241280" cy="502920"/>
          </a:xfrm>
          <a:prstGeom prst="rect">
            <a:avLst/>
          </a:prstGeom>
          <a:noFill/>
        </p:spPr>
        <p:txBody>
          <a:bodyPr wrap="square">
            <a:spAutoFit/>
          </a:bodyPr>
          <a:lstStyle/>
          <a:p>
            <a:pPr algn="l">
              <a:defRPr sz="1600" b="0">
                <a:solidFill>
                  <a:srgbClr val="334155"/>
                </a:solidFill>
                <a:latin typeface="Times New Roman"/>
              </a:defRPr>
            </a:pPr>
            <a:r>
              <a:t>No existing lightweight, browser-based solution combines facial emotion recognition, eye-gaze tracking, and behavioral analytics into a single embeddable script.</a:t>
            </a:r>
          </a:p>
        </p:txBody>
      </p:sp>
      <p:sp>
        <p:nvSpPr>
          <p:cNvPr id="13" name="Oval 12"/>
          <p:cNvSpPr/>
          <p:nvPr/>
        </p:nvSpPr>
        <p:spPr>
          <a:xfrm>
            <a:off x="822960" y="45313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4480560"/>
            <a:ext cx="10241280" cy="502920"/>
          </a:xfrm>
          <a:prstGeom prst="rect">
            <a:avLst/>
          </a:prstGeom>
          <a:noFill/>
        </p:spPr>
        <p:txBody>
          <a:bodyPr wrap="square">
            <a:spAutoFit/>
          </a:bodyPr>
          <a:lstStyle/>
          <a:p>
            <a:pPr algn="l">
              <a:defRPr sz="1600" b="0">
                <a:solidFill>
                  <a:srgbClr val="334155"/>
                </a:solidFill>
                <a:latin typeface="Times New Roman"/>
              </a:defRPr>
            </a:pPr>
            <a:r>
              <a:t>Current solutions require expensive hardware (eye-tracking glasses, EEG headsets) or controlled lab environments, making them impractical for real-world ad tracking.</a:t>
            </a:r>
          </a:p>
        </p:txBody>
      </p:sp>
      <p:sp>
        <p:nvSpPr>
          <p:cNvPr id="15" name="Oval 14"/>
          <p:cNvSpPr/>
          <p:nvPr/>
        </p:nvSpPr>
        <p:spPr>
          <a:xfrm>
            <a:off x="822960" y="54457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5394960"/>
            <a:ext cx="10241280" cy="502920"/>
          </a:xfrm>
          <a:prstGeom prst="rect">
            <a:avLst/>
          </a:prstGeom>
          <a:noFill/>
        </p:spPr>
        <p:txBody>
          <a:bodyPr wrap="square">
            <a:spAutoFit/>
          </a:bodyPr>
          <a:lstStyle/>
          <a:p>
            <a:pPr algn="l">
              <a:defRPr sz="1600" b="0">
                <a:solidFill>
                  <a:srgbClr val="334155"/>
                </a:solidFill>
                <a:latin typeface="Times New Roman"/>
              </a:defRPr>
            </a:pPr>
            <a:r>
              <a:t>Privacy concerns around webcam-based tracking remain unaddressed -- existing tools often store raw video data, creating significant security and compliance risks.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03</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Objectives</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60" y="17881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737360"/>
            <a:ext cx="10241280" cy="502920"/>
          </a:xfrm>
          <a:prstGeom prst="rect">
            <a:avLst/>
          </a:prstGeom>
          <a:noFill/>
        </p:spPr>
        <p:txBody>
          <a:bodyPr wrap="square">
            <a:spAutoFit/>
          </a:bodyPr>
          <a:lstStyle/>
          <a:p>
            <a:pPr algn="l">
              <a:defRPr sz="1600" b="0">
                <a:solidFill>
                  <a:srgbClr val="334155"/>
                </a:solidFill>
                <a:latin typeface="Times New Roman"/>
              </a:defRPr>
            </a:pPr>
            <a:r>
              <a:t>Build a real-time ad analytics engine using browser-based AI (MediaPipe + FER) that processes webcam data without storing any raw video frames.</a:t>
            </a:r>
          </a:p>
        </p:txBody>
      </p:sp>
      <p:sp>
        <p:nvSpPr>
          <p:cNvPr id="9" name="Oval 8"/>
          <p:cNvSpPr/>
          <p:nvPr/>
        </p:nvSpPr>
        <p:spPr>
          <a:xfrm>
            <a:off x="822960" y="27025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651760"/>
            <a:ext cx="10241280" cy="502920"/>
          </a:xfrm>
          <a:prstGeom prst="rect">
            <a:avLst/>
          </a:prstGeom>
          <a:noFill/>
        </p:spPr>
        <p:txBody>
          <a:bodyPr wrap="square">
            <a:spAutoFit/>
          </a:bodyPr>
          <a:lstStyle/>
          <a:p>
            <a:pPr algn="l">
              <a:defRPr sz="1600" b="0">
                <a:solidFill>
                  <a:srgbClr val="334155"/>
                </a:solidFill>
                <a:latin typeface="Times New Roman"/>
              </a:defRPr>
            </a:pPr>
            <a:r>
              <a:t>Develop a lightweight, embeddable JavaScript tracking script (trace.js) that can be integrated into any website with a single &lt;script&gt; tag.</a:t>
            </a:r>
          </a:p>
        </p:txBody>
      </p:sp>
      <p:sp>
        <p:nvSpPr>
          <p:cNvPr id="11" name="Oval 10"/>
          <p:cNvSpPr/>
          <p:nvPr/>
        </p:nvSpPr>
        <p:spPr>
          <a:xfrm>
            <a:off x="822960" y="36169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3566160"/>
            <a:ext cx="10241280" cy="502920"/>
          </a:xfrm>
          <a:prstGeom prst="rect">
            <a:avLst/>
          </a:prstGeom>
          <a:noFill/>
        </p:spPr>
        <p:txBody>
          <a:bodyPr wrap="square">
            <a:spAutoFit/>
          </a:bodyPr>
          <a:lstStyle/>
          <a:p>
            <a:pPr algn="l">
              <a:defRPr sz="1600" b="0">
                <a:solidFill>
                  <a:srgbClr val="334155"/>
                </a:solidFill>
                <a:latin typeface="Times New Roman"/>
              </a:defRPr>
            </a:pPr>
            <a:r>
              <a:t>Create a comprehensive SaaS dashboard (React + FastAPI) providing advertisers with engagement scores, emotion distribution, attention heatmaps, and gaze overlays.</a:t>
            </a:r>
          </a:p>
        </p:txBody>
      </p:sp>
      <p:sp>
        <p:nvSpPr>
          <p:cNvPr id="13" name="Oval 12"/>
          <p:cNvSpPr/>
          <p:nvPr/>
        </p:nvSpPr>
        <p:spPr>
          <a:xfrm>
            <a:off x="822960" y="45313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4480560"/>
            <a:ext cx="10241280" cy="502920"/>
          </a:xfrm>
          <a:prstGeom prst="rect">
            <a:avLst/>
          </a:prstGeom>
          <a:noFill/>
        </p:spPr>
        <p:txBody>
          <a:bodyPr wrap="square">
            <a:spAutoFit/>
          </a:bodyPr>
          <a:lstStyle/>
          <a:p>
            <a:pPr algn="l">
              <a:defRPr sz="1600" b="0">
                <a:solidFill>
                  <a:srgbClr val="334155"/>
                </a:solidFill>
                <a:latin typeface="Times New Roman"/>
              </a:defRPr>
            </a:pPr>
            <a:r>
              <a:t>Implement a complete subscription management system with UPI-based payment processing, admin verification workflows, and campaign limit enforcement.</a:t>
            </a:r>
          </a:p>
        </p:txBody>
      </p:sp>
      <p:sp>
        <p:nvSpPr>
          <p:cNvPr id="15" name="Oval 14"/>
          <p:cNvSpPr/>
          <p:nvPr/>
        </p:nvSpPr>
        <p:spPr>
          <a:xfrm>
            <a:off x="822960" y="54457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5394960"/>
            <a:ext cx="10241280" cy="502920"/>
          </a:xfrm>
          <a:prstGeom prst="rect">
            <a:avLst/>
          </a:prstGeom>
          <a:noFill/>
        </p:spPr>
        <p:txBody>
          <a:bodyPr wrap="square">
            <a:spAutoFit/>
          </a:bodyPr>
          <a:lstStyle/>
          <a:p>
            <a:pPr algn="l">
              <a:defRPr sz="1600" b="0">
                <a:solidFill>
                  <a:srgbClr val="334155"/>
                </a:solidFill>
                <a:latin typeface="Times New Roman"/>
              </a:defRPr>
            </a:pPr>
            <a:r>
              <a:t>Design a privacy-first architecture where facial data is processed in real-time and only computed analytics (emotion labels, gaze coordinates) are retained.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04</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System Flowchart</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20040" y="2011680"/>
            <a:ext cx="1234440" cy="91440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72160" y="1846580"/>
            <a:ext cx="330200" cy="330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Arial Black"/>
              </a:defRPr>
            </a:pPr>
            <a:r>
              <a:t>1</a:t>
            </a:r>
          </a:p>
        </p:txBody>
      </p:sp>
      <p:sp>
        <p:nvSpPr>
          <p:cNvPr id="9" name="TextBox 8"/>
          <p:cNvSpPr txBox="1"/>
          <p:nvPr/>
        </p:nvSpPr>
        <p:spPr>
          <a:xfrm>
            <a:off x="320040" y="2148840"/>
            <a:ext cx="1234440" cy="777240"/>
          </a:xfrm>
          <a:prstGeom prst="rect">
            <a:avLst/>
          </a:prstGeom>
          <a:noFill/>
        </p:spPr>
        <p:txBody>
          <a:bodyPr wrap="square">
            <a:spAutoFit/>
          </a:bodyPr>
          <a:lstStyle/>
          <a:p>
            <a:pPr algn="ctr">
              <a:defRPr sz="1000" b="1">
                <a:solidFill>
                  <a:srgbClr val="0F172A"/>
                </a:solidFill>
                <a:latin typeface="Arial Black"/>
              </a:defRPr>
            </a:pPr>
            <a:r>
              <a:t>User Visits</a:t>
            </a:r>
            <a:br/>
            <a:r>
              <a:t>Website</a:t>
            </a:r>
          </a:p>
        </p:txBody>
      </p:sp>
      <p:sp>
        <p:nvSpPr>
          <p:cNvPr id="10" name="TextBox 9"/>
          <p:cNvSpPr txBox="1"/>
          <p:nvPr/>
        </p:nvSpPr>
        <p:spPr>
          <a:xfrm>
            <a:off x="1554480" y="2240280"/>
            <a:ext cx="201168" cy="457200"/>
          </a:xfrm>
          <a:prstGeom prst="rect">
            <a:avLst/>
          </a:prstGeom>
          <a:noFill/>
        </p:spPr>
        <p:txBody>
          <a:bodyPr wrap="square">
            <a:spAutoFit/>
          </a:bodyPr>
          <a:lstStyle/>
          <a:p>
            <a:pPr algn="ctr">
              <a:defRPr sz="1400" b="0">
                <a:solidFill>
                  <a:srgbClr val="64748B"/>
                </a:solidFill>
                <a:latin typeface="Times New Roman"/>
              </a:defRPr>
            </a:pPr>
            <a:r>
              <a:t>&gt;&gt;</a:t>
            </a:r>
          </a:p>
        </p:txBody>
      </p:sp>
      <p:sp>
        <p:nvSpPr>
          <p:cNvPr id="11" name="Rounded Rectangle 10"/>
          <p:cNvSpPr/>
          <p:nvPr/>
        </p:nvSpPr>
        <p:spPr>
          <a:xfrm>
            <a:off x="1755648" y="2011680"/>
            <a:ext cx="1234440" cy="914400"/>
          </a:xfrm>
          <a:prstGeom prst="roundRect">
            <a:avLst/>
          </a:prstGeom>
          <a:solidFill>
            <a:srgbClr val="FFFFFF"/>
          </a:solidFill>
          <a:ln w="25400">
            <a:solidFill>
              <a:srgbClr val="FF4D2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207768" y="1846580"/>
            <a:ext cx="330200" cy="3302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Arial Black"/>
              </a:defRPr>
            </a:pPr>
            <a:r>
              <a:t>2</a:t>
            </a:r>
          </a:p>
        </p:txBody>
      </p:sp>
      <p:sp>
        <p:nvSpPr>
          <p:cNvPr id="13" name="TextBox 12"/>
          <p:cNvSpPr txBox="1"/>
          <p:nvPr/>
        </p:nvSpPr>
        <p:spPr>
          <a:xfrm>
            <a:off x="1755648" y="2148840"/>
            <a:ext cx="1234440" cy="777240"/>
          </a:xfrm>
          <a:prstGeom prst="rect">
            <a:avLst/>
          </a:prstGeom>
          <a:noFill/>
        </p:spPr>
        <p:txBody>
          <a:bodyPr wrap="square">
            <a:spAutoFit/>
          </a:bodyPr>
          <a:lstStyle/>
          <a:p>
            <a:pPr algn="ctr">
              <a:defRPr sz="1000" b="1">
                <a:solidFill>
                  <a:srgbClr val="0F172A"/>
                </a:solidFill>
                <a:latin typeface="Arial Black"/>
              </a:defRPr>
            </a:pPr>
            <a:r>
              <a:t>trace.js</a:t>
            </a:r>
            <a:br/>
            <a:r>
              <a:t>Loads</a:t>
            </a:r>
          </a:p>
        </p:txBody>
      </p:sp>
      <p:sp>
        <p:nvSpPr>
          <p:cNvPr id="14" name="TextBox 13"/>
          <p:cNvSpPr txBox="1"/>
          <p:nvPr/>
        </p:nvSpPr>
        <p:spPr>
          <a:xfrm>
            <a:off x="2990088" y="2240280"/>
            <a:ext cx="201168" cy="457200"/>
          </a:xfrm>
          <a:prstGeom prst="rect">
            <a:avLst/>
          </a:prstGeom>
          <a:noFill/>
        </p:spPr>
        <p:txBody>
          <a:bodyPr wrap="square">
            <a:spAutoFit/>
          </a:bodyPr>
          <a:lstStyle/>
          <a:p>
            <a:pPr algn="ctr">
              <a:defRPr sz="1400" b="0">
                <a:solidFill>
                  <a:srgbClr val="64748B"/>
                </a:solidFill>
                <a:latin typeface="Times New Roman"/>
              </a:defRPr>
            </a:pPr>
            <a:r>
              <a:t>&gt;&gt;</a:t>
            </a:r>
          </a:p>
        </p:txBody>
      </p:sp>
      <p:sp>
        <p:nvSpPr>
          <p:cNvPr id="15" name="Rounded Rectangle 14"/>
          <p:cNvSpPr/>
          <p:nvPr/>
        </p:nvSpPr>
        <p:spPr>
          <a:xfrm>
            <a:off x="3191256" y="2011680"/>
            <a:ext cx="1234440" cy="914400"/>
          </a:xfrm>
          <a:prstGeom prst="roundRect">
            <a:avLst/>
          </a:prstGeom>
          <a:solidFill>
            <a:srgbClr val="FFFF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43376" y="1846580"/>
            <a:ext cx="330200" cy="33020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Arial Black"/>
              </a:defRPr>
            </a:pPr>
            <a:r>
              <a:t>3</a:t>
            </a:r>
          </a:p>
        </p:txBody>
      </p:sp>
      <p:sp>
        <p:nvSpPr>
          <p:cNvPr id="17" name="TextBox 16"/>
          <p:cNvSpPr txBox="1"/>
          <p:nvPr/>
        </p:nvSpPr>
        <p:spPr>
          <a:xfrm>
            <a:off x="3191256" y="2148840"/>
            <a:ext cx="1234440" cy="777240"/>
          </a:xfrm>
          <a:prstGeom prst="rect">
            <a:avLst/>
          </a:prstGeom>
          <a:noFill/>
        </p:spPr>
        <p:txBody>
          <a:bodyPr wrap="square">
            <a:spAutoFit/>
          </a:bodyPr>
          <a:lstStyle/>
          <a:p>
            <a:pPr algn="ctr">
              <a:defRPr sz="1000" b="1">
                <a:solidFill>
                  <a:srgbClr val="0F172A"/>
                </a:solidFill>
                <a:latin typeface="Arial Black"/>
              </a:defRPr>
            </a:pPr>
            <a:r>
              <a:t>Ad Overlay</a:t>
            </a:r>
            <a:br/>
            <a:r>
              <a:t>Displayed</a:t>
            </a:r>
          </a:p>
        </p:txBody>
      </p:sp>
      <p:sp>
        <p:nvSpPr>
          <p:cNvPr id="18" name="TextBox 17"/>
          <p:cNvSpPr txBox="1"/>
          <p:nvPr/>
        </p:nvSpPr>
        <p:spPr>
          <a:xfrm>
            <a:off x="4425696" y="2240280"/>
            <a:ext cx="201168" cy="457200"/>
          </a:xfrm>
          <a:prstGeom prst="rect">
            <a:avLst/>
          </a:prstGeom>
          <a:noFill/>
        </p:spPr>
        <p:txBody>
          <a:bodyPr wrap="square">
            <a:spAutoFit/>
          </a:bodyPr>
          <a:lstStyle/>
          <a:p>
            <a:pPr algn="ctr">
              <a:defRPr sz="1400" b="0">
                <a:solidFill>
                  <a:srgbClr val="64748B"/>
                </a:solidFill>
                <a:latin typeface="Times New Roman"/>
              </a:defRPr>
            </a:pPr>
            <a:r>
              <a:t>&gt;&gt;</a:t>
            </a:r>
          </a:p>
        </p:txBody>
      </p:sp>
      <p:sp>
        <p:nvSpPr>
          <p:cNvPr id="19" name="Rounded Rectangle 18"/>
          <p:cNvSpPr/>
          <p:nvPr/>
        </p:nvSpPr>
        <p:spPr>
          <a:xfrm>
            <a:off x="4626864" y="2011680"/>
            <a:ext cx="1234440" cy="914400"/>
          </a:xfrm>
          <a:prstGeom prst="roundRect">
            <a:avLst/>
          </a:prstGeom>
          <a:solidFill>
            <a:srgbClr val="FFFFFF"/>
          </a:solidFill>
          <a:ln w="25400">
            <a:solidFill>
              <a:srgbClr val="059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078984" y="1846580"/>
            <a:ext cx="330200" cy="330200"/>
          </a:xfrm>
          <a:prstGeom prst="ellipse">
            <a:avLst/>
          </a:prstGeom>
          <a:solidFill>
            <a:srgbClr val="0596B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Arial Black"/>
              </a:defRPr>
            </a:pPr>
            <a:r>
              <a:t>4</a:t>
            </a:r>
          </a:p>
        </p:txBody>
      </p:sp>
      <p:sp>
        <p:nvSpPr>
          <p:cNvPr id="21" name="TextBox 20"/>
          <p:cNvSpPr txBox="1"/>
          <p:nvPr/>
        </p:nvSpPr>
        <p:spPr>
          <a:xfrm>
            <a:off x="4626864" y="2148840"/>
            <a:ext cx="1234440" cy="777240"/>
          </a:xfrm>
          <a:prstGeom prst="rect">
            <a:avLst/>
          </a:prstGeom>
          <a:noFill/>
        </p:spPr>
        <p:txBody>
          <a:bodyPr wrap="square">
            <a:spAutoFit/>
          </a:bodyPr>
          <a:lstStyle/>
          <a:p>
            <a:pPr algn="ctr">
              <a:defRPr sz="1000" b="1">
                <a:solidFill>
                  <a:srgbClr val="0F172A"/>
                </a:solidFill>
                <a:latin typeface="Arial Black"/>
              </a:defRPr>
            </a:pPr>
            <a:r>
              <a:t>Webcam +</a:t>
            </a:r>
            <a:br/>
            <a:r>
              <a:t>Mouse Capture</a:t>
            </a:r>
          </a:p>
        </p:txBody>
      </p:sp>
      <p:sp>
        <p:nvSpPr>
          <p:cNvPr id="22" name="TextBox 21"/>
          <p:cNvSpPr txBox="1"/>
          <p:nvPr/>
        </p:nvSpPr>
        <p:spPr>
          <a:xfrm>
            <a:off x="5861304" y="2240280"/>
            <a:ext cx="201168" cy="457200"/>
          </a:xfrm>
          <a:prstGeom prst="rect">
            <a:avLst/>
          </a:prstGeom>
          <a:noFill/>
        </p:spPr>
        <p:txBody>
          <a:bodyPr wrap="square">
            <a:spAutoFit/>
          </a:bodyPr>
          <a:lstStyle/>
          <a:p>
            <a:pPr algn="ctr">
              <a:defRPr sz="1400" b="0">
                <a:solidFill>
                  <a:srgbClr val="64748B"/>
                </a:solidFill>
                <a:latin typeface="Times New Roman"/>
              </a:defRPr>
            </a:pPr>
            <a:r>
              <a:t>&gt;&gt;</a:t>
            </a:r>
          </a:p>
        </p:txBody>
      </p:sp>
      <p:sp>
        <p:nvSpPr>
          <p:cNvPr id="23" name="Rounded Rectangle 22"/>
          <p:cNvSpPr/>
          <p:nvPr/>
        </p:nvSpPr>
        <p:spPr>
          <a:xfrm>
            <a:off x="6062472" y="2011680"/>
            <a:ext cx="1234440" cy="91440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514592" y="1846580"/>
            <a:ext cx="330200" cy="33020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Arial Black"/>
              </a:defRPr>
            </a:pPr>
            <a:r>
              <a:t>5</a:t>
            </a:r>
          </a:p>
        </p:txBody>
      </p:sp>
      <p:sp>
        <p:nvSpPr>
          <p:cNvPr id="25" name="TextBox 24"/>
          <p:cNvSpPr txBox="1"/>
          <p:nvPr/>
        </p:nvSpPr>
        <p:spPr>
          <a:xfrm>
            <a:off x="6062472" y="2148840"/>
            <a:ext cx="1234440" cy="777240"/>
          </a:xfrm>
          <a:prstGeom prst="rect">
            <a:avLst/>
          </a:prstGeom>
          <a:noFill/>
        </p:spPr>
        <p:txBody>
          <a:bodyPr wrap="square">
            <a:spAutoFit/>
          </a:bodyPr>
          <a:lstStyle/>
          <a:p>
            <a:pPr algn="ctr">
              <a:defRPr sz="1000" b="1">
                <a:solidFill>
                  <a:srgbClr val="0F172A"/>
                </a:solidFill>
                <a:latin typeface="Arial Black"/>
              </a:defRPr>
            </a:pPr>
            <a:r>
              <a:t>WebSocket</a:t>
            </a:r>
            <a:br/>
            <a:r>
              <a:t>AI Engine</a:t>
            </a:r>
          </a:p>
        </p:txBody>
      </p:sp>
      <p:sp>
        <p:nvSpPr>
          <p:cNvPr id="26" name="TextBox 25"/>
          <p:cNvSpPr txBox="1"/>
          <p:nvPr/>
        </p:nvSpPr>
        <p:spPr>
          <a:xfrm>
            <a:off x="7296912" y="2240280"/>
            <a:ext cx="201168" cy="457200"/>
          </a:xfrm>
          <a:prstGeom prst="rect">
            <a:avLst/>
          </a:prstGeom>
          <a:noFill/>
        </p:spPr>
        <p:txBody>
          <a:bodyPr wrap="square">
            <a:spAutoFit/>
          </a:bodyPr>
          <a:lstStyle/>
          <a:p>
            <a:pPr algn="ctr">
              <a:defRPr sz="1400" b="0">
                <a:solidFill>
                  <a:srgbClr val="64748B"/>
                </a:solidFill>
                <a:latin typeface="Times New Roman"/>
              </a:defRPr>
            </a:pPr>
            <a:r>
              <a:t>&gt;&gt;</a:t>
            </a:r>
          </a:p>
        </p:txBody>
      </p:sp>
      <p:sp>
        <p:nvSpPr>
          <p:cNvPr id="27" name="Rounded Rectangle 26"/>
          <p:cNvSpPr/>
          <p:nvPr/>
        </p:nvSpPr>
        <p:spPr>
          <a:xfrm>
            <a:off x="7498080" y="2011680"/>
            <a:ext cx="1234440" cy="914400"/>
          </a:xfrm>
          <a:prstGeom prst="roundRect">
            <a:avLst/>
          </a:prstGeom>
          <a:solidFill>
            <a:srgbClr val="FFFFFF"/>
          </a:solidFill>
          <a:ln w="2540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950200" y="1846580"/>
            <a:ext cx="330200" cy="330200"/>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Arial Black"/>
              </a:defRPr>
            </a:pPr>
            <a:r>
              <a:t>6</a:t>
            </a:r>
          </a:p>
        </p:txBody>
      </p:sp>
      <p:sp>
        <p:nvSpPr>
          <p:cNvPr id="29" name="TextBox 28"/>
          <p:cNvSpPr txBox="1"/>
          <p:nvPr/>
        </p:nvSpPr>
        <p:spPr>
          <a:xfrm>
            <a:off x="7498080" y="2148840"/>
            <a:ext cx="1234440" cy="777240"/>
          </a:xfrm>
          <a:prstGeom prst="rect">
            <a:avLst/>
          </a:prstGeom>
          <a:noFill/>
        </p:spPr>
        <p:txBody>
          <a:bodyPr wrap="square">
            <a:spAutoFit/>
          </a:bodyPr>
          <a:lstStyle/>
          <a:p>
            <a:pPr algn="ctr">
              <a:defRPr sz="1000" b="1">
                <a:solidFill>
                  <a:srgbClr val="0F172A"/>
                </a:solidFill>
                <a:latin typeface="Arial Black"/>
              </a:defRPr>
            </a:pPr>
            <a:r>
              <a:t>Emotion +</a:t>
            </a:r>
            <a:br/>
            <a:r>
              <a:t>Gaze Analysis</a:t>
            </a:r>
          </a:p>
        </p:txBody>
      </p:sp>
      <p:sp>
        <p:nvSpPr>
          <p:cNvPr id="30" name="TextBox 29"/>
          <p:cNvSpPr txBox="1"/>
          <p:nvPr/>
        </p:nvSpPr>
        <p:spPr>
          <a:xfrm>
            <a:off x="8732520" y="2240280"/>
            <a:ext cx="201168" cy="457200"/>
          </a:xfrm>
          <a:prstGeom prst="rect">
            <a:avLst/>
          </a:prstGeom>
          <a:noFill/>
        </p:spPr>
        <p:txBody>
          <a:bodyPr wrap="square">
            <a:spAutoFit/>
          </a:bodyPr>
          <a:lstStyle/>
          <a:p>
            <a:pPr algn="ctr">
              <a:defRPr sz="1400" b="0">
                <a:solidFill>
                  <a:srgbClr val="64748B"/>
                </a:solidFill>
                <a:latin typeface="Times New Roman"/>
              </a:defRPr>
            </a:pPr>
            <a:r>
              <a:t>&gt;&gt;</a:t>
            </a:r>
          </a:p>
        </p:txBody>
      </p:sp>
      <p:sp>
        <p:nvSpPr>
          <p:cNvPr id="31" name="Rounded Rectangle 30"/>
          <p:cNvSpPr/>
          <p:nvPr/>
        </p:nvSpPr>
        <p:spPr>
          <a:xfrm>
            <a:off x="8933688" y="2011680"/>
            <a:ext cx="1234440" cy="91440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385808" y="1846580"/>
            <a:ext cx="330200" cy="330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Arial Black"/>
              </a:defRPr>
            </a:pPr>
            <a:r>
              <a:t>7</a:t>
            </a:r>
          </a:p>
        </p:txBody>
      </p:sp>
      <p:sp>
        <p:nvSpPr>
          <p:cNvPr id="33" name="TextBox 32"/>
          <p:cNvSpPr txBox="1"/>
          <p:nvPr/>
        </p:nvSpPr>
        <p:spPr>
          <a:xfrm>
            <a:off x="8933688" y="2148840"/>
            <a:ext cx="1234440" cy="777240"/>
          </a:xfrm>
          <a:prstGeom prst="rect">
            <a:avLst/>
          </a:prstGeom>
          <a:noFill/>
        </p:spPr>
        <p:txBody>
          <a:bodyPr wrap="square">
            <a:spAutoFit/>
          </a:bodyPr>
          <a:lstStyle/>
          <a:p>
            <a:pPr algn="ctr">
              <a:defRPr sz="1000" b="1">
                <a:solidFill>
                  <a:srgbClr val="0F172A"/>
                </a:solidFill>
                <a:latin typeface="Arial Black"/>
              </a:defRPr>
            </a:pPr>
            <a:r>
              <a:t>Session Data</a:t>
            </a:r>
            <a:br/>
            <a:r>
              <a:t>MongoDB</a:t>
            </a:r>
          </a:p>
        </p:txBody>
      </p:sp>
      <p:sp>
        <p:nvSpPr>
          <p:cNvPr id="34" name="TextBox 33"/>
          <p:cNvSpPr txBox="1"/>
          <p:nvPr/>
        </p:nvSpPr>
        <p:spPr>
          <a:xfrm>
            <a:off x="10168128" y="2240280"/>
            <a:ext cx="201168" cy="457200"/>
          </a:xfrm>
          <a:prstGeom prst="rect">
            <a:avLst/>
          </a:prstGeom>
          <a:noFill/>
        </p:spPr>
        <p:txBody>
          <a:bodyPr wrap="square">
            <a:spAutoFit/>
          </a:bodyPr>
          <a:lstStyle/>
          <a:p>
            <a:pPr algn="ctr">
              <a:defRPr sz="1400" b="0">
                <a:solidFill>
                  <a:srgbClr val="64748B"/>
                </a:solidFill>
                <a:latin typeface="Times New Roman"/>
              </a:defRPr>
            </a:pPr>
            <a:r>
              <a:t>&gt;&gt;</a:t>
            </a:r>
          </a:p>
        </p:txBody>
      </p:sp>
      <p:sp>
        <p:nvSpPr>
          <p:cNvPr id="35" name="Rounded Rectangle 34"/>
          <p:cNvSpPr/>
          <p:nvPr/>
        </p:nvSpPr>
        <p:spPr>
          <a:xfrm>
            <a:off x="10369296" y="2011680"/>
            <a:ext cx="1234440" cy="914400"/>
          </a:xfrm>
          <a:prstGeom prst="roundRect">
            <a:avLst/>
          </a:prstGeom>
          <a:solidFill>
            <a:srgbClr val="FFFFFF"/>
          </a:solidFill>
          <a:ln w="25400">
            <a:solidFill>
              <a:srgbClr val="FF4D2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821416" y="1846580"/>
            <a:ext cx="330200" cy="3302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Arial Black"/>
              </a:defRPr>
            </a:pPr>
            <a:r>
              <a:t>8</a:t>
            </a:r>
          </a:p>
        </p:txBody>
      </p:sp>
      <p:sp>
        <p:nvSpPr>
          <p:cNvPr id="37" name="TextBox 36"/>
          <p:cNvSpPr txBox="1"/>
          <p:nvPr/>
        </p:nvSpPr>
        <p:spPr>
          <a:xfrm>
            <a:off x="10369296" y="2148840"/>
            <a:ext cx="1234440" cy="777240"/>
          </a:xfrm>
          <a:prstGeom prst="rect">
            <a:avLst/>
          </a:prstGeom>
          <a:noFill/>
        </p:spPr>
        <p:txBody>
          <a:bodyPr wrap="square">
            <a:spAutoFit/>
          </a:bodyPr>
          <a:lstStyle/>
          <a:p>
            <a:pPr algn="ctr">
              <a:defRPr sz="1000" b="1">
                <a:solidFill>
                  <a:srgbClr val="0F172A"/>
                </a:solidFill>
                <a:latin typeface="Arial Black"/>
              </a:defRPr>
            </a:pPr>
            <a:r>
              <a:t>Dashboard</a:t>
            </a:r>
            <a:br/>
            <a:r>
              <a:t>Visualization</a:t>
            </a:r>
          </a:p>
        </p:txBody>
      </p:sp>
      <p:sp>
        <p:nvSpPr>
          <p:cNvPr id="38" name="Rounded Rectangle 37"/>
          <p:cNvSpPr/>
          <p:nvPr/>
        </p:nvSpPr>
        <p:spPr>
          <a:xfrm>
            <a:off x="365760" y="3383280"/>
            <a:ext cx="3538728" cy="2743200"/>
          </a:xfrm>
          <a:prstGeom prst="roundRect">
            <a:avLst/>
          </a:prstGeom>
          <a:solidFill>
            <a:srgbClr val="F1F5F9"/>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48640" y="3566160"/>
            <a:ext cx="4572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94360" y="3749040"/>
            <a:ext cx="3081528" cy="365760"/>
          </a:xfrm>
          <a:prstGeom prst="rect">
            <a:avLst/>
          </a:prstGeom>
          <a:noFill/>
        </p:spPr>
        <p:txBody>
          <a:bodyPr wrap="square">
            <a:spAutoFit/>
          </a:bodyPr>
          <a:lstStyle/>
          <a:p>
            <a:pPr algn="l">
              <a:defRPr sz="1400" b="1">
                <a:solidFill>
                  <a:srgbClr val="0F172A"/>
                </a:solidFill>
                <a:latin typeface="Arial Black"/>
              </a:defRPr>
            </a:pPr>
            <a:r>
              <a:t>Frontend Layer</a:t>
            </a:r>
          </a:p>
        </p:txBody>
      </p:sp>
      <p:sp>
        <p:nvSpPr>
          <p:cNvPr id="41" name="TextBox 40"/>
          <p:cNvSpPr txBox="1"/>
          <p:nvPr/>
        </p:nvSpPr>
        <p:spPr>
          <a:xfrm>
            <a:off x="685800" y="4297680"/>
            <a:ext cx="2990088" cy="365760"/>
          </a:xfrm>
          <a:prstGeom prst="rect">
            <a:avLst/>
          </a:prstGeom>
          <a:noFill/>
        </p:spPr>
        <p:txBody>
          <a:bodyPr wrap="square">
            <a:spAutoFit/>
          </a:bodyPr>
          <a:lstStyle/>
          <a:p>
            <a:pPr algn="l">
              <a:defRPr sz="1100" b="0">
                <a:solidFill>
                  <a:srgbClr val="334155"/>
                </a:solidFill>
                <a:latin typeface="Times New Roman"/>
              </a:defRPr>
            </a:pPr>
            <a:r>
              <a:t>  React 18 + Vite for SPA dashboard</a:t>
            </a:r>
          </a:p>
        </p:txBody>
      </p:sp>
      <p:sp>
        <p:nvSpPr>
          <p:cNvPr id="42" name="TextBox 41"/>
          <p:cNvSpPr txBox="1"/>
          <p:nvPr/>
        </p:nvSpPr>
        <p:spPr>
          <a:xfrm>
            <a:off x="685800" y="4709160"/>
            <a:ext cx="2990088" cy="365760"/>
          </a:xfrm>
          <a:prstGeom prst="rect">
            <a:avLst/>
          </a:prstGeom>
          <a:noFill/>
        </p:spPr>
        <p:txBody>
          <a:bodyPr wrap="square">
            <a:spAutoFit/>
          </a:bodyPr>
          <a:lstStyle/>
          <a:p>
            <a:pPr algn="l">
              <a:defRPr sz="1100" b="0">
                <a:solidFill>
                  <a:srgbClr val="334155"/>
                </a:solidFill>
                <a:latin typeface="Times New Roman"/>
              </a:defRPr>
            </a:pPr>
            <a:r>
              <a:t>  Tailwind CSS responsive styling</a:t>
            </a:r>
          </a:p>
        </p:txBody>
      </p:sp>
      <p:sp>
        <p:nvSpPr>
          <p:cNvPr id="43" name="TextBox 42"/>
          <p:cNvSpPr txBox="1"/>
          <p:nvPr/>
        </p:nvSpPr>
        <p:spPr>
          <a:xfrm>
            <a:off x="685800" y="5120640"/>
            <a:ext cx="2990088" cy="365760"/>
          </a:xfrm>
          <a:prstGeom prst="rect">
            <a:avLst/>
          </a:prstGeom>
          <a:noFill/>
        </p:spPr>
        <p:txBody>
          <a:bodyPr wrap="square">
            <a:spAutoFit/>
          </a:bodyPr>
          <a:lstStyle/>
          <a:p>
            <a:pPr algn="l">
              <a:defRPr sz="1100" b="0">
                <a:solidFill>
                  <a:srgbClr val="334155"/>
                </a:solidFill>
                <a:latin typeface="Times New Roman"/>
              </a:defRPr>
            </a:pPr>
            <a:r>
              <a:t>  trace.js (Vanilla JS) tracking engine</a:t>
            </a:r>
          </a:p>
        </p:txBody>
      </p:sp>
      <p:sp>
        <p:nvSpPr>
          <p:cNvPr id="44" name="TextBox 43"/>
          <p:cNvSpPr txBox="1"/>
          <p:nvPr/>
        </p:nvSpPr>
        <p:spPr>
          <a:xfrm>
            <a:off x="685800" y="5532120"/>
            <a:ext cx="2990088" cy="365760"/>
          </a:xfrm>
          <a:prstGeom prst="rect">
            <a:avLst/>
          </a:prstGeom>
          <a:noFill/>
        </p:spPr>
        <p:txBody>
          <a:bodyPr wrap="square">
            <a:spAutoFit/>
          </a:bodyPr>
          <a:lstStyle/>
          <a:p>
            <a:pPr algn="l">
              <a:defRPr sz="1100" b="0">
                <a:solidFill>
                  <a:srgbClr val="334155"/>
                </a:solidFill>
                <a:latin typeface="Times New Roman"/>
              </a:defRPr>
            </a:pPr>
            <a:r>
              <a:t>  Recharts for analytics visualization</a:t>
            </a:r>
          </a:p>
        </p:txBody>
      </p:sp>
      <p:sp>
        <p:nvSpPr>
          <p:cNvPr id="45" name="Rounded Rectangle 44"/>
          <p:cNvSpPr/>
          <p:nvPr/>
        </p:nvSpPr>
        <p:spPr>
          <a:xfrm>
            <a:off x="4087368" y="3383280"/>
            <a:ext cx="3538728" cy="2743200"/>
          </a:xfrm>
          <a:prstGeom prst="roundRect">
            <a:avLst/>
          </a:prstGeom>
          <a:solidFill>
            <a:srgbClr val="F1F5F9"/>
          </a:solidFill>
          <a:ln w="12700">
            <a:solidFill>
              <a:srgbClr val="FF4D2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270248" y="3566160"/>
            <a:ext cx="457200" cy="508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315968" y="3749040"/>
            <a:ext cx="3081528" cy="365760"/>
          </a:xfrm>
          <a:prstGeom prst="rect">
            <a:avLst/>
          </a:prstGeom>
          <a:noFill/>
        </p:spPr>
        <p:txBody>
          <a:bodyPr wrap="square">
            <a:spAutoFit/>
          </a:bodyPr>
          <a:lstStyle/>
          <a:p>
            <a:pPr algn="l">
              <a:defRPr sz="1400" b="1">
                <a:solidFill>
                  <a:srgbClr val="0F172A"/>
                </a:solidFill>
                <a:latin typeface="Arial Black"/>
              </a:defRPr>
            </a:pPr>
            <a:r>
              <a:t>Backend Layer</a:t>
            </a:r>
          </a:p>
        </p:txBody>
      </p:sp>
      <p:sp>
        <p:nvSpPr>
          <p:cNvPr id="48" name="TextBox 47"/>
          <p:cNvSpPr txBox="1"/>
          <p:nvPr/>
        </p:nvSpPr>
        <p:spPr>
          <a:xfrm>
            <a:off x="4407408" y="4297680"/>
            <a:ext cx="2990088" cy="365760"/>
          </a:xfrm>
          <a:prstGeom prst="rect">
            <a:avLst/>
          </a:prstGeom>
          <a:noFill/>
        </p:spPr>
        <p:txBody>
          <a:bodyPr wrap="square">
            <a:spAutoFit/>
          </a:bodyPr>
          <a:lstStyle/>
          <a:p>
            <a:pPr algn="l">
              <a:defRPr sz="1100" b="0">
                <a:solidFill>
                  <a:srgbClr val="334155"/>
                </a:solidFill>
                <a:latin typeface="Times New Roman"/>
              </a:defRPr>
            </a:pPr>
            <a:r>
              <a:t>  FastAPI (Python) REST API</a:t>
            </a:r>
          </a:p>
        </p:txBody>
      </p:sp>
      <p:sp>
        <p:nvSpPr>
          <p:cNvPr id="49" name="TextBox 48"/>
          <p:cNvSpPr txBox="1"/>
          <p:nvPr/>
        </p:nvSpPr>
        <p:spPr>
          <a:xfrm>
            <a:off x="4407408" y="4709160"/>
            <a:ext cx="2990088" cy="365760"/>
          </a:xfrm>
          <a:prstGeom prst="rect">
            <a:avLst/>
          </a:prstGeom>
          <a:noFill/>
        </p:spPr>
        <p:txBody>
          <a:bodyPr wrap="square">
            <a:spAutoFit/>
          </a:bodyPr>
          <a:lstStyle/>
          <a:p>
            <a:pPr algn="l">
              <a:defRPr sz="1100" b="0">
                <a:solidFill>
                  <a:srgbClr val="334155"/>
                </a:solidFill>
                <a:latin typeface="Times New Roman"/>
              </a:defRPr>
            </a:pPr>
            <a:r>
              <a:t>  WebSocket for real-time AI streaming</a:t>
            </a:r>
          </a:p>
        </p:txBody>
      </p:sp>
      <p:sp>
        <p:nvSpPr>
          <p:cNvPr id="50" name="TextBox 49"/>
          <p:cNvSpPr txBox="1"/>
          <p:nvPr/>
        </p:nvSpPr>
        <p:spPr>
          <a:xfrm>
            <a:off x="4407408" y="5120640"/>
            <a:ext cx="2990088" cy="365760"/>
          </a:xfrm>
          <a:prstGeom prst="rect">
            <a:avLst/>
          </a:prstGeom>
          <a:noFill/>
        </p:spPr>
        <p:txBody>
          <a:bodyPr wrap="square">
            <a:spAutoFit/>
          </a:bodyPr>
          <a:lstStyle/>
          <a:p>
            <a:pPr algn="l">
              <a:defRPr sz="1100" b="0">
                <a:solidFill>
                  <a:srgbClr val="334155"/>
                </a:solidFill>
                <a:latin typeface="Times New Roman"/>
              </a:defRPr>
            </a:pPr>
            <a:r>
              <a:t>  JWT authentication with Google OAuth</a:t>
            </a:r>
          </a:p>
        </p:txBody>
      </p:sp>
      <p:sp>
        <p:nvSpPr>
          <p:cNvPr id="51" name="TextBox 50"/>
          <p:cNvSpPr txBox="1"/>
          <p:nvPr/>
        </p:nvSpPr>
        <p:spPr>
          <a:xfrm>
            <a:off x="4407408" y="5532120"/>
            <a:ext cx="2990088" cy="365760"/>
          </a:xfrm>
          <a:prstGeom prst="rect">
            <a:avLst/>
          </a:prstGeom>
          <a:noFill/>
        </p:spPr>
        <p:txBody>
          <a:bodyPr wrap="square">
            <a:spAutoFit/>
          </a:bodyPr>
          <a:lstStyle/>
          <a:p>
            <a:pPr algn="l">
              <a:defRPr sz="1100" b="0">
                <a:solidFill>
                  <a:srgbClr val="334155"/>
                </a:solidFill>
                <a:latin typeface="Times New Roman"/>
              </a:defRPr>
            </a:pPr>
            <a:r>
              <a:t>  SMTP email service for OTP verification</a:t>
            </a:r>
          </a:p>
        </p:txBody>
      </p:sp>
      <p:sp>
        <p:nvSpPr>
          <p:cNvPr id="52" name="Rounded Rectangle 51"/>
          <p:cNvSpPr/>
          <p:nvPr/>
        </p:nvSpPr>
        <p:spPr>
          <a:xfrm>
            <a:off x="7808976" y="3383280"/>
            <a:ext cx="3538728" cy="2743200"/>
          </a:xfrm>
          <a:prstGeom prst="roundRect">
            <a:avLst/>
          </a:prstGeom>
          <a:solidFill>
            <a:srgbClr val="F1F5F9"/>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991856" y="3566160"/>
            <a:ext cx="457200" cy="508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037576" y="3749040"/>
            <a:ext cx="3081528" cy="365760"/>
          </a:xfrm>
          <a:prstGeom prst="rect">
            <a:avLst/>
          </a:prstGeom>
          <a:noFill/>
        </p:spPr>
        <p:txBody>
          <a:bodyPr wrap="square">
            <a:spAutoFit/>
          </a:bodyPr>
          <a:lstStyle/>
          <a:p>
            <a:pPr algn="l">
              <a:defRPr sz="1400" b="1">
                <a:solidFill>
                  <a:srgbClr val="0F172A"/>
                </a:solidFill>
                <a:latin typeface="Arial Black"/>
              </a:defRPr>
            </a:pPr>
            <a:r>
              <a:t>AI + Data Layer</a:t>
            </a:r>
          </a:p>
        </p:txBody>
      </p:sp>
      <p:sp>
        <p:nvSpPr>
          <p:cNvPr id="55" name="TextBox 54"/>
          <p:cNvSpPr txBox="1"/>
          <p:nvPr/>
        </p:nvSpPr>
        <p:spPr>
          <a:xfrm>
            <a:off x="8129016" y="4297680"/>
            <a:ext cx="2990088" cy="365760"/>
          </a:xfrm>
          <a:prstGeom prst="rect">
            <a:avLst/>
          </a:prstGeom>
          <a:noFill/>
        </p:spPr>
        <p:txBody>
          <a:bodyPr wrap="square">
            <a:spAutoFit/>
          </a:bodyPr>
          <a:lstStyle/>
          <a:p>
            <a:pPr algn="l">
              <a:defRPr sz="1100" b="0">
                <a:solidFill>
                  <a:srgbClr val="334155"/>
                </a:solidFill>
                <a:latin typeface="Times New Roman"/>
              </a:defRPr>
            </a:pPr>
            <a:r>
              <a:t>  Google MediaPipe Face Mesh (478 landmarks)</a:t>
            </a:r>
          </a:p>
        </p:txBody>
      </p:sp>
      <p:sp>
        <p:nvSpPr>
          <p:cNvPr id="56" name="TextBox 55"/>
          <p:cNvSpPr txBox="1"/>
          <p:nvPr/>
        </p:nvSpPr>
        <p:spPr>
          <a:xfrm>
            <a:off x="8129016" y="4709160"/>
            <a:ext cx="2990088" cy="365760"/>
          </a:xfrm>
          <a:prstGeom prst="rect">
            <a:avLst/>
          </a:prstGeom>
          <a:noFill/>
        </p:spPr>
        <p:txBody>
          <a:bodyPr wrap="square">
            <a:spAutoFit/>
          </a:bodyPr>
          <a:lstStyle/>
          <a:p>
            <a:pPr algn="l">
              <a:defRPr sz="1100" b="0">
                <a:solidFill>
                  <a:srgbClr val="334155"/>
                </a:solidFill>
                <a:latin typeface="Times New Roman"/>
              </a:defRPr>
            </a:pPr>
            <a:r>
              <a:t>  FER deep learning emotion classifier</a:t>
            </a:r>
          </a:p>
        </p:txBody>
      </p:sp>
      <p:sp>
        <p:nvSpPr>
          <p:cNvPr id="57" name="TextBox 56"/>
          <p:cNvSpPr txBox="1"/>
          <p:nvPr/>
        </p:nvSpPr>
        <p:spPr>
          <a:xfrm>
            <a:off x="8129016" y="5120640"/>
            <a:ext cx="2990088" cy="365760"/>
          </a:xfrm>
          <a:prstGeom prst="rect">
            <a:avLst/>
          </a:prstGeom>
          <a:noFill/>
        </p:spPr>
        <p:txBody>
          <a:bodyPr wrap="square">
            <a:spAutoFit/>
          </a:bodyPr>
          <a:lstStyle/>
          <a:p>
            <a:pPr algn="l">
              <a:defRPr sz="1100" b="0">
                <a:solidFill>
                  <a:srgbClr val="334155"/>
                </a:solidFill>
                <a:latin typeface="Times New Roman"/>
              </a:defRPr>
            </a:pPr>
            <a:r>
              <a:t>  OpenCV for frame preprocessing</a:t>
            </a:r>
          </a:p>
        </p:txBody>
      </p:sp>
      <p:sp>
        <p:nvSpPr>
          <p:cNvPr id="58" name="TextBox 57"/>
          <p:cNvSpPr txBox="1"/>
          <p:nvPr/>
        </p:nvSpPr>
        <p:spPr>
          <a:xfrm>
            <a:off x="8129016" y="5532120"/>
            <a:ext cx="2990088" cy="365760"/>
          </a:xfrm>
          <a:prstGeom prst="rect">
            <a:avLst/>
          </a:prstGeom>
          <a:noFill/>
        </p:spPr>
        <p:txBody>
          <a:bodyPr wrap="square">
            <a:spAutoFit/>
          </a:bodyPr>
          <a:lstStyle/>
          <a:p>
            <a:pPr algn="l">
              <a:defRPr sz="1100" b="0">
                <a:solidFill>
                  <a:srgbClr val="334155"/>
                </a:solidFill>
                <a:latin typeface="Times New Roman"/>
              </a:defRPr>
            </a:pPr>
            <a:r>
              <a:t>  MongoDB Atlas cloud database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05</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Technologies Used</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20040" y="1691640"/>
            <a:ext cx="2651760" cy="2240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02920" y="1965960"/>
            <a:ext cx="457200" cy="4572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965960"/>
            <a:ext cx="1737360" cy="457200"/>
          </a:xfrm>
          <a:prstGeom prst="rect">
            <a:avLst/>
          </a:prstGeom>
          <a:noFill/>
        </p:spPr>
        <p:txBody>
          <a:bodyPr wrap="square">
            <a:spAutoFit/>
          </a:bodyPr>
          <a:lstStyle/>
          <a:p>
            <a:pPr algn="l">
              <a:defRPr sz="1400" b="1">
                <a:solidFill>
                  <a:srgbClr val="0F172A"/>
                </a:solidFill>
                <a:latin typeface="Arial Black"/>
              </a:defRPr>
            </a:pPr>
            <a:r>
              <a:t>Python / FastAPI</a:t>
            </a:r>
          </a:p>
        </p:txBody>
      </p:sp>
      <p:sp>
        <p:nvSpPr>
          <p:cNvPr id="10" name="TextBox 9"/>
          <p:cNvSpPr txBox="1"/>
          <p:nvPr/>
        </p:nvSpPr>
        <p:spPr>
          <a:xfrm>
            <a:off x="548640" y="2697480"/>
            <a:ext cx="2194560" cy="1097280"/>
          </a:xfrm>
          <a:prstGeom prst="rect">
            <a:avLst/>
          </a:prstGeom>
          <a:noFill/>
        </p:spPr>
        <p:txBody>
          <a:bodyPr wrap="square">
            <a:spAutoFit/>
          </a:bodyPr>
          <a:lstStyle/>
          <a:p>
            <a:pPr algn="l">
              <a:defRPr sz="1300" b="0">
                <a:solidFill>
                  <a:srgbClr val="334155"/>
                </a:solidFill>
                <a:latin typeface="Times New Roman"/>
              </a:defRPr>
            </a:pPr>
            <a:r>
              <a:t>High-performance async</a:t>
            </a:r>
            <a:br/>
            <a:r>
              <a:t>backend REST framework</a:t>
            </a:r>
          </a:p>
        </p:txBody>
      </p:sp>
      <p:sp>
        <p:nvSpPr>
          <p:cNvPr id="11" name="Rounded Rectangle 10"/>
          <p:cNvSpPr/>
          <p:nvPr/>
        </p:nvSpPr>
        <p:spPr>
          <a:xfrm>
            <a:off x="3127248" y="1691640"/>
            <a:ext cx="2651760" cy="2240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310128" y="196596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04488" y="1965960"/>
            <a:ext cx="1737360" cy="457200"/>
          </a:xfrm>
          <a:prstGeom prst="rect">
            <a:avLst/>
          </a:prstGeom>
          <a:noFill/>
        </p:spPr>
        <p:txBody>
          <a:bodyPr wrap="square">
            <a:spAutoFit/>
          </a:bodyPr>
          <a:lstStyle/>
          <a:p>
            <a:pPr algn="l">
              <a:defRPr sz="1400" b="1">
                <a:solidFill>
                  <a:srgbClr val="0F172A"/>
                </a:solidFill>
                <a:latin typeface="Arial Black"/>
              </a:defRPr>
            </a:pPr>
            <a:r>
              <a:t>React 18 + Vite</a:t>
            </a:r>
          </a:p>
        </p:txBody>
      </p:sp>
      <p:sp>
        <p:nvSpPr>
          <p:cNvPr id="14" name="TextBox 13"/>
          <p:cNvSpPr txBox="1"/>
          <p:nvPr/>
        </p:nvSpPr>
        <p:spPr>
          <a:xfrm>
            <a:off x="3355848" y="2697480"/>
            <a:ext cx="2194560" cy="1097280"/>
          </a:xfrm>
          <a:prstGeom prst="rect">
            <a:avLst/>
          </a:prstGeom>
          <a:noFill/>
        </p:spPr>
        <p:txBody>
          <a:bodyPr wrap="square">
            <a:spAutoFit/>
          </a:bodyPr>
          <a:lstStyle/>
          <a:p>
            <a:pPr algn="l">
              <a:defRPr sz="1300" b="0">
                <a:solidFill>
                  <a:srgbClr val="334155"/>
                </a:solidFill>
                <a:latin typeface="Times New Roman"/>
              </a:defRPr>
            </a:pPr>
            <a:r>
              <a:t>Modern SPA frontend</a:t>
            </a:r>
            <a:br/>
            <a:r>
              <a:t>with hot-module reload</a:t>
            </a:r>
          </a:p>
        </p:txBody>
      </p:sp>
      <p:sp>
        <p:nvSpPr>
          <p:cNvPr id="15" name="Rounded Rectangle 14"/>
          <p:cNvSpPr/>
          <p:nvPr/>
        </p:nvSpPr>
        <p:spPr>
          <a:xfrm>
            <a:off x="5934456" y="1691640"/>
            <a:ext cx="2651760" cy="2240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117336" y="1965960"/>
            <a:ext cx="457200" cy="45720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11696" y="1965960"/>
            <a:ext cx="1737360" cy="457200"/>
          </a:xfrm>
          <a:prstGeom prst="rect">
            <a:avLst/>
          </a:prstGeom>
          <a:noFill/>
        </p:spPr>
        <p:txBody>
          <a:bodyPr wrap="square">
            <a:spAutoFit/>
          </a:bodyPr>
          <a:lstStyle/>
          <a:p>
            <a:pPr algn="l">
              <a:defRPr sz="1400" b="1">
                <a:solidFill>
                  <a:srgbClr val="0F172A"/>
                </a:solidFill>
                <a:latin typeface="Arial Black"/>
              </a:defRPr>
            </a:pPr>
            <a:r>
              <a:t>MongoDB Atlas</a:t>
            </a:r>
          </a:p>
        </p:txBody>
      </p:sp>
      <p:sp>
        <p:nvSpPr>
          <p:cNvPr id="18" name="TextBox 17"/>
          <p:cNvSpPr txBox="1"/>
          <p:nvPr/>
        </p:nvSpPr>
        <p:spPr>
          <a:xfrm>
            <a:off x="6163056" y="2697480"/>
            <a:ext cx="2194560" cy="1097280"/>
          </a:xfrm>
          <a:prstGeom prst="rect">
            <a:avLst/>
          </a:prstGeom>
          <a:noFill/>
        </p:spPr>
        <p:txBody>
          <a:bodyPr wrap="square">
            <a:spAutoFit/>
          </a:bodyPr>
          <a:lstStyle/>
          <a:p>
            <a:pPr algn="l">
              <a:defRPr sz="1300" b="0">
                <a:solidFill>
                  <a:srgbClr val="334155"/>
                </a:solidFill>
                <a:latin typeface="Times New Roman"/>
              </a:defRPr>
            </a:pPr>
            <a:r>
              <a:t>Cloud-hosted NoSQL</a:t>
            </a:r>
            <a:br/>
            <a:r>
              <a:t>document database</a:t>
            </a:r>
          </a:p>
        </p:txBody>
      </p:sp>
      <p:sp>
        <p:nvSpPr>
          <p:cNvPr id="19" name="Rounded Rectangle 18"/>
          <p:cNvSpPr/>
          <p:nvPr/>
        </p:nvSpPr>
        <p:spPr>
          <a:xfrm>
            <a:off x="8741664" y="1691640"/>
            <a:ext cx="2651760" cy="2240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924544" y="1965960"/>
            <a:ext cx="457200" cy="457200"/>
          </a:xfrm>
          <a:prstGeom prst="ellipse">
            <a:avLst/>
          </a:prstGeom>
          <a:solidFill>
            <a:srgbClr val="059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18904" y="1965960"/>
            <a:ext cx="1737360" cy="457200"/>
          </a:xfrm>
          <a:prstGeom prst="rect">
            <a:avLst/>
          </a:prstGeom>
          <a:noFill/>
        </p:spPr>
        <p:txBody>
          <a:bodyPr wrap="square">
            <a:spAutoFit/>
          </a:bodyPr>
          <a:lstStyle/>
          <a:p>
            <a:pPr algn="l">
              <a:defRPr sz="1400" b="1">
                <a:solidFill>
                  <a:srgbClr val="0F172A"/>
                </a:solidFill>
                <a:latin typeface="Arial Black"/>
              </a:defRPr>
            </a:pPr>
            <a:r>
              <a:t>Tailwind CSS</a:t>
            </a:r>
          </a:p>
        </p:txBody>
      </p:sp>
      <p:sp>
        <p:nvSpPr>
          <p:cNvPr id="22" name="TextBox 21"/>
          <p:cNvSpPr txBox="1"/>
          <p:nvPr/>
        </p:nvSpPr>
        <p:spPr>
          <a:xfrm>
            <a:off x="8970264" y="2697480"/>
            <a:ext cx="2194560" cy="1097280"/>
          </a:xfrm>
          <a:prstGeom prst="rect">
            <a:avLst/>
          </a:prstGeom>
          <a:noFill/>
        </p:spPr>
        <p:txBody>
          <a:bodyPr wrap="square">
            <a:spAutoFit/>
          </a:bodyPr>
          <a:lstStyle/>
          <a:p>
            <a:pPr algn="l">
              <a:defRPr sz="1300" b="0">
                <a:solidFill>
                  <a:srgbClr val="334155"/>
                </a:solidFill>
                <a:latin typeface="Times New Roman"/>
              </a:defRPr>
            </a:pPr>
            <a:r>
              <a:t>Utility-first CSS</a:t>
            </a:r>
            <a:br/>
            <a:r>
              <a:t>for rapid premium UI</a:t>
            </a:r>
          </a:p>
        </p:txBody>
      </p:sp>
      <p:sp>
        <p:nvSpPr>
          <p:cNvPr id="23" name="Rounded Rectangle 22"/>
          <p:cNvSpPr/>
          <p:nvPr/>
        </p:nvSpPr>
        <p:spPr>
          <a:xfrm>
            <a:off x="320040" y="4114800"/>
            <a:ext cx="2651760" cy="2240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02920" y="4389120"/>
            <a:ext cx="457200" cy="45720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97280" y="4389120"/>
            <a:ext cx="1737360" cy="457200"/>
          </a:xfrm>
          <a:prstGeom prst="rect">
            <a:avLst/>
          </a:prstGeom>
          <a:noFill/>
        </p:spPr>
        <p:txBody>
          <a:bodyPr wrap="square">
            <a:spAutoFit/>
          </a:bodyPr>
          <a:lstStyle/>
          <a:p>
            <a:pPr algn="l">
              <a:defRPr sz="1400" b="1">
                <a:solidFill>
                  <a:srgbClr val="0F172A"/>
                </a:solidFill>
                <a:latin typeface="Arial Black"/>
              </a:defRPr>
            </a:pPr>
            <a:r>
              <a:t>Google MediaPipe</a:t>
            </a:r>
          </a:p>
        </p:txBody>
      </p:sp>
      <p:sp>
        <p:nvSpPr>
          <p:cNvPr id="26" name="TextBox 25"/>
          <p:cNvSpPr txBox="1"/>
          <p:nvPr/>
        </p:nvSpPr>
        <p:spPr>
          <a:xfrm>
            <a:off x="548640" y="5120640"/>
            <a:ext cx="2194560" cy="1097280"/>
          </a:xfrm>
          <a:prstGeom prst="rect">
            <a:avLst/>
          </a:prstGeom>
          <a:noFill/>
        </p:spPr>
        <p:txBody>
          <a:bodyPr wrap="square">
            <a:spAutoFit/>
          </a:bodyPr>
          <a:lstStyle/>
          <a:p>
            <a:pPr algn="l">
              <a:defRPr sz="1300" b="0">
                <a:solidFill>
                  <a:srgbClr val="334155"/>
                </a:solidFill>
                <a:latin typeface="Times New Roman"/>
              </a:defRPr>
            </a:pPr>
            <a:r>
              <a:t>Face Mesh with 478</a:t>
            </a:r>
            <a:br/>
            <a:r>
              <a:t>landmark iris tracking</a:t>
            </a:r>
          </a:p>
        </p:txBody>
      </p:sp>
      <p:sp>
        <p:nvSpPr>
          <p:cNvPr id="27" name="Rounded Rectangle 26"/>
          <p:cNvSpPr/>
          <p:nvPr/>
        </p:nvSpPr>
        <p:spPr>
          <a:xfrm>
            <a:off x="3127248" y="4114800"/>
            <a:ext cx="2651760" cy="2240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310128" y="4389120"/>
            <a:ext cx="457200" cy="457200"/>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04488" y="4389120"/>
            <a:ext cx="1737360" cy="457200"/>
          </a:xfrm>
          <a:prstGeom prst="rect">
            <a:avLst/>
          </a:prstGeom>
          <a:noFill/>
        </p:spPr>
        <p:txBody>
          <a:bodyPr wrap="square">
            <a:spAutoFit/>
          </a:bodyPr>
          <a:lstStyle/>
          <a:p>
            <a:pPr algn="l">
              <a:defRPr sz="1400" b="1">
                <a:solidFill>
                  <a:srgbClr val="0F172A"/>
                </a:solidFill>
                <a:latin typeface="Arial Black"/>
              </a:defRPr>
            </a:pPr>
            <a:r>
              <a:t>FER Library</a:t>
            </a:r>
          </a:p>
        </p:txBody>
      </p:sp>
      <p:sp>
        <p:nvSpPr>
          <p:cNvPr id="30" name="TextBox 29"/>
          <p:cNvSpPr txBox="1"/>
          <p:nvPr/>
        </p:nvSpPr>
        <p:spPr>
          <a:xfrm>
            <a:off x="3355848" y="5120640"/>
            <a:ext cx="2194560" cy="1097280"/>
          </a:xfrm>
          <a:prstGeom prst="rect">
            <a:avLst/>
          </a:prstGeom>
          <a:noFill/>
        </p:spPr>
        <p:txBody>
          <a:bodyPr wrap="square">
            <a:spAutoFit/>
          </a:bodyPr>
          <a:lstStyle/>
          <a:p>
            <a:pPr algn="l">
              <a:defRPr sz="1300" b="0">
                <a:solidFill>
                  <a:srgbClr val="334155"/>
                </a:solidFill>
                <a:latin typeface="Times New Roman"/>
              </a:defRPr>
            </a:pPr>
            <a:r>
              <a:t>CNN-based facial</a:t>
            </a:r>
            <a:br/>
            <a:r>
              <a:t>expression recognition</a:t>
            </a:r>
          </a:p>
        </p:txBody>
      </p:sp>
      <p:sp>
        <p:nvSpPr>
          <p:cNvPr id="31" name="Rounded Rectangle 30"/>
          <p:cNvSpPr/>
          <p:nvPr/>
        </p:nvSpPr>
        <p:spPr>
          <a:xfrm>
            <a:off x="5934456" y="4114800"/>
            <a:ext cx="2651760" cy="2240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117336" y="4389120"/>
            <a:ext cx="457200" cy="4572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11696" y="4389120"/>
            <a:ext cx="1737360" cy="457200"/>
          </a:xfrm>
          <a:prstGeom prst="rect">
            <a:avLst/>
          </a:prstGeom>
          <a:noFill/>
        </p:spPr>
        <p:txBody>
          <a:bodyPr wrap="square">
            <a:spAutoFit/>
          </a:bodyPr>
          <a:lstStyle/>
          <a:p>
            <a:pPr algn="l">
              <a:defRPr sz="1400" b="1">
                <a:solidFill>
                  <a:srgbClr val="0F172A"/>
                </a:solidFill>
                <a:latin typeface="Arial Black"/>
              </a:defRPr>
            </a:pPr>
            <a:r>
              <a:t>WebSocket</a:t>
            </a:r>
          </a:p>
        </p:txBody>
      </p:sp>
      <p:sp>
        <p:nvSpPr>
          <p:cNvPr id="34" name="TextBox 33"/>
          <p:cNvSpPr txBox="1"/>
          <p:nvPr/>
        </p:nvSpPr>
        <p:spPr>
          <a:xfrm>
            <a:off x="6163056" y="5120640"/>
            <a:ext cx="2194560" cy="1097280"/>
          </a:xfrm>
          <a:prstGeom prst="rect">
            <a:avLst/>
          </a:prstGeom>
          <a:noFill/>
        </p:spPr>
        <p:txBody>
          <a:bodyPr wrap="square">
            <a:spAutoFit/>
          </a:bodyPr>
          <a:lstStyle/>
          <a:p>
            <a:pPr algn="l">
              <a:defRPr sz="1300" b="0">
                <a:solidFill>
                  <a:srgbClr val="334155"/>
                </a:solidFill>
                <a:latin typeface="Times New Roman"/>
              </a:defRPr>
            </a:pPr>
            <a:r>
              <a:t>Real-time bidirectional</a:t>
            </a:r>
            <a:br/>
            <a:r>
              <a:t>AI data streaming</a:t>
            </a:r>
          </a:p>
        </p:txBody>
      </p:sp>
      <p:sp>
        <p:nvSpPr>
          <p:cNvPr id="35" name="Rounded Rectangle 34"/>
          <p:cNvSpPr/>
          <p:nvPr/>
        </p:nvSpPr>
        <p:spPr>
          <a:xfrm>
            <a:off x="8741664" y="4114800"/>
            <a:ext cx="2651760" cy="2240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924544" y="438912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518904" y="4389120"/>
            <a:ext cx="1737360" cy="457200"/>
          </a:xfrm>
          <a:prstGeom prst="rect">
            <a:avLst/>
          </a:prstGeom>
          <a:noFill/>
        </p:spPr>
        <p:txBody>
          <a:bodyPr wrap="square">
            <a:spAutoFit/>
          </a:bodyPr>
          <a:lstStyle/>
          <a:p>
            <a:pPr algn="l">
              <a:defRPr sz="1400" b="1">
                <a:solidFill>
                  <a:srgbClr val="0F172A"/>
                </a:solidFill>
                <a:latin typeface="Arial Black"/>
              </a:defRPr>
            </a:pPr>
            <a:r>
              <a:t>Google OAuth 2.0</a:t>
            </a:r>
          </a:p>
        </p:txBody>
      </p:sp>
      <p:sp>
        <p:nvSpPr>
          <p:cNvPr id="38" name="TextBox 37"/>
          <p:cNvSpPr txBox="1"/>
          <p:nvPr/>
        </p:nvSpPr>
        <p:spPr>
          <a:xfrm>
            <a:off x="8970264" y="5120640"/>
            <a:ext cx="2194560" cy="1097280"/>
          </a:xfrm>
          <a:prstGeom prst="rect">
            <a:avLst/>
          </a:prstGeom>
          <a:noFill/>
        </p:spPr>
        <p:txBody>
          <a:bodyPr wrap="square">
            <a:spAutoFit/>
          </a:bodyPr>
          <a:lstStyle/>
          <a:p>
            <a:pPr algn="l">
              <a:defRPr sz="1300" b="0">
                <a:solidFill>
                  <a:srgbClr val="334155"/>
                </a:solidFill>
                <a:latin typeface="Times New Roman"/>
              </a:defRPr>
            </a:pPr>
            <a:r>
              <a:t>Secure third-party</a:t>
            </a:r>
            <a:br/>
            <a:r>
              <a:t>authentication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06</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Major Modules</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20040" y="1691640"/>
            <a:ext cx="5440680" cy="1508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874520"/>
            <a:ext cx="50800" cy="11430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874520"/>
            <a:ext cx="4846320" cy="365760"/>
          </a:xfrm>
          <a:prstGeom prst="rect">
            <a:avLst/>
          </a:prstGeom>
          <a:noFill/>
        </p:spPr>
        <p:txBody>
          <a:bodyPr wrap="square">
            <a:spAutoFit/>
          </a:bodyPr>
          <a:lstStyle/>
          <a:p>
            <a:pPr algn="l">
              <a:defRPr sz="1500" b="1">
                <a:solidFill>
                  <a:srgbClr val="0F172A"/>
                </a:solidFill>
                <a:latin typeface="Arial Black"/>
              </a:defRPr>
            </a:pPr>
            <a:r>
              <a:t>Authentication Module</a:t>
            </a:r>
          </a:p>
        </p:txBody>
      </p:sp>
      <p:sp>
        <p:nvSpPr>
          <p:cNvPr id="10" name="TextBox 9"/>
          <p:cNvSpPr txBox="1"/>
          <p:nvPr/>
        </p:nvSpPr>
        <p:spPr>
          <a:xfrm>
            <a:off x="731520" y="2331720"/>
            <a:ext cx="4846320" cy="822960"/>
          </a:xfrm>
          <a:prstGeom prst="rect">
            <a:avLst/>
          </a:prstGeom>
          <a:noFill/>
        </p:spPr>
        <p:txBody>
          <a:bodyPr wrap="square">
            <a:spAutoFit/>
          </a:bodyPr>
          <a:lstStyle/>
          <a:p>
            <a:pPr algn="l">
              <a:defRPr sz="1200" b="0">
                <a:solidFill>
                  <a:srgbClr val="334155"/>
                </a:solidFill>
                <a:latin typeface="Times New Roman"/>
              </a:defRPr>
            </a:pPr>
            <a:r>
              <a:t>Email/Password signup with OTP verification via SMTP, Google OAuth 2.0 integration, JWT token-based session management, and password reset flow.</a:t>
            </a:r>
          </a:p>
        </p:txBody>
      </p:sp>
      <p:sp>
        <p:nvSpPr>
          <p:cNvPr id="11" name="Rounded Rectangle 10"/>
          <p:cNvSpPr/>
          <p:nvPr/>
        </p:nvSpPr>
        <p:spPr>
          <a:xfrm>
            <a:off x="5943600" y="1691640"/>
            <a:ext cx="5440680" cy="1508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80760" y="1874520"/>
            <a:ext cx="50800"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874520"/>
            <a:ext cx="4846320" cy="365760"/>
          </a:xfrm>
          <a:prstGeom prst="rect">
            <a:avLst/>
          </a:prstGeom>
          <a:noFill/>
        </p:spPr>
        <p:txBody>
          <a:bodyPr wrap="square">
            <a:spAutoFit/>
          </a:bodyPr>
          <a:lstStyle/>
          <a:p>
            <a:pPr algn="l">
              <a:defRPr sz="1500" b="1">
                <a:solidFill>
                  <a:srgbClr val="0F172A"/>
                </a:solidFill>
                <a:latin typeface="Arial Black"/>
              </a:defRPr>
            </a:pPr>
            <a:r>
              <a:t>Campaign Management</a:t>
            </a:r>
          </a:p>
        </p:txBody>
      </p:sp>
      <p:sp>
        <p:nvSpPr>
          <p:cNvPr id="14" name="TextBox 13"/>
          <p:cNvSpPr txBox="1"/>
          <p:nvPr/>
        </p:nvSpPr>
        <p:spPr>
          <a:xfrm>
            <a:off x="6355080" y="2331720"/>
            <a:ext cx="4846320" cy="822960"/>
          </a:xfrm>
          <a:prstGeom prst="rect">
            <a:avLst/>
          </a:prstGeom>
          <a:noFill/>
        </p:spPr>
        <p:txBody>
          <a:bodyPr wrap="square">
            <a:spAutoFit/>
          </a:bodyPr>
          <a:lstStyle/>
          <a:p>
            <a:pPr algn="l">
              <a:defRPr sz="1200" b="0">
                <a:solidFill>
                  <a:srgbClr val="334155"/>
                </a:solidFill>
                <a:latin typeface="Times New Roman"/>
              </a:defRPr>
            </a:pPr>
            <a:r>
              <a:t>Create, upload, and manage ad campaigns with media files (image/video), target URL configuration, and auto-generated embed scripts.</a:t>
            </a:r>
          </a:p>
        </p:txBody>
      </p:sp>
      <p:sp>
        <p:nvSpPr>
          <p:cNvPr id="15" name="Rounded Rectangle 14"/>
          <p:cNvSpPr/>
          <p:nvPr/>
        </p:nvSpPr>
        <p:spPr>
          <a:xfrm>
            <a:off x="320040" y="3337560"/>
            <a:ext cx="5440680" cy="1508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520440"/>
            <a:ext cx="50800" cy="11430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520440"/>
            <a:ext cx="4846320" cy="365760"/>
          </a:xfrm>
          <a:prstGeom prst="rect">
            <a:avLst/>
          </a:prstGeom>
          <a:noFill/>
        </p:spPr>
        <p:txBody>
          <a:bodyPr wrap="square">
            <a:spAutoFit/>
          </a:bodyPr>
          <a:lstStyle/>
          <a:p>
            <a:pPr algn="l">
              <a:defRPr sz="1500" b="1">
                <a:solidFill>
                  <a:srgbClr val="0F172A"/>
                </a:solidFill>
                <a:latin typeface="Arial Black"/>
              </a:defRPr>
            </a:pPr>
            <a:r>
              <a:t>AI Tracking Engine (trace.js)</a:t>
            </a:r>
          </a:p>
        </p:txBody>
      </p:sp>
      <p:sp>
        <p:nvSpPr>
          <p:cNvPr id="18" name="TextBox 17"/>
          <p:cNvSpPr txBox="1"/>
          <p:nvPr/>
        </p:nvSpPr>
        <p:spPr>
          <a:xfrm>
            <a:off x="731520" y="3977640"/>
            <a:ext cx="4846320" cy="822960"/>
          </a:xfrm>
          <a:prstGeom prst="rect">
            <a:avLst/>
          </a:prstGeom>
          <a:noFill/>
        </p:spPr>
        <p:txBody>
          <a:bodyPr wrap="square">
            <a:spAutoFit/>
          </a:bodyPr>
          <a:lstStyle/>
          <a:p>
            <a:pPr algn="l">
              <a:defRPr sz="1200" b="0">
                <a:solidFill>
                  <a:srgbClr val="334155"/>
                </a:solidFill>
                <a:latin typeface="Times New Roman"/>
              </a:defRPr>
            </a:pPr>
            <a:r>
              <a:t>Autonomous JavaScript injected into publisher sites. Handles webcam streaming, WebSocket AI communication, and keepalive data persistence on tab close.</a:t>
            </a:r>
          </a:p>
        </p:txBody>
      </p:sp>
      <p:sp>
        <p:nvSpPr>
          <p:cNvPr id="19" name="Rounded Rectangle 18"/>
          <p:cNvSpPr/>
          <p:nvPr/>
        </p:nvSpPr>
        <p:spPr>
          <a:xfrm>
            <a:off x="5943600" y="3337560"/>
            <a:ext cx="5440680" cy="1508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080760" y="3520440"/>
            <a:ext cx="50800" cy="1143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80" y="3520440"/>
            <a:ext cx="4846320" cy="365760"/>
          </a:xfrm>
          <a:prstGeom prst="rect">
            <a:avLst/>
          </a:prstGeom>
          <a:noFill/>
        </p:spPr>
        <p:txBody>
          <a:bodyPr wrap="square">
            <a:spAutoFit/>
          </a:bodyPr>
          <a:lstStyle/>
          <a:p>
            <a:pPr algn="l">
              <a:defRPr sz="1500" b="1">
                <a:solidFill>
                  <a:srgbClr val="0F172A"/>
                </a:solidFill>
                <a:latin typeface="Arial Black"/>
              </a:defRPr>
            </a:pPr>
            <a:r>
              <a:t>Real-Time AI Processing</a:t>
            </a:r>
          </a:p>
        </p:txBody>
      </p:sp>
      <p:sp>
        <p:nvSpPr>
          <p:cNvPr id="22" name="TextBox 21"/>
          <p:cNvSpPr txBox="1"/>
          <p:nvPr/>
        </p:nvSpPr>
        <p:spPr>
          <a:xfrm>
            <a:off x="6355080" y="3977640"/>
            <a:ext cx="4846320" cy="822960"/>
          </a:xfrm>
          <a:prstGeom prst="rect">
            <a:avLst/>
          </a:prstGeom>
          <a:noFill/>
        </p:spPr>
        <p:txBody>
          <a:bodyPr wrap="square">
            <a:spAutoFit/>
          </a:bodyPr>
          <a:lstStyle/>
          <a:p>
            <a:pPr algn="l">
              <a:defRPr sz="1200" b="0">
                <a:solidFill>
                  <a:srgbClr val="334155"/>
                </a:solidFill>
                <a:latin typeface="Times New Roman"/>
              </a:defRPr>
            </a:pPr>
            <a:r>
              <a:t>WebSocket endpoint processes webcam frames for emotion detection (FER) and gaze tracking (MediaPipe) simultaneously, returning JSON results in &lt; 500ms.</a:t>
            </a:r>
          </a:p>
        </p:txBody>
      </p:sp>
      <p:sp>
        <p:nvSpPr>
          <p:cNvPr id="23" name="Rounded Rectangle 22"/>
          <p:cNvSpPr/>
          <p:nvPr/>
        </p:nvSpPr>
        <p:spPr>
          <a:xfrm>
            <a:off x="320040" y="4983480"/>
            <a:ext cx="5440680" cy="1508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5166360"/>
            <a:ext cx="50800" cy="1143000"/>
          </a:xfrm>
          <a:prstGeom prst="rect">
            <a:avLst/>
          </a:prstGeom>
          <a:solidFill>
            <a:srgbClr val="059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5166360"/>
            <a:ext cx="4846320" cy="365760"/>
          </a:xfrm>
          <a:prstGeom prst="rect">
            <a:avLst/>
          </a:prstGeom>
          <a:noFill/>
        </p:spPr>
        <p:txBody>
          <a:bodyPr wrap="square">
            <a:spAutoFit/>
          </a:bodyPr>
          <a:lstStyle/>
          <a:p>
            <a:pPr algn="l">
              <a:defRPr sz="1500" b="1">
                <a:solidFill>
                  <a:srgbClr val="0F172A"/>
                </a:solidFill>
                <a:latin typeface="Arial Black"/>
              </a:defRPr>
            </a:pPr>
            <a:r>
              <a:t>Analytics Dashboard</a:t>
            </a:r>
          </a:p>
        </p:txBody>
      </p:sp>
      <p:sp>
        <p:nvSpPr>
          <p:cNvPr id="26" name="TextBox 25"/>
          <p:cNvSpPr txBox="1"/>
          <p:nvPr/>
        </p:nvSpPr>
        <p:spPr>
          <a:xfrm>
            <a:off x="731520" y="5623560"/>
            <a:ext cx="4846320" cy="822960"/>
          </a:xfrm>
          <a:prstGeom prst="rect">
            <a:avLst/>
          </a:prstGeom>
          <a:noFill/>
        </p:spPr>
        <p:txBody>
          <a:bodyPr wrap="square">
            <a:spAutoFit/>
          </a:bodyPr>
          <a:lstStyle/>
          <a:p>
            <a:pPr algn="l">
              <a:defRPr sz="1200" b="0">
                <a:solidFill>
                  <a:srgbClr val="334155"/>
                </a:solidFill>
                <a:latin typeface="Times New Roman"/>
              </a:defRPr>
            </a:pPr>
            <a:r>
              <a:t>Interactive React dashboard with engagement scores, emotion pie charts, attention heatmaps, gaze timelines, and downloadable CSV reports.</a:t>
            </a:r>
          </a:p>
        </p:txBody>
      </p:sp>
      <p:sp>
        <p:nvSpPr>
          <p:cNvPr id="27" name="Rounded Rectangle 26"/>
          <p:cNvSpPr/>
          <p:nvPr/>
        </p:nvSpPr>
        <p:spPr>
          <a:xfrm>
            <a:off x="5943600" y="4983480"/>
            <a:ext cx="5440680" cy="1508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080760" y="5166360"/>
            <a:ext cx="50800" cy="114300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55080" y="5166360"/>
            <a:ext cx="4846320" cy="365760"/>
          </a:xfrm>
          <a:prstGeom prst="rect">
            <a:avLst/>
          </a:prstGeom>
          <a:noFill/>
        </p:spPr>
        <p:txBody>
          <a:bodyPr wrap="square">
            <a:spAutoFit/>
          </a:bodyPr>
          <a:lstStyle/>
          <a:p>
            <a:pPr algn="l">
              <a:defRPr sz="1500" b="1">
                <a:solidFill>
                  <a:srgbClr val="0F172A"/>
                </a:solidFill>
                <a:latin typeface="Arial Black"/>
              </a:defRPr>
            </a:pPr>
            <a:r>
              <a:t>Subscription &amp; Payment</a:t>
            </a:r>
          </a:p>
        </p:txBody>
      </p:sp>
      <p:sp>
        <p:nvSpPr>
          <p:cNvPr id="30" name="TextBox 29"/>
          <p:cNvSpPr txBox="1"/>
          <p:nvPr/>
        </p:nvSpPr>
        <p:spPr>
          <a:xfrm>
            <a:off x="6355080" y="5623560"/>
            <a:ext cx="4846320" cy="822960"/>
          </a:xfrm>
          <a:prstGeom prst="rect">
            <a:avLst/>
          </a:prstGeom>
          <a:noFill/>
        </p:spPr>
        <p:txBody>
          <a:bodyPr wrap="square">
            <a:spAutoFit/>
          </a:bodyPr>
          <a:lstStyle/>
          <a:p>
            <a:pPr algn="l">
              <a:defRPr sz="1200" b="0">
                <a:solidFill>
                  <a:srgbClr val="334155"/>
                </a:solidFill>
                <a:latin typeface="Times New Roman"/>
              </a:defRPr>
            </a:pPr>
            <a:r>
              <a:t>SaaS model with dynamic UPI QR payments, admin verification workflow, campaign limits, plan management, and billing records.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07</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Result Comparison</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54480"/>
            <a:ext cx="10972800" cy="365760"/>
          </a:xfrm>
          <a:prstGeom prst="rect">
            <a:avLst/>
          </a:prstGeom>
          <a:noFill/>
        </p:spPr>
        <p:txBody>
          <a:bodyPr wrap="square">
            <a:spAutoFit/>
          </a:bodyPr>
          <a:lstStyle/>
          <a:p>
            <a:pPr algn="l">
              <a:defRPr sz="1400" b="0">
                <a:solidFill>
                  <a:srgbClr val="334155"/>
                </a:solidFill>
                <a:latin typeface="Times New Roman"/>
              </a:defRPr>
            </a:pPr>
            <a:r>
              <a:t>How Attention Trace outperforms existing advertising analytics platforms:</a:t>
            </a:r>
          </a:p>
        </p:txBody>
      </p:sp>
      <p:sp>
        <p:nvSpPr>
          <p:cNvPr id="8" name="Rectangle 7"/>
          <p:cNvSpPr/>
          <p:nvPr/>
        </p:nvSpPr>
        <p:spPr>
          <a:xfrm>
            <a:off x="320040" y="1965960"/>
            <a:ext cx="2560320" cy="438912"/>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2002536"/>
            <a:ext cx="2377440" cy="438912"/>
          </a:xfrm>
          <a:prstGeom prst="rect">
            <a:avLst/>
          </a:prstGeom>
          <a:noFill/>
        </p:spPr>
        <p:txBody>
          <a:bodyPr wrap="square">
            <a:spAutoFit/>
          </a:bodyPr>
          <a:lstStyle/>
          <a:p>
            <a:pPr algn="ctr">
              <a:defRPr sz="1200" b="1">
                <a:solidFill>
                  <a:srgbClr val="FFFFFF"/>
                </a:solidFill>
                <a:latin typeface="Arial Black"/>
              </a:defRPr>
            </a:pPr>
            <a:r>
              <a:t>Feature / Metric</a:t>
            </a:r>
          </a:p>
        </p:txBody>
      </p:sp>
      <p:sp>
        <p:nvSpPr>
          <p:cNvPr id="10" name="Rectangle 9"/>
          <p:cNvSpPr/>
          <p:nvPr/>
        </p:nvSpPr>
        <p:spPr>
          <a:xfrm>
            <a:off x="2880360" y="1965960"/>
            <a:ext cx="4114800" cy="438912"/>
          </a:xfrm>
          <a:prstGeom prst="rect">
            <a:avLst/>
          </a:prstGeom>
          <a:solidFill>
            <a:srgbClr val="B91C1C"/>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71800" y="2002536"/>
            <a:ext cx="3931920" cy="438912"/>
          </a:xfrm>
          <a:prstGeom prst="rect">
            <a:avLst/>
          </a:prstGeom>
          <a:noFill/>
        </p:spPr>
        <p:txBody>
          <a:bodyPr wrap="square">
            <a:spAutoFit/>
          </a:bodyPr>
          <a:lstStyle/>
          <a:p>
            <a:pPr algn="ctr">
              <a:defRPr sz="1200" b="1">
                <a:solidFill>
                  <a:srgbClr val="FFFFFF"/>
                </a:solidFill>
                <a:latin typeface="Arial Black"/>
              </a:defRPr>
            </a:pPr>
            <a:r>
              <a:t>Traditional Platforms</a:t>
            </a:r>
          </a:p>
        </p:txBody>
      </p:sp>
      <p:sp>
        <p:nvSpPr>
          <p:cNvPr id="12" name="Rectangle 11"/>
          <p:cNvSpPr/>
          <p:nvPr/>
        </p:nvSpPr>
        <p:spPr>
          <a:xfrm>
            <a:off x="6995160" y="1965960"/>
            <a:ext cx="4480560" cy="438912"/>
          </a:xfrm>
          <a:prstGeom prst="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86600" y="2002536"/>
            <a:ext cx="4297680" cy="438912"/>
          </a:xfrm>
          <a:prstGeom prst="rect">
            <a:avLst/>
          </a:prstGeom>
          <a:noFill/>
        </p:spPr>
        <p:txBody>
          <a:bodyPr wrap="square">
            <a:spAutoFit/>
          </a:bodyPr>
          <a:lstStyle/>
          <a:p>
            <a:pPr algn="ctr">
              <a:defRPr sz="1200" b="1">
                <a:solidFill>
                  <a:srgbClr val="FFFFFF"/>
                </a:solidFill>
                <a:latin typeface="Arial Black"/>
              </a:defRPr>
            </a:pPr>
            <a:r>
              <a:t>Attention Trace (Ours)</a:t>
            </a:r>
          </a:p>
        </p:txBody>
      </p:sp>
      <p:sp>
        <p:nvSpPr>
          <p:cNvPr id="14" name="Rectangle 13"/>
          <p:cNvSpPr/>
          <p:nvPr/>
        </p:nvSpPr>
        <p:spPr>
          <a:xfrm>
            <a:off x="320040" y="2404872"/>
            <a:ext cx="2560320" cy="53035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2441448"/>
            <a:ext cx="2377440" cy="457200"/>
          </a:xfrm>
          <a:prstGeom prst="rect">
            <a:avLst/>
          </a:prstGeom>
          <a:noFill/>
        </p:spPr>
        <p:txBody>
          <a:bodyPr wrap="square">
            <a:spAutoFit/>
          </a:bodyPr>
          <a:lstStyle/>
          <a:p>
            <a:pPr algn="l">
              <a:defRPr sz="1100" b="1">
                <a:solidFill>
                  <a:srgbClr val="0F172A"/>
                </a:solidFill>
                <a:latin typeface="Times New Roman"/>
              </a:defRPr>
            </a:pPr>
            <a:r>
              <a:t>Engagement Metric</a:t>
            </a:r>
          </a:p>
        </p:txBody>
      </p:sp>
      <p:sp>
        <p:nvSpPr>
          <p:cNvPr id="16" name="Rectangle 15"/>
          <p:cNvSpPr/>
          <p:nvPr/>
        </p:nvSpPr>
        <p:spPr>
          <a:xfrm>
            <a:off x="2880360" y="2404872"/>
            <a:ext cx="4114800" cy="53035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71800" y="2441448"/>
            <a:ext cx="3931920" cy="457200"/>
          </a:xfrm>
          <a:prstGeom prst="rect">
            <a:avLst/>
          </a:prstGeom>
          <a:noFill/>
        </p:spPr>
        <p:txBody>
          <a:bodyPr wrap="square">
            <a:spAutoFit/>
          </a:bodyPr>
          <a:lstStyle/>
          <a:p>
            <a:pPr algn="ctr">
              <a:defRPr sz="1100" b="0">
                <a:solidFill>
                  <a:srgbClr val="DC2626"/>
                </a:solidFill>
                <a:latin typeface="Times New Roman"/>
              </a:defRPr>
            </a:pPr>
            <a:r>
              <a:t>Clicks + Impressions only</a:t>
            </a:r>
          </a:p>
        </p:txBody>
      </p:sp>
      <p:sp>
        <p:nvSpPr>
          <p:cNvPr id="18" name="Rectangle 17"/>
          <p:cNvSpPr/>
          <p:nvPr/>
        </p:nvSpPr>
        <p:spPr>
          <a:xfrm>
            <a:off x="6995160" y="2404872"/>
            <a:ext cx="4480560" cy="53035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86600" y="2441448"/>
            <a:ext cx="4297680" cy="457200"/>
          </a:xfrm>
          <a:prstGeom prst="rect">
            <a:avLst/>
          </a:prstGeom>
          <a:noFill/>
        </p:spPr>
        <p:txBody>
          <a:bodyPr wrap="square">
            <a:spAutoFit/>
          </a:bodyPr>
          <a:lstStyle/>
          <a:p>
            <a:pPr algn="ctr">
              <a:defRPr sz="1100" b="0">
                <a:solidFill>
                  <a:srgbClr val="16A34A"/>
                </a:solidFill>
                <a:latin typeface="Times New Roman"/>
              </a:defRPr>
            </a:pPr>
            <a:r>
              <a:t>Emotion + Gaze + Behavior Score (0-100)</a:t>
            </a:r>
          </a:p>
        </p:txBody>
      </p:sp>
      <p:sp>
        <p:nvSpPr>
          <p:cNvPr id="20" name="Rectangle 19"/>
          <p:cNvSpPr/>
          <p:nvPr/>
        </p:nvSpPr>
        <p:spPr>
          <a:xfrm>
            <a:off x="320040" y="2935224"/>
            <a:ext cx="2560320" cy="53035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971800"/>
            <a:ext cx="2377440" cy="457200"/>
          </a:xfrm>
          <a:prstGeom prst="rect">
            <a:avLst/>
          </a:prstGeom>
          <a:noFill/>
        </p:spPr>
        <p:txBody>
          <a:bodyPr wrap="square">
            <a:spAutoFit/>
          </a:bodyPr>
          <a:lstStyle/>
          <a:p>
            <a:pPr algn="l">
              <a:defRPr sz="1100" b="1">
                <a:solidFill>
                  <a:srgbClr val="0F172A"/>
                </a:solidFill>
                <a:latin typeface="Times New Roman"/>
              </a:defRPr>
            </a:pPr>
            <a:r>
              <a:t>Emotion Detection</a:t>
            </a:r>
          </a:p>
        </p:txBody>
      </p:sp>
      <p:sp>
        <p:nvSpPr>
          <p:cNvPr id="22" name="Rectangle 21"/>
          <p:cNvSpPr/>
          <p:nvPr/>
        </p:nvSpPr>
        <p:spPr>
          <a:xfrm>
            <a:off x="2880360" y="2935224"/>
            <a:ext cx="4114800" cy="53035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71800" y="2971800"/>
            <a:ext cx="3931920" cy="457200"/>
          </a:xfrm>
          <a:prstGeom prst="rect">
            <a:avLst/>
          </a:prstGeom>
          <a:noFill/>
        </p:spPr>
        <p:txBody>
          <a:bodyPr wrap="square">
            <a:spAutoFit/>
          </a:bodyPr>
          <a:lstStyle/>
          <a:p>
            <a:pPr algn="ctr">
              <a:defRPr sz="1100" b="0">
                <a:solidFill>
                  <a:srgbClr val="DC2626"/>
                </a:solidFill>
                <a:latin typeface="Times New Roman"/>
              </a:defRPr>
            </a:pPr>
            <a:r>
              <a:t>Not available</a:t>
            </a:r>
          </a:p>
        </p:txBody>
      </p:sp>
      <p:sp>
        <p:nvSpPr>
          <p:cNvPr id="24" name="Rectangle 23"/>
          <p:cNvSpPr/>
          <p:nvPr/>
        </p:nvSpPr>
        <p:spPr>
          <a:xfrm>
            <a:off x="6995160" y="2935224"/>
            <a:ext cx="4480560" cy="53035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86600" y="2971800"/>
            <a:ext cx="4297680" cy="457200"/>
          </a:xfrm>
          <a:prstGeom prst="rect">
            <a:avLst/>
          </a:prstGeom>
          <a:noFill/>
        </p:spPr>
        <p:txBody>
          <a:bodyPr wrap="square">
            <a:spAutoFit/>
          </a:bodyPr>
          <a:lstStyle/>
          <a:p>
            <a:pPr algn="ctr">
              <a:defRPr sz="1100" b="0">
                <a:solidFill>
                  <a:srgbClr val="16A34A"/>
                </a:solidFill>
                <a:latin typeface="Times New Roman"/>
              </a:defRPr>
            </a:pPr>
            <a:r>
              <a:t>Real-time 7-emotion FER via webcam</a:t>
            </a:r>
          </a:p>
        </p:txBody>
      </p:sp>
      <p:sp>
        <p:nvSpPr>
          <p:cNvPr id="26" name="Rectangle 25"/>
          <p:cNvSpPr/>
          <p:nvPr/>
        </p:nvSpPr>
        <p:spPr>
          <a:xfrm>
            <a:off x="320040" y="3465576"/>
            <a:ext cx="2560320" cy="53035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502152"/>
            <a:ext cx="2377440" cy="457200"/>
          </a:xfrm>
          <a:prstGeom prst="rect">
            <a:avLst/>
          </a:prstGeom>
          <a:noFill/>
        </p:spPr>
        <p:txBody>
          <a:bodyPr wrap="square">
            <a:spAutoFit/>
          </a:bodyPr>
          <a:lstStyle/>
          <a:p>
            <a:pPr algn="l">
              <a:defRPr sz="1100" b="1">
                <a:solidFill>
                  <a:srgbClr val="0F172A"/>
                </a:solidFill>
                <a:latin typeface="Times New Roman"/>
              </a:defRPr>
            </a:pPr>
            <a:r>
              <a:t>Eye Tracking</a:t>
            </a:r>
          </a:p>
        </p:txBody>
      </p:sp>
      <p:sp>
        <p:nvSpPr>
          <p:cNvPr id="28" name="Rectangle 27"/>
          <p:cNvSpPr/>
          <p:nvPr/>
        </p:nvSpPr>
        <p:spPr>
          <a:xfrm>
            <a:off x="2880360" y="3465576"/>
            <a:ext cx="4114800" cy="53035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971800" y="3502152"/>
            <a:ext cx="3931920" cy="457200"/>
          </a:xfrm>
          <a:prstGeom prst="rect">
            <a:avLst/>
          </a:prstGeom>
          <a:noFill/>
        </p:spPr>
        <p:txBody>
          <a:bodyPr wrap="square">
            <a:spAutoFit/>
          </a:bodyPr>
          <a:lstStyle/>
          <a:p>
            <a:pPr algn="ctr">
              <a:defRPr sz="1100" b="0">
                <a:solidFill>
                  <a:srgbClr val="DC2626"/>
                </a:solidFill>
                <a:latin typeface="Times New Roman"/>
              </a:defRPr>
            </a:pPr>
            <a:r>
              <a:t>$15,000+ hardware required</a:t>
            </a:r>
          </a:p>
        </p:txBody>
      </p:sp>
      <p:sp>
        <p:nvSpPr>
          <p:cNvPr id="30" name="Rectangle 29"/>
          <p:cNvSpPr/>
          <p:nvPr/>
        </p:nvSpPr>
        <p:spPr>
          <a:xfrm>
            <a:off x="6995160" y="3465576"/>
            <a:ext cx="4480560" cy="53035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086600" y="3502152"/>
            <a:ext cx="4297680" cy="457200"/>
          </a:xfrm>
          <a:prstGeom prst="rect">
            <a:avLst/>
          </a:prstGeom>
          <a:noFill/>
        </p:spPr>
        <p:txBody>
          <a:bodyPr wrap="square">
            <a:spAutoFit/>
          </a:bodyPr>
          <a:lstStyle/>
          <a:p>
            <a:pPr algn="ctr">
              <a:defRPr sz="1100" b="0">
                <a:solidFill>
                  <a:srgbClr val="16A34A"/>
                </a:solidFill>
                <a:latin typeface="Times New Roman"/>
              </a:defRPr>
            </a:pPr>
            <a:r>
              <a:t>Free browser-based MediaPipe iris tracking</a:t>
            </a:r>
          </a:p>
        </p:txBody>
      </p:sp>
      <p:sp>
        <p:nvSpPr>
          <p:cNvPr id="32" name="Rectangle 31"/>
          <p:cNvSpPr/>
          <p:nvPr/>
        </p:nvSpPr>
        <p:spPr>
          <a:xfrm>
            <a:off x="320040" y="3995928"/>
            <a:ext cx="2560320" cy="53035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4032504"/>
            <a:ext cx="2377440" cy="457200"/>
          </a:xfrm>
          <a:prstGeom prst="rect">
            <a:avLst/>
          </a:prstGeom>
          <a:noFill/>
        </p:spPr>
        <p:txBody>
          <a:bodyPr wrap="square">
            <a:spAutoFit/>
          </a:bodyPr>
          <a:lstStyle/>
          <a:p>
            <a:pPr algn="l">
              <a:defRPr sz="1100" b="1">
                <a:solidFill>
                  <a:srgbClr val="0F172A"/>
                </a:solidFill>
                <a:latin typeface="Times New Roman"/>
              </a:defRPr>
            </a:pPr>
            <a:r>
              <a:t>Integration Effort</a:t>
            </a:r>
          </a:p>
        </p:txBody>
      </p:sp>
      <p:sp>
        <p:nvSpPr>
          <p:cNvPr id="34" name="Rectangle 33"/>
          <p:cNvSpPr/>
          <p:nvPr/>
        </p:nvSpPr>
        <p:spPr>
          <a:xfrm>
            <a:off x="2880360" y="3995928"/>
            <a:ext cx="4114800" cy="53035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971800" y="4032504"/>
            <a:ext cx="3931920" cy="457200"/>
          </a:xfrm>
          <a:prstGeom prst="rect">
            <a:avLst/>
          </a:prstGeom>
          <a:noFill/>
        </p:spPr>
        <p:txBody>
          <a:bodyPr wrap="square">
            <a:spAutoFit/>
          </a:bodyPr>
          <a:lstStyle/>
          <a:p>
            <a:pPr algn="ctr">
              <a:defRPr sz="1100" b="0">
                <a:solidFill>
                  <a:srgbClr val="DC2626"/>
                </a:solidFill>
                <a:latin typeface="Times New Roman"/>
              </a:defRPr>
            </a:pPr>
            <a:r>
              <a:t>Complex SDKs, weeks of setup</a:t>
            </a:r>
          </a:p>
        </p:txBody>
      </p:sp>
      <p:sp>
        <p:nvSpPr>
          <p:cNvPr id="36" name="Rectangle 35"/>
          <p:cNvSpPr/>
          <p:nvPr/>
        </p:nvSpPr>
        <p:spPr>
          <a:xfrm>
            <a:off x="6995160" y="3995928"/>
            <a:ext cx="4480560" cy="53035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086600" y="4032504"/>
            <a:ext cx="4297680" cy="457200"/>
          </a:xfrm>
          <a:prstGeom prst="rect">
            <a:avLst/>
          </a:prstGeom>
          <a:noFill/>
        </p:spPr>
        <p:txBody>
          <a:bodyPr wrap="square">
            <a:spAutoFit/>
          </a:bodyPr>
          <a:lstStyle/>
          <a:p>
            <a:pPr algn="ctr">
              <a:defRPr sz="1100" b="0">
                <a:solidFill>
                  <a:srgbClr val="16A34A"/>
                </a:solidFill>
                <a:latin typeface="Times New Roman"/>
              </a:defRPr>
            </a:pPr>
            <a:r>
              <a:t>Single &lt;script&gt; tag, 30 seconds</a:t>
            </a:r>
          </a:p>
        </p:txBody>
      </p:sp>
      <p:sp>
        <p:nvSpPr>
          <p:cNvPr id="38" name="Rectangle 37"/>
          <p:cNvSpPr/>
          <p:nvPr/>
        </p:nvSpPr>
        <p:spPr>
          <a:xfrm>
            <a:off x="320040" y="4526280"/>
            <a:ext cx="2560320" cy="53035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562856"/>
            <a:ext cx="2377440" cy="457200"/>
          </a:xfrm>
          <a:prstGeom prst="rect">
            <a:avLst/>
          </a:prstGeom>
          <a:noFill/>
        </p:spPr>
        <p:txBody>
          <a:bodyPr wrap="square">
            <a:spAutoFit/>
          </a:bodyPr>
          <a:lstStyle/>
          <a:p>
            <a:pPr algn="l">
              <a:defRPr sz="1100" b="1">
                <a:solidFill>
                  <a:srgbClr val="0F172A"/>
                </a:solidFill>
                <a:latin typeface="Times New Roman"/>
              </a:defRPr>
            </a:pPr>
            <a:r>
              <a:t>Privacy &amp; Storage</a:t>
            </a:r>
          </a:p>
        </p:txBody>
      </p:sp>
      <p:sp>
        <p:nvSpPr>
          <p:cNvPr id="40" name="Rectangle 39"/>
          <p:cNvSpPr/>
          <p:nvPr/>
        </p:nvSpPr>
        <p:spPr>
          <a:xfrm>
            <a:off x="2880360" y="4526280"/>
            <a:ext cx="4114800" cy="53035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971800" y="4562856"/>
            <a:ext cx="3931920" cy="457200"/>
          </a:xfrm>
          <a:prstGeom prst="rect">
            <a:avLst/>
          </a:prstGeom>
          <a:noFill/>
        </p:spPr>
        <p:txBody>
          <a:bodyPr wrap="square">
            <a:spAutoFit/>
          </a:bodyPr>
          <a:lstStyle/>
          <a:p>
            <a:pPr algn="ctr">
              <a:defRPr sz="1100" b="0">
                <a:solidFill>
                  <a:srgbClr val="DC2626"/>
                </a:solidFill>
                <a:latin typeface="Times New Roman"/>
              </a:defRPr>
            </a:pPr>
            <a:r>
              <a:t>Raw video stored on server</a:t>
            </a:r>
          </a:p>
        </p:txBody>
      </p:sp>
      <p:sp>
        <p:nvSpPr>
          <p:cNvPr id="42" name="Rectangle 41"/>
          <p:cNvSpPr/>
          <p:nvPr/>
        </p:nvSpPr>
        <p:spPr>
          <a:xfrm>
            <a:off x="6995160" y="4526280"/>
            <a:ext cx="4480560" cy="53035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086600" y="4562856"/>
            <a:ext cx="4297680" cy="457200"/>
          </a:xfrm>
          <a:prstGeom prst="rect">
            <a:avLst/>
          </a:prstGeom>
          <a:noFill/>
        </p:spPr>
        <p:txBody>
          <a:bodyPr wrap="square">
            <a:spAutoFit/>
          </a:bodyPr>
          <a:lstStyle/>
          <a:p>
            <a:pPr algn="ctr">
              <a:defRPr sz="1100" b="0">
                <a:solidFill>
                  <a:srgbClr val="16A34A"/>
                </a:solidFill>
                <a:latin typeface="Times New Roman"/>
              </a:defRPr>
            </a:pPr>
            <a:r>
              <a:t>Zero video stored; analytics only</a:t>
            </a:r>
          </a:p>
        </p:txBody>
      </p:sp>
      <p:sp>
        <p:nvSpPr>
          <p:cNvPr id="44" name="Rectangle 43"/>
          <p:cNvSpPr/>
          <p:nvPr/>
        </p:nvSpPr>
        <p:spPr>
          <a:xfrm>
            <a:off x="320040" y="5056632"/>
            <a:ext cx="2560320" cy="53035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5093208"/>
            <a:ext cx="2377440" cy="457200"/>
          </a:xfrm>
          <a:prstGeom prst="rect">
            <a:avLst/>
          </a:prstGeom>
          <a:noFill/>
        </p:spPr>
        <p:txBody>
          <a:bodyPr wrap="square">
            <a:spAutoFit/>
          </a:bodyPr>
          <a:lstStyle/>
          <a:p>
            <a:pPr algn="l">
              <a:defRPr sz="1100" b="1">
                <a:solidFill>
                  <a:srgbClr val="0F172A"/>
                </a:solidFill>
                <a:latin typeface="Times New Roman"/>
              </a:defRPr>
            </a:pPr>
            <a:r>
              <a:t>Cost</a:t>
            </a:r>
          </a:p>
        </p:txBody>
      </p:sp>
      <p:sp>
        <p:nvSpPr>
          <p:cNvPr id="46" name="Rectangle 45"/>
          <p:cNvSpPr/>
          <p:nvPr/>
        </p:nvSpPr>
        <p:spPr>
          <a:xfrm>
            <a:off x="2880360" y="5056632"/>
            <a:ext cx="4114800" cy="53035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971800" y="5093208"/>
            <a:ext cx="3931920" cy="457200"/>
          </a:xfrm>
          <a:prstGeom prst="rect">
            <a:avLst/>
          </a:prstGeom>
          <a:noFill/>
        </p:spPr>
        <p:txBody>
          <a:bodyPr wrap="square">
            <a:spAutoFit/>
          </a:bodyPr>
          <a:lstStyle/>
          <a:p>
            <a:pPr algn="ctr">
              <a:defRPr sz="1100" b="0">
                <a:solidFill>
                  <a:srgbClr val="DC2626"/>
                </a:solidFill>
                <a:latin typeface="Times New Roman"/>
              </a:defRPr>
            </a:pPr>
            <a:r>
              <a:t>$500-5,000+/month enterprise</a:t>
            </a:r>
          </a:p>
        </p:txBody>
      </p:sp>
      <p:sp>
        <p:nvSpPr>
          <p:cNvPr id="48" name="Rectangle 47"/>
          <p:cNvSpPr/>
          <p:nvPr/>
        </p:nvSpPr>
        <p:spPr>
          <a:xfrm>
            <a:off x="6995160" y="5056632"/>
            <a:ext cx="4480560" cy="53035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086600" y="5093208"/>
            <a:ext cx="4297680" cy="457200"/>
          </a:xfrm>
          <a:prstGeom prst="rect">
            <a:avLst/>
          </a:prstGeom>
          <a:noFill/>
        </p:spPr>
        <p:txBody>
          <a:bodyPr wrap="square">
            <a:spAutoFit/>
          </a:bodyPr>
          <a:lstStyle/>
          <a:p>
            <a:pPr algn="ctr">
              <a:defRPr sz="1100" b="0">
                <a:solidFill>
                  <a:srgbClr val="16A34A"/>
                </a:solidFill>
                <a:latin typeface="Times New Roman"/>
              </a:defRPr>
            </a:pPr>
            <a:r>
              <a:t>Free tier + Rs. 500/month Pro</a:t>
            </a:r>
          </a:p>
        </p:txBody>
      </p:sp>
      <p:sp>
        <p:nvSpPr>
          <p:cNvPr id="50" name="Rectangle 49"/>
          <p:cNvSpPr/>
          <p:nvPr/>
        </p:nvSpPr>
        <p:spPr>
          <a:xfrm>
            <a:off x="320040" y="5586984"/>
            <a:ext cx="2560320" cy="53035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11480" y="5623560"/>
            <a:ext cx="2377440" cy="457200"/>
          </a:xfrm>
          <a:prstGeom prst="rect">
            <a:avLst/>
          </a:prstGeom>
          <a:noFill/>
        </p:spPr>
        <p:txBody>
          <a:bodyPr wrap="square">
            <a:spAutoFit/>
          </a:bodyPr>
          <a:lstStyle/>
          <a:p>
            <a:pPr algn="l">
              <a:defRPr sz="1100" b="1">
                <a:solidFill>
                  <a:srgbClr val="0F172A"/>
                </a:solidFill>
                <a:latin typeface="Times New Roman"/>
              </a:defRPr>
            </a:pPr>
            <a:r>
              <a:t>Processing Speed</a:t>
            </a:r>
          </a:p>
        </p:txBody>
      </p:sp>
      <p:sp>
        <p:nvSpPr>
          <p:cNvPr id="52" name="Rectangle 51"/>
          <p:cNvSpPr/>
          <p:nvPr/>
        </p:nvSpPr>
        <p:spPr>
          <a:xfrm>
            <a:off x="2880360" y="5586984"/>
            <a:ext cx="4114800" cy="53035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971800" y="5623560"/>
            <a:ext cx="3931920" cy="457200"/>
          </a:xfrm>
          <a:prstGeom prst="rect">
            <a:avLst/>
          </a:prstGeom>
          <a:noFill/>
        </p:spPr>
        <p:txBody>
          <a:bodyPr wrap="square">
            <a:spAutoFit/>
          </a:bodyPr>
          <a:lstStyle/>
          <a:p>
            <a:pPr algn="ctr">
              <a:defRPr sz="1100" b="0">
                <a:solidFill>
                  <a:srgbClr val="DC2626"/>
                </a:solidFill>
                <a:latin typeface="Times New Roman"/>
              </a:defRPr>
            </a:pPr>
            <a:r>
              <a:t>Post-session batch analysis</a:t>
            </a:r>
          </a:p>
        </p:txBody>
      </p:sp>
      <p:sp>
        <p:nvSpPr>
          <p:cNvPr id="54" name="Rectangle 53"/>
          <p:cNvSpPr/>
          <p:nvPr/>
        </p:nvSpPr>
        <p:spPr>
          <a:xfrm>
            <a:off x="6995160" y="5586984"/>
            <a:ext cx="4480560" cy="53035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086600" y="5623560"/>
            <a:ext cx="4297680" cy="457200"/>
          </a:xfrm>
          <a:prstGeom prst="rect">
            <a:avLst/>
          </a:prstGeom>
          <a:noFill/>
        </p:spPr>
        <p:txBody>
          <a:bodyPr wrap="square">
            <a:spAutoFit/>
          </a:bodyPr>
          <a:lstStyle/>
          <a:p>
            <a:pPr algn="ctr">
              <a:defRPr sz="1100" b="0">
                <a:solidFill>
                  <a:srgbClr val="16A34A"/>
                </a:solidFill>
                <a:latin typeface="Times New Roman"/>
              </a:defRPr>
            </a:pPr>
            <a:r>
              <a:t>Live WebSocket AI, &lt; 500ms/frame</a:t>
            </a:r>
          </a:p>
        </p:txBody>
      </p:sp>
      <p:sp>
        <p:nvSpPr>
          <p:cNvPr id="56" name="TextBox 55"/>
          <p:cNvSpPr txBox="1"/>
          <p:nvPr/>
        </p:nvSpPr>
        <p:spPr>
          <a:xfrm>
            <a:off x="457200" y="5989320"/>
            <a:ext cx="11155680" cy="365760"/>
          </a:xfrm>
          <a:prstGeom prst="rect">
            <a:avLst/>
          </a:prstGeom>
          <a:noFill/>
        </p:spPr>
        <p:txBody>
          <a:bodyPr wrap="square">
            <a:spAutoFit/>
          </a:bodyPr>
          <a:lstStyle/>
          <a:p>
            <a:pPr algn="ctr">
              <a:defRPr sz="1100" b="0">
                <a:solidFill>
                  <a:srgbClr val="64748B"/>
                </a:solidFill>
                <a:latin typeface="Times New Roman"/>
              </a:defRPr>
            </a:pPr>
            <a:r>
              <a:t>Attention Trace delivers enterprise-grade analytics at a fraction of the cost with zero hardware requirements.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08</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UI Interface - I</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737360"/>
            <a:ext cx="5349240" cy="4572000"/>
          </a:xfrm>
          <a:prstGeom prst="roundRect">
            <a:avLst/>
          </a:prstGeom>
          <a:solidFill>
            <a:srgbClr val="F1F5F9"/>
          </a:solidFill>
          <a:ln w="1905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3749040"/>
            <a:ext cx="5349240" cy="320040"/>
          </a:xfrm>
          <a:prstGeom prst="rect">
            <a:avLst/>
          </a:prstGeom>
          <a:noFill/>
        </p:spPr>
        <p:txBody>
          <a:bodyPr wrap="square">
            <a:spAutoFit/>
          </a:bodyPr>
          <a:lstStyle/>
          <a:p>
            <a:pPr algn="ctr">
              <a:defRPr sz="1600" b="0">
                <a:solidFill>
                  <a:srgbClr val="64748B"/>
                </a:solidFill>
                <a:latin typeface="Arial Black"/>
              </a:defRPr>
            </a:pPr>
            <a:r>
              <a:t>Insert Screenshot 1</a:t>
            </a:r>
          </a:p>
        </p:txBody>
      </p:sp>
      <p:sp>
        <p:nvSpPr>
          <p:cNvPr id="9" name="TextBox 8"/>
          <p:cNvSpPr txBox="1"/>
          <p:nvPr/>
        </p:nvSpPr>
        <p:spPr>
          <a:xfrm>
            <a:off x="457200" y="4114800"/>
            <a:ext cx="5349240" cy="274320"/>
          </a:xfrm>
          <a:prstGeom prst="rect">
            <a:avLst/>
          </a:prstGeom>
          <a:noFill/>
        </p:spPr>
        <p:txBody>
          <a:bodyPr wrap="square">
            <a:spAutoFit/>
          </a:bodyPr>
          <a:lstStyle/>
          <a:p>
            <a:pPr algn="ctr">
              <a:defRPr sz="1000" b="0">
                <a:solidFill>
                  <a:srgbClr val="64748B"/>
                </a:solidFill>
                <a:latin typeface="Times New Roman"/>
              </a:defRPr>
            </a:pPr>
            <a:r>
              <a:t>(Right-click &gt; Format Picture &gt; Insert from file)</a:t>
            </a:r>
          </a:p>
        </p:txBody>
      </p:sp>
      <p:sp>
        <p:nvSpPr>
          <p:cNvPr id="10" name="Rounded Rectangle 9"/>
          <p:cNvSpPr/>
          <p:nvPr/>
        </p:nvSpPr>
        <p:spPr>
          <a:xfrm>
            <a:off x="6172200" y="1737360"/>
            <a:ext cx="5349240" cy="4572000"/>
          </a:xfrm>
          <a:prstGeom prst="roundRect">
            <a:avLst/>
          </a:prstGeom>
          <a:solidFill>
            <a:srgbClr val="F1F5F9"/>
          </a:solidFill>
          <a:ln w="1905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72200" y="3749040"/>
            <a:ext cx="5349240" cy="320040"/>
          </a:xfrm>
          <a:prstGeom prst="rect">
            <a:avLst/>
          </a:prstGeom>
          <a:noFill/>
        </p:spPr>
        <p:txBody>
          <a:bodyPr wrap="square">
            <a:spAutoFit/>
          </a:bodyPr>
          <a:lstStyle/>
          <a:p>
            <a:pPr algn="ctr">
              <a:defRPr sz="1600" b="0">
                <a:solidFill>
                  <a:srgbClr val="64748B"/>
                </a:solidFill>
                <a:latin typeface="Arial Black"/>
              </a:defRPr>
            </a:pPr>
            <a:r>
              <a:t>Insert Screenshot 2</a:t>
            </a:r>
          </a:p>
        </p:txBody>
      </p:sp>
      <p:sp>
        <p:nvSpPr>
          <p:cNvPr id="12" name="TextBox 11"/>
          <p:cNvSpPr txBox="1"/>
          <p:nvPr/>
        </p:nvSpPr>
        <p:spPr>
          <a:xfrm>
            <a:off x="6172200" y="4114800"/>
            <a:ext cx="5349240" cy="274320"/>
          </a:xfrm>
          <a:prstGeom prst="rect">
            <a:avLst/>
          </a:prstGeom>
          <a:noFill/>
        </p:spPr>
        <p:txBody>
          <a:bodyPr wrap="square">
            <a:spAutoFit/>
          </a:bodyPr>
          <a:lstStyle/>
          <a:p>
            <a:pPr algn="ctr">
              <a:defRPr sz="1000" b="0">
                <a:solidFill>
                  <a:srgbClr val="64748B"/>
                </a:solidFill>
                <a:latin typeface="Times New Roman"/>
              </a:defRPr>
            </a:pPr>
            <a:r>
              <a:t>(Right-click &gt; Format Picture &gt; Insert from file)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09</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UI Interface - II</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737360"/>
            <a:ext cx="5349240" cy="4572000"/>
          </a:xfrm>
          <a:prstGeom prst="roundRect">
            <a:avLst/>
          </a:prstGeom>
          <a:solidFill>
            <a:srgbClr val="F1F5F9"/>
          </a:solidFill>
          <a:ln w="1905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3749040"/>
            <a:ext cx="5349240" cy="320040"/>
          </a:xfrm>
          <a:prstGeom prst="rect">
            <a:avLst/>
          </a:prstGeom>
          <a:noFill/>
        </p:spPr>
        <p:txBody>
          <a:bodyPr wrap="square">
            <a:spAutoFit/>
          </a:bodyPr>
          <a:lstStyle/>
          <a:p>
            <a:pPr algn="ctr">
              <a:defRPr sz="1600" b="0">
                <a:solidFill>
                  <a:srgbClr val="64748B"/>
                </a:solidFill>
                <a:latin typeface="Arial Black"/>
              </a:defRPr>
            </a:pPr>
            <a:r>
              <a:t>Insert Screenshot 3</a:t>
            </a:r>
          </a:p>
        </p:txBody>
      </p:sp>
      <p:sp>
        <p:nvSpPr>
          <p:cNvPr id="9" name="TextBox 8"/>
          <p:cNvSpPr txBox="1"/>
          <p:nvPr/>
        </p:nvSpPr>
        <p:spPr>
          <a:xfrm>
            <a:off x="457200" y="4114800"/>
            <a:ext cx="5349240" cy="274320"/>
          </a:xfrm>
          <a:prstGeom prst="rect">
            <a:avLst/>
          </a:prstGeom>
          <a:noFill/>
        </p:spPr>
        <p:txBody>
          <a:bodyPr wrap="square">
            <a:spAutoFit/>
          </a:bodyPr>
          <a:lstStyle/>
          <a:p>
            <a:pPr algn="ctr">
              <a:defRPr sz="1000" b="0">
                <a:solidFill>
                  <a:srgbClr val="64748B"/>
                </a:solidFill>
                <a:latin typeface="Times New Roman"/>
              </a:defRPr>
            </a:pPr>
            <a:r>
              <a:t>(Right-click &gt; Format Picture &gt; Insert from file)</a:t>
            </a:r>
          </a:p>
        </p:txBody>
      </p:sp>
      <p:sp>
        <p:nvSpPr>
          <p:cNvPr id="10" name="Rounded Rectangle 9"/>
          <p:cNvSpPr/>
          <p:nvPr/>
        </p:nvSpPr>
        <p:spPr>
          <a:xfrm>
            <a:off x="6172200" y="1737360"/>
            <a:ext cx="5349240" cy="4572000"/>
          </a:xfrm>
          <a:prstGeom prst="roundRect">
            <a:avLst/>
          </a:prstGeom>
          <a:solidFill>
            <a:srgbClr val="F1F5F9"/>
          </a:solidFill>
          <a:ln w="1905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72200" y="3749040"/>
            <a:ext cx="5349240" cy="320040"/>
          </a:xfrm>
          <a:prstGeom prst="rect">
            <a:avLst/>
          </a:prstGeom>
          <a:noFill/>
        </p:spPr>
        <p:txBody>
          <a:bodyPr wrap="square">
            <a:spAutoFit/>
          </a:bodyPr>
          <a:lstStyle/>
          <a:p>
            <a:pPr algn="ctr">
              <a:defRPr sz="1600" b="0">
                <a:solidFill>
                  <a:srgbClr val="64748B"/>
                </a:solidFill>
                <a:latin typeface="Arial Black"/>
              </a:defRPr>
            </a:pPr>
            <a:r>
              <a:t>Insert Screenshot 4</a:t>
            </a:r>
          </a:p>
        </p:txBody>
      </p:sp>
      <p:sp>
        <p:nvSpPr>
          <p:cNvPr id="12" name="TextBox 11"/>
          <p:cNvSpPr txBox="1"/>
          <p:nvPr/>
        </p:nvSpPr>
        <p:spPr>
          <a:xfrm>
            <a:off x="6172200" y="4114800"/>
            <a:ext cx="5349240" cy="274320"/>
          </a:xfrm>
          <a:prstGeom prst="rect">
            <a:avLst/>
          </a:prstGeom>
          <a:noFill/>
        </p:spPr>
        <p:txBody>
          <a:bodyPr wrap="square">
            <a:spAutoFit/>
          </a:bodyPr>
          <a:lstStyle/>
          <a:p>
            <a:pPr algn="ctr">
              <a:defRPr sz="1000" b="0">
                <a:solidFill>
                  <a:srgbClr val="64748B"/>
                </a:solidFill>
                <a:latin typeface="Times New Roman"/>
              </a:defRPr>
            </a:pPr>
            <a:r>
              <a:t>(Right-click &gt; Format Picture &gt; Insert from file)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10</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Revenue Generation Model</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600200"/>
            <a:ext cx="11155680" cy="457200"/>
          </a:xfrm>
          <a:prstGeom prst="rect">
            <a:avLst/>
          </a:prstGeom>
          <a:noFill/>
        </p:spPr>
        <p:txBody>
          <a:bodyPr wrap="square">
            <a:spAutoFit/>
          </a:bodyPr>
          <a:lstStyle/>
          <a:p>
            <a:pPr algn="l">
              <a:defRPr sz="1500" b="0">
                <a:solidFill>
                  <a:srgbClr val="334155"/>
                </a:solidFill>
                <a:latin typeface="Times New Roman"/>
              </a:defRPr>
            </a:pPr>
            <a:r>
              <a:t>As a SaaS platform, Attention Trace generates revenue through multiple sustainable channels:</a:t>
            </a:r>
          </a:p>
        </p:txBody>
      </p:sp>
      <p:sp>
        <p:nvSpPr>
          <p:cNvPr id="8" name="Rounded Rectangle 7"/>
          <p:cNvSpPr/>
          <p:nvPr/>
        </p:nvSpPr>
        <p:spPr>
          <a:xfrm>
            <a:off x="320040" y="2286000"/>
            <a:ext cx="5440680" cy="1508760"/>
          </a:xfrm>
          <a:prstGeom prst="roundRect">
            <a:avLst/>
          </a:prstGeom>
          <a:solidFill>
            <a:srgbClr val="F1F5F9"/>
          </a:solidFill>
          <a:ln w="12700">
            <a:solidFill>
              <a:srgbClr val="FF4D2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7200" y="2423160"/>
            <a:ext cx="1371600" cy="274320"/>
          </a:xfrm>
          <a:prstGeom prst="round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423160"/>
            <a:ext cx="1280160" cy="274320"/>
          </a:xfrm>
          <a:prstGeom prst="rect">
            <a:avLst/>
          </a:prstGeom>
          <a:noFill/>
        </p:spPr>
        <p:txBody>
          <a:bodyPr wrap="square">
            <a:spAutoFit/>
          </a:bodyPr>
          <a:lstStyle/>
          <a:p>
            <a:pPr algn="ctr">
              <a:defRPr sz="700" b="1">
                <a:solidFill>
                  <a:srgbClr val="FFFFFF"/>
                </a:solidFill>
                <a:latin typeface="Arial Black"/>
              </a:defRPr>
            </a:pPr>
            <a:r>
              <a:t>PRIMARY REVENUE</a:t>
            </a:r>
          </a:p>
        </p:txBody>
      </p:sp>
      <p:sp>
        <p:nvSpPr>
          <p:cNvPr id="11" name="TextBox 10"/>
          <p:cNvSpPr txBox="1"/>
          <p:nvPr/>
        </p:nvSpPr>
        <p:spPr>
          <a:xfrm>
            <a:off x="1965960" y="2423160"/>
            <a:ext cx="3566160" cy="320040"/>
          </a:xfrm>
          <a:prstGeom prst="rect">
            <a:avLst/>
          </a:prstGeom>
          <a:noFill/>
        </p:spPr>
        <p:txBody>
          <a:bodyPr wrap="square">
            <a:spAutoFit/>
          </a:bodyPr>
          <a:lstStyle/>
          <a:p>
            <a:pPr algn="l">
              <a:defRPr sz="1400" b="1">
                <a:solidFill>
                  <a:srgbClr val="0F172A"/>
                </a:solidFill>
                <a:latin typeface="Arial Black"/>
              </a:defRPr>
            </a:pPr>
            <a:r>
              <a:t>Freemium Subscription Model</a:t>
            </a:r>
          </a:p>
        </p:txBody>
      </p:sp>
      <p:sp>
        <p:nvSpPr>
          <p:cNvPr id="12" name="TextBox 11"/>
          <p:cNvSpPr txBox="1"/>
          <p:nvPr/>
        </p:nvSpPr>
        <p:spPr>
          <a:xfrm>
            <a:off x="502920" y="2788920"/>
            <a:ext cx="5029200" cy="914400"/>
          </a:xfrm>
          <a:prstGeom prst="rect">
            <a:avLst/>
          </a:prstGeom>
          <a:noFill/>
        </p:spPr>
        <p:txBody>
          <a:bodyPr wrap="square">
            <a:spAutoFit/>
          </a:bodyPr>
          <a:lstStyle/>
          <a:p>
            <a:pPr algn="l">
              <a:defRPr sz="1100" b="0">
                <a:solidFill>
                  <a:srgbClr val="334155"/>
                </a:solidFill>
                <a:latin typeface="Times New Roman"/>
              </a:defRPr>
            </a:pPr>
            <a:r>
              <a:t>Free Tier: 1 campaign (lead generation). Pro Tier: Rs. 500/month for up to 20 campaigns, premium analytics, heatmaps, and priority support. Revenue scales linearly with user acquisition.</a:t>
            </a:r>
          </a:p>
        </p:txBody>
      </p:sp>
      <p:sp>
        <p:nvSpPr>
          <p:cNvPr id="13" name="Rounded Rectangle 12"/>
          <p:cNvSpPr/>
          <p:nvPr/>
        </p:nvSpPr>
        <p:spPr>
          <a:xfrm>
            <a:off x="5897880" y="2286000"/>
            <a:ext cx="5440680" cy="1508760"/>
          </a:xfrm>
          <a:prstGeom prst="roundRect">
            <a:avLst/>
          </a:prstGeom>
          <a:solidFill>
            <a:srgbClr val="F1F5F9"/>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035040" y="2423160"/>
            <a:ext cx="137160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80760" y="2423160"/>
            <a:ext cx="1280160" cy="274320"/>
          </a:xfrm>
          <a:prstGeom prst="rect">
            <a:avLst/>
          </a:prstGeom>
          <a:noFill/>
        </p:spPr>
        <p:txBody>
          <a:bodyPr wrap="square">
            <a:spAutoFit/>
          </a:bodyPr>
          <a:lstStyle/>
          <a:p>
            <a:pPr algn="ctr">
              <a:defRPr sz="700" b="1">
                <a:solidFill>
                  <a:srgbClr val="FFFFFF"/>
                </a:solidFill>
                <a:latin typeface="Arial Black"/>
              </a:defRPr>
            </a:pPr>
            <a:r>
              <a:t>B2B REVENUE</a:t>
            </a:r>
          </a:p>
        </p:txBody>
      </p:sp>
      <p:sp>
        <p:nvSpPr>
          <p:cNvPr id="16" name="TextBox 15"/>
          <p:cNvSpPr txBox="1"/>
          <p:nvPr/>
        </p:nvSpPr>
        <p:spPr>
          <a:xfrm>
            <a:off x="7543800" y="2423160"/>
            <a:ext cx="3566160" cy="320040"/>
          </a:xfrm>
          <a:prstGeom prst="rect">
            <a:avLst/>
          </a:prstGeom>
          <a:noFill/>
        </p:spPr>
        <p:txBody>
          <a:bodyPr wrap="square">
            <a:spAutoFit/>
          </a:bodyPr>
          <a:lstStyle/>
          <a:p>
            <a:pPr algn="l">
              <a:defRPr sz="1400" b="1">
                <a:solidFill>
                  <a:srgbClr val="0F172A"/>
                </a:solidFill>
                <a:latin typeface="Arial Black"/>
              </a:defRPr>
            </a:pPr>
            <a:r>
              <a:t>Enterprise / Custom Plans</a:t>
            </a:r>
          </a:p>
        </p:txBody>
      </p:sp>
      <p:sp>
        <p:nvSpPr>
          <p:cNvPr id="17" name="TextBox 16"/>
          <p:cNvSpPr txBox="1"/>
          <p:nvPr/>
        </p:nvSpPr>
        <p:spPr>
          <a:xfrm>
            <a:off x="6080760" y="2788920"/>
            <a:ext cx="5029200" cy="914400"/>
          </a:xfrm>
          <a:prstGeom prst="rect">
            <a:avLst/>
          </a:prstGeom>
          <a:noFill/>
        </p:spPr>
        <p:txBody>
          <a:bodyPr wrap="square">
            <a:spAutoFit/>
          </a:bodyPr>
          <a:lstStyle/>
          <a:p>
            <a:pPr algn="l">
              <a:defRPr sz="1100" b="0">
                <a:solidFill>
                  <a:srgbClr val="334155"/>
                </a:solidFill>
                <a:latin typeface="Times New Roman"/>
              </a:defRPr>
            </a:pPr>
            <a:r>
              <a:t>White-label solutions for agencies and large advertisers with custom campaign limits, dedicated support, SLA guarantees, and API access. Pricing: Rs. 5,000 - 25,000/month.</a:t>
            </a:r>
          </a:p>
        </p:txBody>
      </p:sp>
      <p:sp>
        <p:nvSpPr>
          <p:cNvPr id="18" name="Rounded Rectangle 17"/>
          <p:cNvSpPr/>
          <p:nvPr/>
        </p:nvSpPr>
        <p:spPr>
          <a:xfrm>
            <a:off x="320040" y="3950208"/>
            <a:ext cx="5440680" cy="1508760"/>
          </a:xfrm>
          <a:prstGeom prst="roundRect">
            <a:avLst/>
          </a:prstGeom>
          <a:solidFill>
            <a:srgbClr val="F1F5F9"/>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7200" y="4087368"/>
            <a:ext cx="1371600" cy="2743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4087368"/>
            <a:ext cx="1280160" cy="274320"/>
          </a:xfrm>
          <a:prstGeom prst="rect">
            <a:avLst/>
          </a:prstGeom>
          <a:noFill/>
        </p:spPr>
        <p:txBody>
          <a:bodyPr wrap="square">
            <a:spAutoFit/>
          </a:bodyPr>
          <a:lstStyle/>
          <a:p>
            <a:pPr algn="ctr">
              <a:defRPr sz="700" b="1">
                <a:solidFill>
                  <a:srgbClr val="FFFFFF"/>
                </a:solidFill>
                <a:latin typeface="Arial Black"/>
              </a:defRPr>
            </a:pPr>
            <a:r>
              <a:t>DATA REVENUE</a:t>
            </a:r>
          </a:p>
        </p:txBody>
      </p:sp>
      <p:sp>
        <p:nvSpPr>
          <p:cNvPr id="21" name="TextBox 20"/>
          <p:cNvSpPr txBox="1"/>
          <p:nvPr/>
        </p:nvSpPr>
        <p:spPr>
          <a:xfrm>
            <a:off x="1965960" y="4087368"/>
            <a:ext cx="3566160" cy="320040"/>
          </a:xfrm>
          <a:prstGeom prst="rect">
            <a:avLst/>
          </a:prstGeom>
          <a:noFill/>
        </p:spPr>
        <p:txBody>
          <a:bodyPr wrap="square">
            <a:spAutoFit/>
          </a:bodyPr>
          <a:lstStyle/>
          <a:p>
            <a:pPr algn="l">
              <a:defRPr sz="1400" b="1">
                <a:solidFill>
                  <a:srgbClr val="0F172A"/>
                </a:solidFill>
                <a:latin typeface="Arial Black"/>
              </a:defRPr>
            </a:pPr>
            <a:r>
              <a:t>Data Insights &amp; Reports</a:t>
            </a:r>
          </a:p>
        </p:txBody>
      </p:sp>
      <p:sp>
        <p:nvSpPr>
          <p:cNvPr id="22" name="TextBox 21"/>
          <p:cNvSpPr txBox="1"/>
          <p:nvPr/>
        </p:nvSpPr>
        <p:spPr>
          <a:xfrm>
            <a:off x="502920" y="4453128"/>
            <a:ext cx="5029200" cy="914400"/>
          </a:xfrm>
          <a:prstGeom prst="rect">
            <a:avLst/>
          </a:prstGeom>
          <a:noFill/>
        </p:spPr>
        <p:txBody>
          <a:bodyPr wrap="square">
            <a:spAutoFit/>
          </a:bodyPr>
          <a:lstStyle/>
          <a:p>
            <a:pPr algn="l">
              <a:defRPr sz="1100" b="0">
                <a:solidFill>
                  <a:srgbClr val="334155"/>
                </a:solidFill>
                <a:latin typeface="Times New Roman"/>
              </a:defRPr>
            </a:pPr>
            <a:r>
              <a:t>Aggregated, anonymized industry benchmark reports sold to market research firms. Advertisers can purchase detailed campaign performance audit reports with recommendations.</a:t>
            </a:r>
          </a:p>
        </p:txBody>
      </p:sp>
      <p:sp>
        <p:nvSpPr>
          <p:cNvPr id="23" name="Rounded Rectangle 22"/>
          <p:cNvSpPr/>
          <p:nvPr/>
        </p:nvSpPr>
        <p:spPr>
          <a:xfrm>
            <a:off x="5897880" y="3950208"/>
            <a:ext cx="5440680" cy="1508760"/>
          </a:xfrm>
          <a:prstGeom prst="roundRect">
            <a:avLst/>
          </a:prstGeom>
          <a:solidFill>
            <a:srgbClr val="F1F5F9"/>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035040" y="4087368"/>
            <a:ext cx="1371600" cy="2743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80760" y="4087368"/>
            <a:ext cx="1280160" cy="274320"/>
          </a:xfrm>
          <a:prstGeom prst="rect">
            <a:avLst/>
          </a:prstGeom>
          <a:noFill/>
        </p:spPr>
        <p:txBody>
          <a:bodyPr wrap="square">
            <a:spAutoFit/>
          </a:bodyPr>
          <a:lstStyle/>
          <a:p>
            <a:pPr algn="ctr">
              <a:defRPr sz="700" b="1">
                <a:solidFill>
                  <a:srgbClr val="FFFFFF"/>
                </a:solidFill>
                <a:latin typeface="Arial Black"/>
              </a:defRPr>
            </a:pPr>
            <a:r>
              <a:t>FUTURE REVENUE</a:t>
            </a:r>
          </a:p>
        </p:txBody>
      </p:sp>
      <p:sp>
        <p:nvSpPr>
          <p:cNvPr id="26" name="TextBox 25"/>
          <p:cNvSpPr txBox="1"/>
          <p:nvPr/>
        </p:nvSpPr>
        <p:spPr>
          <a:xfrm>
            <a:off x="7543800" y="4087368"/>
            <a:ext cx="3566160" cy="320040"/>
          </a:xfrm>
          <a:prstGeom prst="rect">
            <a:avLst/>
          </a:prstGeom>
          <a:noFill/>
        </p:spPr>
        <p:txBody>
          <a:bodyPr wrap="square">
            <a:spAutoFit/>
          </a:bodyPr>
          <a:lstStyle/>
          <a:p>
            <a:pPr algn="l">
              <a:defRPr sz="1400" b="1">
                <a:solidFill>
                  <a:srgbClr val="0F172A"/>
                </a:solidFill>
                <a:latin typeface="Arial Black"/>
              </a:defRPr>
            </a:pPr>
            <a:r>
              <a:t>Platform Commission</a:t>
            </a:r>
          </a:p>
        </p:txBody>
      </p:sp>
      <p:sp>
        <p:nvSpPr>
          <p:cNvPr id="27" name="TextBox 26"/>
          <p:cNvSpPr txBox="1"/>
          <p:nvPr/>
        </p:nvSpPr>
        <p:spPr>
          <a:xfrm>
            <a:off x="6080760" y="4453128"/>
            <a:ext cx="5029200" cy="914400"/>
          </a:xfrm>
          <a:prstGeom prst="rect">
            <a:avLst/>
          </a:prstGeom>
          <a:noFill/>
        </p:spPr>
        <p:txBody>
          <a:bodyPr wrap="square">
            <a:spAutoFit/>
          </a:bodyPr>
          <a:lstStyle/>
          <a:p>
            <a:pPr algn="l">
              <a:defRPr sz="1100" b="0">
                <a:solidFill>
                  <a:srgbClr val="334155"/>
                </a:solidFill>
                <a:latin typeface="Times New Roman"/>
              </a:defRPr>
            </a:pPr>
            <a:r>
              <a:t>Future integration with ad networks where Attention Trace takes a small commission for verified high-engagement ad placements, validated by our AI analytics.</a:t>
            </a:r>
          </a:p>
        </p:txBody>
      </p:sp>
      <p:sp>
        <p:nvSpPr>
          <p:cNvPr id="28" name="TextBox 27"/>
          <p:cNvSpPr txBox="1"/>
          <p:nvPr/>
        </p:nvSpPr>
        <p:spPr>
          <a:xfrm>
            <a:off x="457200" y="6080760"/>
            <a:ext cx="11155680" cy="320040"/>
          </a:xfrm>
          <a:prstGeom prst="rect">
            <a:avLst/>
          </a:prstGeom>
          <a:noFill/>
        </p:spPr>
        <p:txBody>
          <a:bodyPr wrap="square">
            <a:spAutoFit/>
          </a:bodyPr>
          <a:lstStyle/>
          <a:p>
            <a:pPr algn="ctr">
              <a:defRPr sz="1100" b="1">
                <a:solidFill>
                  <a:srgbClr val="0F172A"/>
                </a:solidFill>
                <a:latin typeface="Times New Roman"/>
              </a:defRPr>
            </a:pPr>
            <a:r>
              <a:t>Projected Monthly Revenue (Year 1):  100 users x Rs. 500 = Rs. 50,000/month  |  Breakeven: Month 4  |  Target: 500+ users by Year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11</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Conclusion</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645920"/>
            <a:ext cx="11155680" cy="1280160"/>
          </a:xfrm>
          <a:prstGeom prst="rect">
            <a:avLst/>
          </a:prstGeom>
          <a:noFill/>
        </p:spPr>
        <p:txBody>
          <a:bodyPr wrap="square">
            <a:spAutoFit/>
          </a:bodyPr>
          <a:lstStyle/>
          <a:p>
            <a:pPr algn="l">
              <a:defRPr sz="1600" b="0">
                <a:solidFill>
                  <a:srgbClr val="334155"/>
                </a:solidFill>
                <a:latin typeface="Times New Roman"/>
              </a:defRPr>
            </a:pPr>
            <a:r>
              <a:t>Attention Trace successfully demonstrates that real-time, browser-based AI can transform how advertisers measure genuine human engagement. By combining facial emotion recognition, iris-based gaze tracking, and behavioral heatmapping into a single embeddable script, we have built a practical, privacy-respecting platform that goes far beyond traditional click-through metrics.</a:t>
            </a:r>
          </a:p>
        </p:txBody>
      </p:sp>
      <p:sp>
        <p:nvSpPr>
          <p:cNvPr id="8" name="Rounded Rectangle 7"/>
          <p:cNvSpPr/>
          <p:nvPr/>
        </p:nvSpPr>
        <p:spPr>
          <a:xfrm>
            <a:off x="320040" y="3291840"/>
            <a:ext cx="2651760" cy="1554480"/>
          </a:xfrm>
          <a:prstGeom prst="roundRect">
            <a:avLst/>
          </a:prstGeom>
          <a:solidFill>
            <a:srgbClr val="F1F5F9"/>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3520440"/>
            <a:ext cx="2286000" cy="365760"/>
          </a:xfrm>
          <a:prstGeom prst="rect">
            <a:avLst/>
          </a:prstGeom>
          <a:noFill/>
        </p:spPr>
        <p:txBody>
          <a:bodyPr wrap="square">
            <a:spAutoFit/>
          </a:bodyPr>
          <a:lstStyle/>
          <a:p>
            <a:pPr algn="ctr">
              <a:defRPr sz="1300" b="1">
                <a:solidFill>
                  <a:srgbClr val="16A34A"/>
                </a:solidFill>
                <a:latin typeface="Arial Black"/>
              </a:defRPr>
            </a:pPr>
            <a:r>
              <a:t>Privacy-First Design</a:t>
            </a:r>
          </a:p>
        </p:txBody>
      </p:sp>
      <p:sp>
        <p:nvSpPr>
          <p:cNvPr id="10" name="TextBox 9"/>
          <p:cNvSpPr txBox="1"/>
          <p:nvPr/>
        </p:nvSpPr>
        <p:spPr>
          <a:xfrm>
            <a:off x="502920" y="3977640"/>
            <a:ext cx="2286000" cy="731520"/>
          </a:xfrm>
          <a:prstGeom prst="rect">
            <a:avLst/>
          </a:prstGeom>
          <a:noFill/>
        </p:spPr>
        <p:txBody>
          <a:bodyPr wrap="square">
            <a:spAutoFit/>
          </a:bodyPr>
          <a:lstStyle/>
          <a:p>
            <a:pPr algn="ctr">
              <a:defRPr sz="1200" b="0">
                <a:solidFill>
                  <a:srgbClr val="334155"/>
                </a:solidFill>
                <a:latin typeface="Times New Roman"/>
              </a:defRPr>
            </a:pPr>
            <a:r>
              <a:t>No raw video frames are</a:t>
            </a:r>
            <a:br/>
            <a:r>
              <a:t>ever stored or transmitted</a:t>
            </a:r>
          </a:p>
        </p:txBody>
      </p:sp>
      <p:sp>
        <p:nvSpPr>
          <p:cNvPr id="11" name="Rounded Rectangle 10"/>
          <p:cNvSpPr/>
          <p:nvPr/>
        </p:nvSpPr>
        <p:spPr>
          <a:xfrm>
            <a:off x="3127248" y="3291840"/>
            <a:ext cx="2651760" cy="1554480"/>
          </a:xfrm>
          <a:prstGeom prst="roundRect">
            <a:avLst/>
          </a:prstGeom>
          <a:solidFill>
            <a:srgbClr val="F1F5F9"/>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10128" y="3520440"/>
            <a:ext cx="2286000" cy="365760"/>
          </a:xfrm>
          <a:prstGeom prst="rect">
            <a:avLst/>
          </a:prstGeom>
          <a:noFill/>
        </p:spPr>
        <p:txBody>
          <a:bodyPr wrap="square">
            <a:spAutoFit/>
          </a:bodyPr>
          <a:lstStyle/>
          <a:p>
            <a:pPr algn="ctr">
              <a:defRPr sz="1300" b="1">
                <a:solidFill>
                  <a:srgbClr val="16A34A"/>
                </a:solidFill>
                <a:latin typeface="Arial Black"/>
              </a:defRPr>
            </a:pPr>
            <a:r>
              <a:t>Real-Time AI Engine</a:t>
            </a:r>
          </a:p>
        </p:txBody>
      </p:sp>
      <p:sp>
        <p:nvSpPr>
          <p:cNvPr id="13" name="TextBox 12"/>
          <p:cNvSpPr txBox="1"/>
          <p:nvPr/>
        </p:nvSpPr>
        <p:spPr>
          <a:xfrm>
            <a:off x="3310128" y="3977640"/>
            <a:ext cx="2286000" cy="731520"/>
          </a:xfrm>
          <a:prstGeom prst="rect">
            <a:avLst/>
          </a:prstGeom>
          <a:noFill/>
        </p:spPr>
        <p:txBody>
          <a:bodyPr wrap="square">
            <a:spAutoFit/>
          </a:bodyPr>
          <a:lstStyle/>
          <a:p>
            <a:pPr algn="ctr">
              <a:defRPr sz="1200" b="0">
                <a:solidFill>
                  <a:srgbClr val="334155"/>
                </a:solidFill>
                <a:latin typeface="Times New Roman"/>
              </a:defRPr>
            </a:pPr>
            <a:r>
              <a:t>&lt; 500ms processing per</a:t>
            </a:r>
            <a:br/>
            <a:r>
              <a:t>webcam frame via WebSocket</a:t>
            </a:r>
          </a:p>
        </p:txBody>
      </p:sp>
      <p:sp>
        <p:nvSpPr>
          <p:cNvPr id="14" name="Rounded Rectangle 13"/>
          <p:cNvSpPr/>
          <p:nvPr/>
        </p:nvSpPr>
        <p:spPr>
          <a:xfrm>
            <a:off x="5934456" y="3291840"/>
            <a:ext cx="2651760" cy="1554480"/>
          </a:xfrm>
          <a:prstGeom prst="roundRect">
            <a:avLst/>
          </a:prstGeom>
          <a:solidFill>
            <a:srgbClr val="F1F5F9"/>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17336" y="3520440"/>
            <a:ext cx="2286000" cy="365760"/>
          </a:xfrm>
          <a:prstGeom prst="rect">
            <a:avLst/>
          </a:prstGeom>
          <a:noFill/>
        </p:spPr>
        <p:txBody>
          <a:bodyPr wrap="square">
            <a:spAutoFit/>
          </a:bodyPr>
          <a:lstStyle/>
          <a:p>
            <a:pPr algn="ctr">
              <a:defRPr sz="1300" b="1">
                <a:solidFill>
                  <a:srgbClr val="16A34A"/>
                </a:solidFill>
                <a:latin typeface="Arial Black"/>
              </a:defRPr>
            </a:pPr>
            <a:r>
              <a:t>Single Script Integration</a:t>
            </a:r>
          </a:p>
        </p:txBody>
      </p:sp>
      <p:sp>
        <p:nvSpPr>
          <p:cNvPr id="16" name="TextBox 15"/>
          <p:cNvSpPr txBox="1"/>
          <p:nvPr/>
        </p:nvSpPr>
        <p:spPr>
          <a:xfrm>
            <a:off x="6117336" y="3977640"/>
            <a:ext cx="2286000" cy="731520"/>
          </a:xfrm>
          <a:prstGeom prst="rect">
            <a:avLst/>
          </a:prstGeom>
          <a:noFill/>
        </p:spPr>
        <p:txBody>
          <a:bodyPr wrap="square">
            <a:spAutoFit/>
          </a:bodyPr>
          <a:lstStyle/>
          <a:p>
            <a:pPr algn="ctr">
              <a:defRPr sz="1200" b="0">
                <a:solidFill>
                  <a:srgbClr val="334155"/>
                </a:solidFill>
                <a:latin typeface="Times New Roman"/>
              </a:defRPr>
            </a:pPr>
            <a:r>
              <a:t>One &lt;script&gt; tag deploys</a:t>
            </a:r>
            <a:br/>
            <a:r>
              <a:t>full tracking on any website</a:t>
            </a:r>
          </a:p>
        </p:txBody>
      </p:sp>
      <p:sp>
        <p:nvSpPr>
          <p:cNvPr id="17" name="Rounded Rectangle 16"/>
          <p:cNvSpPr/>
          <p:nvPr/>
        </p:nvSpPr>
        <p:spPr>
          <a:xfrm>
            <a:off x="8741664" y="3291840"/>
            <a:ext cx="2651760" cy="1554480"/>
          </a:xfrm>
          <a:prstGeom prst="roundRect">
            <a:avLst/>
          </a:prstGeom>
          <a:solidFill>
            <a:srgbClr val="F1F5F9"/>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24544" y="3520440"/>
            <a:ext cx="2286000" cy="365760"/>
          </a:xfrm>
          <a:prstGeom prst="rect">
            <a:avLst/>
          </a:prstGeom>
          <a:noFill/>
        </p:spPr>
        <p:txBody>
          <a:bodyPr wrap="square">
            <a:spAutoFit/>
          </a:bodyPr>
          <a:lstStyle/>
          <a:p>
            <a:pPr algn="ctr">
              <a:defRPr sz="1300" b="1">
                <a:solidFill>
                  <a:srgbClr val="16A34A"/>
                </a:solidFill>
                <a:latin typeface="Arial Black"/>
              </a:defRPr>
            </a:pPr>
            <a:r>
              <a:t>SaaS Production Ready</a:t>
            </a:r>
          </a:p>
        </p:txBody>
      </p:sp>
      <p:sp>
        <p:nvSpPr>
          <p:cNvPr id="19" name="TextBox 18"/>
          <p:cNvSpPr txBox="1"/>
          <p:nvPr/>
        </p:nvSpPr>
        <p:spPr>
          <a:xfrm>
            <a:off x="8924544" y="3977640"/>
            <a:ext cx="2286000" cy="731520"/>
          </a:xfrm>
          <a:prstGeom prst="rect">
            <a:avLst/>
          </a:prstGeom>
          <a:noFill/>
        </p:spPr>
        <p:txBody>
          <a:bodyPr wrap="square">
            <a:spAutoFit/>
          </a:bodyPr>
          <a:lstStyle/>
          <a:p>
            <a:pPr algn="ctr">
              <a:defRPr sz="1200" b="0">
                <a:solidFill>
                  <a:srgbClr val="334155"/>
                </a:solidFill>
                <a:latin typeface="Times New Roman"/>
              </a:defRPr>
            </a:pPr>
            <a:r>
              <a:t>Complete auth, payments,</a:t>
            </a:r>
            <a:br/>
            <a:r>
              <a:t>admin panel, and analytics</a:t>
            </a:r>
          </a:p>
        </p:txBody>
      </p:sp>
      <p:sp>
        <p:nvSpPr>
          <p:cNvPr id="20" name="TextBox 19"/>
          <p:cNvSpPr txBox="1"/>
          <p:nvPr/>
        </p:nvSpPr>
        <p:spPr>
          <a:xfrm>
            <a:off x="457200" y="5120640"/>
            <a:ext cx="11155680" cy="914400"/>
          </a:xfrm>
          <a:prstGeom prst="rect">
            <a:avLst/>
          </a:prstGeom>
          <a:noFill/>
        </p:spPr>
        <p:txBody>
          <a:bodyPr wrap="square">
            <a:spAutoFit/>
          </a:bodyPr>
          <a:lstStyle/>
          <a:p>
            <a:pPr algn="l">
              <a:defRPr sz="1400" b="0">
                <a:solidFill>
                  <a:srgbClr val="64748B"/>
                </a:solidFill>
                <a:latin typeface="Times New Roman"/>
              </a:defRPr>
            </a:pPr>
            <a:r>
              <a:t>The platform is production-ready with full authentication (Google OAuth + Email OTP), admin controls, CSV report generation, and a responsive React dashboard.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12</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Future Scope</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20040" y="1691640"/>
            <a:ext cx="5440680" cy="14173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48640" y="2011680"/>
            <a:ext cx="320040" cy="32004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920240"/>
            <a:ext cx="4572000" cy="365760"/>
          </a:xfrm>
          <a:prstGeom prst="rect">
            <a:avLst/>
          </a:prstGeom>
          <a:noFill/>
        </p:spPr>
        <p:txBody>
          <a:bodyPr wrap="square">
            <a:spAutoFit/>
          </a:bodyPr>
          <a:lstStyle/>
          <a:p>
            <a:pPr algn="l">
              <a:defRPr sz="1500" b="1">
                <a:solidFill>
                  <a:srgbClr val="0F172A"/>
                </a:solidFill>
                <a:latin typeface="Arial Black"/>
              </a:defRPr>
            </a:pPr>
            <a:r>
              <a:t>Automated Payment Gateway</a:t>
            </a:r>
          </a:p>
        </p:txBody>
      </p:sp>
      <p:sp>
        <p:nvSpPr>
          <p:cNvPr id="10" name="TextBox 9"/>
          <p:cNvSpPr txBox="1"/>
          <p:nvPr/>
        </p:nvSpPr>
        <p:spPr>
          <a:xfrm>
            <a:off x="1005840" y="2331720"/>
            <a:ext cx="4572000" cy="640080"/>
          </a:xfrm>
          <a:prstGeom prst="rect">
            <a:avLst/>
          </a:prstGeom>
          <a:noFill/>
        </p:spPr>
        <p:txBody>
          <a:bodyPr wrap="square">
            <a:spAutoFit/>
          </a:bodyPr>
          <a:lstStyle/>
          <a:p>
            <a:pPr algn="l">
              <a:defRPr sz="1300" b="0">
                <a:solidFill>
                  <a:srgbClr val="334155"/>
                </a:solidFill>
                <a:latin typeface="Times New Roman"/>
              </a:defRPr>
            </a:pPr>
            <a:r>
              <a:t>Replace manual UPI verification with Razorpay or Stripe for instant subscription activation.</a:t>
            </a:r>
          </a:p>
        </p:txBody>
      </p:sp>
      <p:sp>
        <p:nvSpPr>
          <p:cNvPr id="11" name="Rounded Rectangle 10"/>
          <p:cNvSpPr/>
          <p:nvPr/>
        </p:nvSpPr>
        <p:spPr>
          <a:xfrm>
            <a:off x="5943600" y="1691640"/>
            <a:ext cx="5440680" cy="14173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172200" y="2011680"/>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1920240"/>
            <a:ext cx="4572000" cy="365760"/>
          </a:xfrm>
          <a:prstGeom prst="rect">
            <a:avLst/>
          </a:prstGeom>
          <a:noFill/>
        </p:spPr>
        <p:txBody>
          <a:bodyPr wrap="square">
            <a:spAutoFit/>
          </a:bodyPr>
          <a:lstStyle/>
          <a:p>
            <a:pPr algn="l">
              <a:defRPr sz="1500" b="1">
                <a:solidFill>
                  <a:srgbClr val="0F172A"/>
                </a:solidFill>
                <a:latin typeface="Arial Black"/>
              </a:defRPr>
            </a:pPr>
            <a:r>
              <a:t>Demographic Estimation</a:t>
            </a:r>
          </a:p>
        </p:txBody>
      </p:sp>
      <p:sp>
        <p:nvSpPr>
          <p:cNvPr id="14" name="TextBox 13"/>
          <p:cNvSpPr txBox="1"/>
          <p:nvPr/>
        </p:nvSpPr>
        <p:spPr>
          <a:xfrm>
            <a:off x="6629400" y="2331720"/>
            <a:ext cx="4572000" cy="640080"/>
          </a:xfrm>
          <a:prstGeom prst="rect">
            <a:avLst/>
          </a:prstGeom>
          <a:noFill/>
        </p:spPr>
        <p:txBody>
          <a:bodyPr wrap="square">
            <a:spAutoFit/>
          </a:bodyPr>
          <a:lstStyle/>
          <a:p>
            <a:pPr algn="l">
              <a:defRPr sz="1300" b="0">
                <a:solidFill>
                  <a:srgbClr val="334155"/>
                </a:solidFill>
                <a:latin typeface="Times New Roman"/>
              </a:defRPr>
            </a:pPr>
            <a:r>
              <a:t>Add age and gender estimation using deep learning to provide audience demographic insights.</a:t>
            </a:r>
          </a:p>
        </p:txBody>
      </p:sp>
      <p:sp>
        <p:nvSpPr>
          <p:cNvPr id="15" name="Rounded Rectangle 14"/>
          <p:cNvSpPr/>
          <p:nvPr/>
        </p:nvSpPr>
        <p:spPr>
          <a:xfrm>
            <a:off x="320040" y="3246120"/>
            <a:ext cx="5440680" cy="14173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48640" y="3566160"/>
            <a:ext cx="320040" cy="32004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3474720"/>
            <a:ext cx="4572000" cy="365760"/>
          </a:xfrm>
          <a:prstGeom prst="rect">
            <a:avLst/>
          </a:prstGeom>
          <a:noFill/>
        </p:spPr>
        <p:txBody>
          <a:bodyPr wrap="square">
            <a:spAutoFit/>
          </a:bodyPr>
          <a:lstStyle/>
          <a:p>
            <a:pPr algn="l">
              <a:defRPr sz="1500" b="1">
                <a:solidFill>
                  <a:srgbClr val="0F172A"/>
                </a:solidFill>
                <a:latin typeface="Arial Black"/>
              </a:defRPr>
            </a:pPr>
            <a:r>
              <a:t>Frame-by-Frame Gaze Heatmaps</a:t>
            </a:r>
          </a:p>
        </p:txBody>
      </p:sp>
      <p:sp>
        <p:nvSpPr>
          <p:cNvPr id="18" name="TextBox 17"/>
          <p:cNvSpPr txBox="1"/>
          <p:nvPr/>
        </p:nvSpPr>
        <p:spPr>
          <a:xfrm>
            <a:off x="1005840" y="3886200"/>
            <a:ext cx="4572000" cy="640080"/>
          </a:xfrm>
          <a:prstGeom prst="rect">
            <a:avLst/>
          </a:prstGeom>
          <a:noFill/>
        </p:spPr>
        <p:txBody>
          <a:bodyPr wrap="square">
            <a:spAutoFit/>
          </a:bodyPr>
          <a:lstStyle/>
          <a:p>
            <a:pPr algn="l">
              <a:defRPr sz="1300" b="0">
                <a:solidFill>
                  <a:srgbClr val="334155"/>
                </a:solidFill>
                <a:latin typeface="Times New Roman"/>
              </a:defRPr>
            </a:pPr>
            <a:r>
              <a:t>Generate pixel-level attention heatmaps overlaid directly on the advertisement creative.</a:t>
            </a:r>
          </a:p>
        </p:txBody>
      </p:sp>
      <p:sp>
        <p:nvSpPr>
          <p:cNvPr id="19" name="Rounded Rectangle 18"/>
          <p:cNvSpPr/>
          <p:nvPr/>
        </p:nvSpPr>
        <p:spPr>
          <a:xfrm>
            <a:off x="5943600" y="3246120"/>
            <a:ext cx="5440680" cy="14173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172200" y="3566160"/>
            <a:ext cx="320040" cy="3200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29400" y="3474720"/>
            <a:ext cx="4572000" cy="365760"/>
          </a:xfrm>
          <a:prstGeom prst="rect">
            <a:avLst/>
          </a:prstGeom>
          <a:noFill/>
        </p:spPr>
        <p:txBody>
          <a:bodyPr wrap="square">
            <a:spAutoFit/>
          </a:bodyPr>
          <a:lstStyle/>
          <a:p>
            <a:pPr algn="l">
              <a:defRPr sz="1500" b="1">
                <a:solidFill>
                  <a:srgbClr val="0F172A"/>
                </a:solidFill>
                <a:latin typeface="Arial Black"/>
              </a:defRPr>
            </a:pPr>
            <a:r>
              <a:t>A/B Testing Engine</a:t>
            </a:r>
          </a:p>
        </p:txBody>
      </p:sp>
      <p:sp>
        <p:nvSpPr>
          <p:cNvPr id="22" name="TextBox 21"/>
          <p:cNvSpPr txBox="1"/>
          <p:nvPr/>
        </p:nvSpPr>
        <p:spPr>
          <a:xfrm>
            <a:off x="6629400" y="3886200"/>
            <a:ext cx="4572000" cy="640080"/>
          </a:xfrm>
          <a:prstGeom prst="rect">
            <a:avLst/>
          </a:prstGeom>
          <a:noFill/>
        </p:spPr>
        <p:txBody>
          <a:bodyPr wrap="square">
            <a:spAutoFit/>
          </a:bodyPr>
          <a:lstStyle/>
          <a:p>
            <a:pPr algn="l">
              <a:defRPr sz="1300" b="0">
                <a:solidFill>
                  <a:srgbClr val="334155"/>
                </a:solidFill>
                <a:latin typeface="Times New Roman"/>
              </a:defRPr>
            </a:pPr>
            <a:r>
              <a:t>Allow advertisers to run split tests between different ad creatives and compare engagement.</a:t>
            </a:r>
          </a:p>
        </p:txBody>
      </p:sp>
      <p:sp>
        <p:nvSpPr>
          <p:cNvPr id="23" name="Rounded Rectangle 22"/>
          <p:cNvSpPr/>
          <p:nvPr/>
        </p:nvSpPr>
        <p:spPr>
          <a:xfrm>
            <a:off x="320040" y="4800600"/>
            <a:ext cx="5440680" cy="14173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48640" y="5120640"/>
            <a:ext cx="320040" cy="320040"/>
          </a:xfrm>
          <a:prstGeom prst="ellipse">
            <a:avLst/>
          </a:prstGeom>
          <a:solidFill>
            <a:srgbClr val="059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5840" y="5029200"/>
            <a:ext cx="4572000" cy="365760"/>
          </a:xfrm>
          <a:prstGeom prst="rect">
            <a:avLst/>
          </a:prstGeom>
          <a:noFill/>
        </p:spPr>
        <p:txBody>
          <a:bodyPr wrap="square">
            <a:spAutoFit/>
          </a:bodyPr>
          <a:lstStyle/>
          <a:p>
            <a:pPr algn="l">
              <a:defRPr sz="1500" b="1">
                <a:solidFill>
                  <a:srgbClr val="0F172A"/>
                </a:solidFill>
                <a:latin typeface="Arial Black"/>
              </a:defRPr>
            </a:pPr>
            <a:r>
              <a:t>Multi-Language Support</a:t>
            </a:r>
          </a:p>
        </p:txBody>
      </p:sp>
      <p:sp>
        <p:nvSpPr>
          <p:cNvPr id="26" name="TextBox 25"/>
          <p:cNvSpPr txBox="1"/>
          <p:nvPr/>
        </p:nvSpPr>
        <p:spPr>
          <a:xfrm>
            <a:off x="1005840" y="5440680"/>
            <a:ext cx="4572000" cy="640080"/>
          </a:xfrm>
          <a:prstGeom prst="rect">
            <a:avLst/>
          </a:prstGeom>
          <a:noFill/>
        </p:spPr>
        <p:txBody>
          <a:bodyPr wrap="square">
            <a:spAutoFit/>
          </a:bodyPr>
          <a:lstStyle/>
          <a:p>
            <a:pPr algn="l">
              <a:defRPr sz="1300" b="0">
                <a:solidFill>
                  <a:srgbClr val="334155"/>
                </a:solidFill>
                <a:latin typeface="Times New Roman"/>
              </a:defRPr>
            </a:pPr>
            <a:r>
              <a:t>Internationalize the dashboard UI to support Hindi, Spanish, and other regional languages.</a:t>
            </a:r>
          </a:p>
        </p:txBody>
      </p:sp>
      <p:sp>
        <p:nvSpPr>
          <p:cNvPr id="27" name="Rounded Rectangle 26"/>
          <p:cNvSpPr/>
          <p:nvPr/>
        </p:nvSpPr>
        <p:spPr>
          <a:xfrm>
            <a:off x="5943600" y="4800600"/>
            <a:ext cx="5440680" cy="14173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172200" y="5120640"/>
            <a:ext cx="320040" cy="320040"/>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29400" y="5029200"/>
            <a:ext cx="4572000" cy="365760"/>
          </a:xfrm>
          <a:prstGeom prst="rect">
            <a:avLst/>
          </a:prstGeom>
          <a:noFill/>
        </p:spPr>
        <p:txBody>
          <a:bodyPr wrap="square">
            <a:spAutoFit/>
          </a:bodyPr>
          <a:lstStyle/>
          <a:p>
            <a:pPr algn="l">
              <a:defRPr sz="1500" b="1">
                <a:solidFill>
                  <a:srgbClr val="0F172A"/>
                </a:solidFill>
                <a:latin typeface="Arial Black"/>
              </a:defRPr>
            </a:pPr>
            <a:r>
              <a:t>Mobile SDK</a:t>
            </a:r>
          </a:p>
        </p:txBody>
      </p:sp>
      <p:sp>
        <p:nvSpPr>
          <p:cNvPr id="30" name="TextBox 29"/>
          <p:cNvSpPr txBox="1"/>
          <p:nvPr/>
        </p:nvSpPr>
        <p:spPr>
          <a:xfrm>
            <a:off x="6629400" y="5440680"/>
            <a:ext cx="4572000" cy="640080"/>
          </a:xfrm>
          <a:prstGeom prst="rect">
            <a:avLst/>
          </a:prstGeom>
          <a:noFill/>
        </p:spPr>
        <p:txBody>
          <a:bodyPr wrap="square">
            <a:spAutoFit/>
          </a:bodyPr>
          <a:lstStyle/>
          <a:p>
            <a:pPr algn="l">
              <a:defRPr sz="1300" b="0">
                <a:solidFill>
                  <a:srgbClr val="334155"/>
                </a:solidFill>
                <a:latin typeface="Times New Roman"/>
              </a:defRPr>
            </a:pPr>
            <a:r>
              <a:t>Develop native Android/iOS SDKs for in-app ad tracking beyond browser environments.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 cy="457200"/>
          </a:xfrm>
          <a:prstGeom prst="rect">
            <a:avLst/>
          </a:prstGeom>
          <a:noFill/>
        </p:spPr>
        <p:txBody>
          <a:bodyPr wrap="square">
            <a:spAutoFit/>
          </a:bodyPr>
          <a:lstStyle/>
          <a:p>
            <a:pPr algn="l">
              <a:defRPr sz="4200" b="1">
                <a:solidFill>
                  <a:srgbClr val="FF4D29"/>
                </a:solidFill>
                <a:latin typeface="Arial Black"/>
              </a:defRPr>
            </a:pPr>
            <a:r>
              <a:t>13</a:t>
            </a:r>
          </a:p>
        </p:txBody>
      </p:sp>
      <p:sp>
        <p:nvSpPr>
          <p:cNvPr id="4" name="Rectangle 3"/>
          <p:cNvSpPr/>
          <p:nvPr/>
        </p:nvSpPr>
        <p:spPr>
          <a:xfrm>
            <a:off x="45720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60120"/>
            <a:ext cx="10515600" cy="548640"/>
          </a:xfrm>
          <a:prstGeom prst="rect">
            <a:avLst/>
          </a:prstGeom>
          <a:noFill/>
        </p:spPr>
        <p:txBody>
          <a:bodyPr wrap="square">
            <a:spAutoFit/>
          </a:bodyPr>
          <a:lstStyle/>
          <a:p>
            <a:pPr algn="l">
              <a:defRPr sz="3600" b="1">
                <a:solidFill>
                  <a:srgbClr val="0F172A"/>
                </a:solidFill>
                <a:latin typeface="Arial Black"/>
              </a:defRPr>
            </a:pPr>
            <a:r>
              <a:t>References</a:t>
            </a:r>
          </a:p>
        </p:txBody>
      </p:sp>
      <p:sp>
        <p:nvSpPr>
          <p:cNvPr id="6" name="Rectangle 5"/>
          <p:cNvSpPr/>
          <p:nvPr/>
        </p:nvSpPr>
        <p:spPr>
          <a:xfrm>
            <a:off x="0" y="6693408"/>
            <a:ext cx="12192000" cy="50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20040" y="1737360"/>
            <a:ext cx="11430000" cy="411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783080"/>
            <a:ext cx="11064240" cy="365760"/>
          </a:xfrm>
          <a:prstGeom prst="rect">
            <a:avLst/>
          </a:prstGeom>
          <a:noFill/>
        </p:spPr>
        <p:txBody>
          <a:bodyPr wrap="square">
            <a:spAutoFit/>
          </a:bodyPr>
          <a:lstStyle/>
          <a:p>
            <a:pPr algn="l">
              <a:defRPr sz="1100" b="0">
                <a:solidFill>
                  <a:srgbClr val="334155"/>
                </a:solidFill>
                <a:latin typeface="Times New Roman"/>
              </a:defRPr>
            </a:pPr>
            <a:r>
              <a:t>[1]   Google MediaPipe -- Face Mesh &amp; Iris Tracking                           https://developers.google.com/mediapipe</a:t>
            </a:r>
          </a:p>
        </p:txBody>
      </p:sp>
      <p:sp>
        <p:nvSpPr>
          <p:cNvPr id="9" name="Rounded Rectangle 8"/>
          <p:cNvSpPr/>
          <p:nvPr/>
        </p:nvSpPr>
        <p:spPr>
          <a:xfrm>
            <a:off x="320040" y="2212848"/>
            <a:ext cx="11430000" cy="411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258568"/>
            <a:ext cx="11064240" cy="365760"/>
          </a:xfrm>
          <a:prstGeom prst="rect">
            <a:avLst/>
          </a:prstGeom>
          <a:noFill/>
        </p:spPr>
        <p:txBody>
          <a:bodyPr wrap="square">
            <a:spAutoFit/>
          </a:bodyPr>
          <a:lstStyle/>
          <a:p>
            <a:pPr algn="l">
              <a:defRPr sz="1100" b="0">
                <a:solidFill>
                  <a:srgbClr val="334155"/>
                </a:solidFill>
                <a:latin typeface="Times New Roman"/>
              </a:defRPr>
            </a:pPr>
            <a:r>
              <a:t>[2]   FER -- Facial Expression Recognition Library (CNN)                      https://github.com/justinshenk/fer</a:t>
            </a:r>
          </a:p>
        </p:txBody>
      </p:sp>
      <p:sp>
        <p:nvSpPr>
          <p:cNvPr id="11" name="Rounded Rectangle 10"/>
          <p:cNvSpPr/>
          <p:nvPr/>
        </p:nvSpPr>
        <p:spPr>
          <a:xfrm>
            <a:off x="320040" y="2688336"/>
            <a:ext cx="11430000" cy="411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2734056"/>
            <a:ext cx="11064240" cy="365760"/>
          </a:xfrm>
          <a:prstGeom prst="rect">
            <a:avLst/>
          </a:prstGeom>
          <a:noFill/>
        </p:spPr>
        <p:txBody>
          <a:bodyPr wrap="square">
            <a:spAutoFit/>
          </a:bodyPr>
          <a:lstStyle/>
          <a:p>
            <a:pPr algn="l">
              <a:defRPr sz="1100" b="0">
                <a:solidFill>
                  <a:srgbClr val="334155"/>
                </a:solidFill>
                <a:latin typeface="Times New Roman"/>
              </a:defRPr>
            </a:pPr>
            <a:r>
              <a:t>[3]   FastAPI -- Modern High-Performance Python Web Framework                 https://fastapi.tiangolo.com</a:t>
            </a:r>
          </a:p>
        </p:txBody>
      </p:sp>
      <p:sp>
        <p:nvSpPr>
          <p:cNvPr id="13" name="Rounded Rectangle 12"/>
          <p:cNvSpPr/>
          <p:nvPr/>
        </p:nvSpPr>
        <p:spPr>
          <a:xfrm>
            <a:off x="320040" y="3163824"/>
            <a:ext cx="11430000" cy="411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3209544"/>
            <a:ext cx="11064240" cy="365760"/>
          </a:xfrm>
          <a:prstGeom prst="rect">
            <a:avLst/>
          </a:prstGeom>
          <a:noFill/>
        </p:spPr>
        <p:txBody>
          <a:bodyPr wrap="square">
            <a:spAutoFit/>
          </a:bodyPr>
          <a:lstStyle/>
          <a:p>
            <a:pPr algn="l">
              <a:defRPr sz="1100" b="0">
                <a:solidFill>
                  <a:srgbClr val="334155"/>
                </a:solidFill>
                <a:latin typeface="Times New Roman"/>
              </a:defRPr>
            </a:pPr>
            <a:r>
              <a:t>[4]   React.js -- Declarative Frontend JavaScript Library                     https://react.dev</a:t>
            </a:r>
          </a:p>
        </p:txBody>
      </p:sp>
      <p:sp>
        <p:nvSpPr>
          <p:cNvPr id="15" name="Rounded Rectangle 14"/>
          <p:cNvSpPr/>
          <p:nvPr/>
        </p:nvSpPr>
        <p:spPr>
          <a:xfrm>
            <a:off x="320040" y="3639312"/>
            <a:ext cx="11430000" cy="411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685032"/>
            <a:ext cx="11064240" cy="365760"/>
          </a:xfrm>
          <a:prstGeom prst="rect">
            <a:avLst/>
          </a:prstGeom>
          <a:noFill/>
        </p:spPr>
        <p:txBody>
          <a:bodyPr wrap="square">
            <a:spAutoFit/>
          </a:bodyPr>
          <a:lstStyle/>
          <a:p>
            <a:pPr algn="l">
              <a:defRPr sz="1100" b="0">
                <a:solidFill>
                  <a:srgbClr val="334155"/>
                </a:solidFill>
                <a:latin typeface="Times New Roman"/>
              </a:defRPr>
            </a:pPr>
            <a:r>
              <a:t>[5]   MongoDB Atlas -- Fully Managed Cloud Database Service                   https://www.mongodb.com/atlas</a:t>
            </a:r>
          </a:p>
        </p:txBody>
      </p:sp>
      <p:sp>
        <p:nvSpPr>
          <p:cNvPr id="17" name="Rounded Rectangle 16"/>
          <p:cNvSpPr/>
          <p:nvPr/>
        </p:nvSpPr>
        <p:spPr>
          <a:xfrm>
            <a:off x="320040" y="4114800"/>
            <a:ext cx="11430000" cy="411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4160520"/>
            <a:ext cx="11064240" cy="365760"/>
          </a:xfrm>
          <a:prstGeom prst="rect">
            <a:avLst/>
          </a:prstGeom>
          <a:noFill/>
        </p:spPr>
        <p:txBody>
          <a:bodyPr wrap="square">
            <a:spAutoFit/>
          </a:bodyPr>
          <a:lstStyle/>
          <a:p>
            <a:pPr algn="l">
              <a:defRPr sz="1100" b="0">
                <a:solidFill>
                  <a:srgbClr val="334155"/>
                </a:solidFill>
                <a:latin typeface="Times New Roman"/>
              </a:defRPr>
            </a:pPr>
            <a:r>
              <a:t>[6]   Tailwind CSS -- Utility-First CSS Framework                             https://tailwindcss.com</a:t>
            </a:r>
          </a:p>
        </p:txBody>
      </p:sp>
      <p:sp>
        <p:nvSpPr>
          <p:cNvPr id="19" name="Rounded Rectangle 18"/>
          <p:cNvSpPr/>
          <p:nvPr/>
        </p:nvSpPr>
        <p:spPr>
          <a:xfrm>
            <a:off x="320040" y="4590288"/>
            <a:ext cx="11430000" cy="411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4636008"/>
            <a:ext cx="11064240" cy="365760"/>
          </a:xfrm>
          <a:prstGeom prst="rect">
            <a:avLst/>
          </a:prstGeom>
          <a:noFill/>
        </p:spPr>
        <p:txBody>
          <a:bodyPr wrap="square">
            <a:spAutoFit/>
          </a:bodyPr>
          <a:lstStyle/>
          <a:p>
            <a:pPr algn="l">
              <a:defRPr sz="1100" b="0">
                <a:solidFill>
                  <a:srgbClr val="334155"/>
                </a:solidFill>
                <a:latin typeface="Times New Roman"/>
              </a:defRPr>
            </a:pPr>
            <a:r>
              <a:t>[7]   OpenCV -- Open Source Computer Vision Library                           https://opencv.org</a:t>
            </a:r>
          </a:p>
        </p:txBody>
      </p:sp>
      <p:sp>
        <p:nvSpPr>
          <p:cNvPr id="21" name="Rounded Rectangle 20"/>
          <p:cNvSpPr/>
          <p:nvPr/>
        </p:nvSpPr>
        <p:spPr>
          <a:xfrm>
            <a:off x="320040" y="5065776"/>
            <a:ext cx="11430000" cy="411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5111496"/>
            <a:ext cx="11064240" cy="365760"/>
          </a:xfrm>
          <a:prstGeom prst="rect">
            <a:avLst/>
          </a:prstGeom>
          <a:noFill/>
        </p:spPr>
        <p:txBody>
          <a:bodyPr wrap="square">
            <a:spAutoFit/>
          </a:bodyPr>
          <a:lstStyle/>
          <a:p>
            <a:pPr algn="l">
              <a:defRPr sz="1100" b="0">
                <a:solidFill>
                  <a:srgbClr val="334155"/>
                </a:solidFill>
                <a:latin typeface="Times New Roman"/>
              </a:defRPr>
            </a:pPr>
            <a:r>
              <a:t>[8]   python-jose -- JSON Web Token (JWT) Implementation                     https://github.com/mpdavis/python-jose</a:t>
            </a:r>
          </a:p>
        </p:txBody>
      </p:sp>
      <p:sp>
        <p:nvSpPr>
          <p:cNvPr id="23" name="Rounded Rectangle 22"/>
          <p:cNvSpPr/>
          <p:nvPr/>
        </p:nvSpPr>
        <p:spPr>
          <a:xfrm>
            <a:off x="320040" y="5541264"/>
            <a:ext cx="11430000" cy="411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5586984"/>
            <a:ext cx="11064240" cy="365760"/>
          </a:xfrm>
          <a:prstGeom prst="rect">
            <a:avLst/>
          </a:prstGeom>
          <a:noFill/>
        </p:spPr>
        <p:txBody>
          <a:bodyPr wrap="square">
            <a:spAutoFit/>
          </a:bodyPr>
          <a:lstStyle/>
          <a:p>
            <a:pPr algn="l">
              <a:defRPr sz="1100" b="0">
                <a:solidFill>
                  <a:srgbClr val="334155"/>
                </a:solidFill>
                <a:latin typeface="Times New Roman"/>
              </a:defRPr>
            </a:pPr>
            <a:r>
              <a:t>[9]   Vite -- Next-Generation Frontend Build Tool                            https://vitejs.dev</a:t>
            </a:r>
          </a:p>
        </p:txBody>
      </p:sp>
      <p:sp>
        <p:nvSpPr>
          <p:cNvPr id="25" name="Rounded Rectangle 24"/>
          <p:cNvSpPr/>
          <p:nvPr/>
        </p:nvSpPr>
        <p:spPr>
          <a:xfrm>
            <a:off x="320040" y="6016752"/>
            <a:ext cx="11430000" cy="411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062472"/>
            <a:ext cx="11064240" cy="365760"/>
          </a:xfrm>
          <a:prstGeom prst="rect">
            <a:avLst/>
          </a:prstGeom>
          <a:noFill/>
        </p:spPr>
        <p:txBody>
          <a:bodyPr wrap="square">
            <a:spAutoFit/>
          </a:bodyPr>
          <a:lstStyle/>
          <a:p>
            <a:pPr algn="l">
              <a:defRPr sz="1100" b="0">
                <a:solidFill>
                  <a:srgbClr val="334155"/>
                </a:solidFill>
                <a:latin typeface="Times New Roman"/>
              </a:defRPr>
            </a:pPr>
            <a:r>
              <a:t>[10]  Recharts -- React Charting Library                                      https://recharts.org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val 1"/>
          <p:cNvSpPr/>
          <p:nvPr/>
        </p:nvSpPr>
        <p:spPr>
          <a:xfrm>
            <a:off x="8229600" y="-1371600"/>
            <a:ext cx="4572000" cy="45720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3657600"/>
            <a:ext cx="4572000" cy="45720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840480" y="2286000"/>
            <a:ext cx="4572000" cy="508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0"/>
            <a:ext cx="11247120" cy="914400"/>
          </a:xfrm>
          <a:prstGeom prst="rect">
            <a:avLst/>
          </a:prstGeom>
          <a:noFill/>
        </p:spPr>
        <p:txBody>
          <a:bodyPr wrap="square">
            <a:spAutoFit/>
          </a:bodyPr>
          <a:lstStyle/>
          <a:p>
            <a:pPr algn="ctr">
              <a:defRPr sz="5800" b="1">
                <a:solidFill>
                  <a:srgbClr val="FFFFFF"/>
                </a:solidFill>
                <a:latin typeface="Arial Black"/>
              </a:defRPr>
            </a:pPr>
            <a:r>
              <a:t>Thank You!</a:t>
            </a:r>
          </a:p>
        </p:txBody>
      </p:sp>
      <p:sp>
        <p:nvSpPr>
          <p:cNvPr id="6" name="TextBox 5"/>
          <p:cNvSpPr txBox="1"/>
          <p:nvPr/>
        </p:nvSpPr>
        <p:spPr>
          <a:xfrm>
            <a:off x="457200" y="3657600"/>
            <a:ext cx="11247120" cy="457200"/>
          </a:xfrm>
          <a:prstGeom prst="rect">
            <a:avLst/>
          </a:prstGeom>
          <a:noFill/>
        </p:spPr>
        <p:txBody>
          <a:bodyPr wrap="square">
            <a:spAutoFit/>
          </a:bodyPr>
          <a:lstStyle/>
          <a:p>
            <a:pPr algn="ctr">
              <a:defRPr sz="2400" b="0">
                <a:solidFill>
                  <a:srgbClr val="FF4D29"/>
                </a:solidFill>
                <a:latin typeface="Times New Roman"/>
              </a:defRPr>
            </a:pPr>
            <a:r>
              <a:t>Questions &amp; Discussion</a:t>
            </a:r>
          </a:p>
        </p:txBody>
      </p:sp>
      <p:sp>
        <p:nvSpPr>
          <p:cNvPr id="7" name="TextBox 6"/>
          <p:cNvSpPr txBox="1"/>
          <p:nvPr/>
        </p:nvSpPr>
        <p:spPr>
          <a:xfrm>
            <a:off x="1371600" y="4846320"/>
            <a:ext cx="9418320" cy="457200"/>
          </a:xfrm>
          <a:prstGeom prst="rect">
            <a:avLst/>
          </a:prstGeom>
          <a:noFill/>
        </p:spPr>
        <p:txBody>
          <a:bodyPr wrap="square">
            <a:spAutoFit/>
          </a:bodyPr>
          <a:lstStyle/>
          <a:p>
            <a:pPr algn="ctr">
              <a:defRPr sz="1300" b="0">
                <a:solidFill>
                  <a:srgbClr val="64748B"/>
                </a:solidFill>
                <a:latin typeface="Times New Roman"/>
              </a:defRPr>
            </a:pPr>
            <a:r>
              <a:t>ATTENTION TRACE  |  AI-Powered Advertising Analytics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1690</Words>
  <Application>Microsoft Office PowerPoint</Application>
  <PresentationFormat>Widescreen</PresentationFormat>
  <Paragraphs>215</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sujanchaurasia22@gmail.com</cp:lastModifiedBy>
  <cp:revision>2</cp:revision>
  <dcterms:created xsi:type="dcterms:W3CDTF">2013-01-27T09:14:16Z</dcterms:created>
  <dcterms:modified xsi:type="dcterms:W3CDTF">2026-05-28T06:09:21Z</dcterms:modified>
  <cp:category/>
</cp:coreProperties>
</file>