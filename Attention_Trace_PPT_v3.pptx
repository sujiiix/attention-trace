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57" r:id="rId3"/>
    <p:sldId id="258" r:id="rId4"/>
    <p:sldId id="259" r:id="rId5"/>
    <p:sldId id="260" r:id="rId6"/>
    <p:sldId id="261" r:id="rId7"/>
    <p:sldId id="262" r:id="rId8"/>
    <p:sldId id="263" r:id="rId9"/>
    <p:sldId id="264" r:id="rId10"/>
    <p:sldId id="270" r:id="rId11"/>
    <p:sldId id="271"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63D56B-A036-4F24-ABBD-8A8C6BDA7A4E}"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DF2BF-5278-4435-8511-2416BBE5EF91}" type="slidenum">
              <a:rPr lang="en-US" smtClean="0"/>
              <a:t>‹#›</a:t>
            </a:fld>
            <a:endParaRPr lang="en-US"/>
          </a:p>
        </p:txBody>
      </p:sp>
    </p:spTree>
    <p:extLst>
      <p:ext uri="{BB962C8B-B14F-4D97-AF65-F5344CB8AC3E}">
        <p14:creationId xmlns:p14="http://schemas.microsoft.com/office/powerpoint/2010/main" val="2993327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DF2BF-5278-4435-8511-2416BBE5EF91}" type="slidenum">
              <a:rPr lang="en-US" smtClean="0"/>
              <a:t>1</a:t>
            </a:fld>
            <a:endParaRPr lang="en-US"/>
          </a:p>
        </p:txBody>
      </p:sp>
    </p:spTree>
    <p:extLst>
      <p:ext uri="{BB962C8B-B14F-4D97-AF65-F5344CB8AC3E}">
        <p14:creationId xmlns:p14="http://schemas.microsoft.com/office/powerpoint/2010/main" val="3560248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2DF2BF-5278-4435-8511-2416BBE5EF91}" type="slidenum">
              <a:rPr lang="en-US" smtClean="0"/>
              <a:t>10</a:t>
            </a:fld>
            <a:endParaRPr lang="en-US"/>
          </a:p>
        </p:txBody>
      </p:sp>
    </p:spTree>
    <p:extLst>
      <p:ext uri="{BB962C8B-B14F-4D97-AF65-F5344CB8AC3E}">
        <p14:creationId xmlns:p14="http://schemas.microsoft.com/office/powerpoint/2010/main" val="4003499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DCA88-EB2C-4314-6B27-10275782A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6F0D0-F277-D299-9933-A6895444C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B4CFF-0B13-F3BA-28DB-8E84EABB04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FACC10-F0CB-37BF-9576-CD934C951157}"/>
              </a:ext>
            </a:extLst>
          </p:cNvPr>
          <p:cNvSpPr>
            <a:spLocks noGrp="1"/>
          </p:cNvSpPr>
          <p:nvPr>
            <p:ph type="sldNum" sz="quarter" idx="5"/>
          </p:nvPr>
        </p:nvSpPr>
        <p:spPr/>
        <p:txBody>
          <a:bodyPr/>
          <a:lstStyle/>
          <a:p>
            <a:fld id="{6D2DF2BF-5278-4435-8511-2416BBE5EF91}" type="slidenum">
              <a:rPr lang="en-US" smtClean="0"/>
              <a:t>11</a:t>
            </a:fld>
            <a:endParaRPr lang="en-US"/>
          </a:p>
        </p:txBody>
      </p:sp>
    </p:spTree>
    <p:extLst>
      <p:ext uri="{BB962C8B-B14F-4D97-AF65-F5344CB8AC3E}">
        <p14:creationId xmlns:p14="http://schemas.microsoft.com/office/powerpoint/2010/main" val="3320768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a:extLst>
            <a:ext uri="{FF2B5EF4-FFF2-40B4-BE49-F238E27FC236}">
              <a16:creationId xmlns:a16="http://schemas.microsoft.com/office/drawing/2014/main" id="{CF7A1FBD-80A1-DF00-5EBD-2F22CB866B5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F34359B8-152B-0D91-0F4F-303D57C85AAF}"/>
              </a:ext>
            </a:extLst>
          </p:cNvPr>
          <p:cNvSpPr/>
          <p:nvPr/>
        </p:nvSpPr>
        <p:spPr>
          <a:xfrm>
            <a:off x="10682748" y="4967211"/>
            <a:ext cx="3018503" cy="3131573"/>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ectangle 3">
            <a:extLst>
              <a:ext uri="{FF2B5EF4-FFF2-40B4-BE49-F238E27FC236}">
                <a16:creationId xmlns:a16="http://schemas.microsoft.com/office/drawing/2014/main" id="{9E13417D-42BC-1E8D-8E57-438626D95566}"/>
              </a:ext>
            </a:extLst>
          </p:cNvPr>
          <p:cNvSpPr/>
          <p:nvPr/>
        </p:nvSpPr>
        <p:spPr>
          <a:xfrm>
            <a:off x="3810000" y="782649"/>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141CBC9-BF1F-00DC-2B29-2CFFB69005D8}"/>
              </a:ext>
            </a:extLst>
          </p:cNvPr>
          <p:cNvSpPr txBox="1"/>
          <p:nvPr/>
        </p:nvSpPr>
        <p:spPr>
          <a:xfrm>
            <a:off x="859335" y="3233075"/>
            <a:ext cx="3329203" cy="1015663"/>
          </a:xfrm>
          <a:prstGeom prst="rect">
            <a:avLst/>
          </a:prstGeom>
          <a:noFill/>
        </p:spPr>
        <p:txBody>
          <a:bodyPr wrap="square" rtlCol="0">
            <a:spAutoFit/>
          </a:bodyPr>
          <a:lstStyle/>
          <a:p>
            <a:r>
              <a:rPr lang="en-IN" sz="2000" dirty="0">
                <a:solidFill>
                  <a:schemeClr val="bg1"/>
                </a:solidFill>
                <a:latin typeface="Times New Roman" panose="02020603050405020304" pitchFamily="18" charset="0"/>
                <a:cs typeface="Times New Roman" panose="02020603050405020304" pitchFamily="18" charset="0"/>
              </a:rPr>
              <a:t>Submitted To:</a:t>
            </a:r>
          </a:p>
          <a:p>
            <a:r>
              <a:rPr lang="en-IN" sz="2000" dirty="0">
                <a:solidFill>
                  <a:schemeClr val="bg1"/>
                </a:solidFill>
                <a:latin typeface="Times New Roman" panose="02020603050405020304" pitchFamily="18" charset="0"/>
                <a:cs typeface="Times New Roman" panose="02020603050405020304" pitchFamily="18" charset="0"/>
              </a:rPr>
              <a:t>Dr.(Prof.) R.K SINGH </a:t>
            </a:r>
          </a:p>
          <a:p>
            <a:r>
              <a:rPr lang="en-IN" sz="2000" dirty="0">
                <a:solidFill>
                  <a:schemeClr val="bg1"/>
                </a:solidFill>
                <a:latin typeface="Times New Roman" panose="02020603050405020304" pitchFamily="18" charset="0"/>
                <a:cs typeface="Times New Roman" panose="02020603050405020304" pitchFamily="18" charset="0"/>
              </a:rPr>
              <a:t>Prof. SONAM ARYA</a:t>
            </a:r>
          </a:p>
        </p:txBody>
      </p:sp>
      <p:sp>
        <p:nvSpPr>
          <p:cNvPr id="13" name="TextBox 12">
            <a:extLst>
              <a:ext uri="{FF2B5EF4-FFF2-40B4-BE49-F238E27FC236}">
                <a16:creationId xmlns:a16="http://schemas.microsoft.com/office/drawing/2014/main" id="{7E6435B2-238C-BF67-977A-543C6314B2FE}"/>
              </a:ext>
            </a:extLst>
          </p:cNvPr>
          <p:cNvSpPr txBox="1"/>
          <p:nvPr/>
        </p:nvSpPr>
        <p:spPr>
          <a:xfrm>
            <a:off x="8438666" y="3242021"/>
            <a:ext cx="3018503" cy="1200329"/>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Submitted By:</a:t>
            </a:r>
          </a:p>
          <a:p>
            <a:r>
              <a:rPr lang="en-IN" dirty="0">
                <a:solidFill>
                  <a:schemeClr val="bg1"/>
                </a:solidFill>
                <a:latin typeface="Times New Roman" panose="02020603050405020304" pitchFamily="18" charset="0"/>
                <a:cs typeface="Times New Roman" panose="02020603050405020304" pitchFamily="18" charset="0"/>
              </a:rPr>
              <a:t>SAURABH KUMAR(24764)</a:t>
            </a:r>
          </a:p>
          <a:p>
            <a:r>
              <a:rPr lang="en-IN" dirty="0">
                <a:solidFill>
                  <a:schemeClr val="bg1"/>
                </a:solidFill>
                <a:latin typeface="Times New Roman" panose="02020603050405020304" pitchFamily="18" charset="0"/>
                <a:cs typeface="Times New Roman" panose="02020603050405020304" pitchFamily="18" charset="0"/>
              </a:rPr>
              <a:t>SUJAN CHAURASIA(24768)</a:t>
            </a:r>
          </a:p>
          <a:p>
            <a:r>
              <a:rPr lang="en-IN" dirty="0">
                <a:solidFill>
                  <a:schemeClr val="bg1"/>
                </a:solidFill>
                <a:latin typeface="Times New Roman" panose="02020603050405020304" pitchFamily="18" charset="0"/>
                <a:cs typeface="Times New Roman" panose="02020603050405020304" pitchFamily="18" charset="0"/>
              </a:rPr>
              <a:t>KARTIK YADAV(24735)</a:t>
            </a:r>
          </a:p>
        </p:txBody>
      </p:sp>
      <p:grpSp>
        <p:nvGrpSpPr>
          <p:cNvPr id="19" name="Group 18">
            <a:extLst>
              <a:ext uri="{FF2B5EF4-FFF2-40B4-BE49-F238E27FC236}">
                <a16:creationId xmlns:a16="http://schemas.microsoft.com/office/drawing/2014/main" id="{1AC385CA-27DB-A635-D1DD-0A0B7CDD8D58}"/>
              </a:ext>
            </a:extLst>
          </p:cNvPr>
          <p:cNvGrpSpPr/>
          <p:nvPr/>
        </p:nvGrpSpPr>
        <p:grpSpPr>
          <a:xfrm>
            <a:off x="5099255" y="2838894"/>
            <a:ext cx="1993490" cy="1941248"/>
            <a:chOff x="4694903" y="2576051"/>
            <a:chExt cx="2802195" cy="2800555"/>
          </a:xfrm>
        </p:grpSpPr>
        <p:sp>
          <p:nvSpPr>
            <p:cNvPr id="2" name="Oval 1">
              <a:extLst>
                <a:ext uri="{FF2B5EF4-FFF2-40B4-BE49-F238E27FC236}">
                  <a16:creationId xmlns:a16="http://schemas.microsoft.com/office/drawing/2014/main" id="{69796A5C-02AC-F3AE-3C79-AB52C9E4934E}"/>
                </a:ext>
              </a:extLst>
            </p:cNvPr>
            <p:cNvSpPr/>
            <p:nvPr/>
          </p:nvSpPr>
          <p:spPr>
            <a:xfrm>
              <a:off x="4694903" y="2576051"/>
              <a:ext cx="2802195" cy="2800555"/>
            </a:xfrm>
            <a:prstGeom prst="ellipse">
              <a:avLst/>
            </a:prstGeom>
            <a:ln>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dirty="0"/>
            </a:p>
          </p:txBody>
        </p:sp>
        <p:pic>
          <p:nvPicPr>
            <p:cNvPr id="15" name="Picture 14">
              <a:extLst>
                <a:ext uri="{FF2B5EF4-FFF2-40B4-BE49-F238E27FC236}">
                  <a16:creationId xmlns:a16="http://schemas.microsoft.com/office/drawing/2014/main" id="{54C25CD8-2DA9-A37D-AC7E-1FCE126C00ED}"/>
                </a:ext>
              </a:extLst>
            </p:cNvPr>
            <p:cNvPicPr>
              <a:picLocks noChangeAspect="1"/>
            </p:cNvPicPr>
            <p:nvPr/>
          </p:nvPicPr>
          <p:blipFill>
            <a:blip r:embed="rId3"/>
            <a:stretch>
              <a:fillRect/>
            </a:stretch>
          </p:blipFill>
          <p:spPr>
            <a:xfrm>
              <a:off x="4856532" y="2753031"/>
              <a:ext cx="2488769" cy="2488769"/>
            </a:xfrm>
            <a:prstGeom prst="rect">
              <a:avLst/>
            </a:prstGeom>
          </p:spPr>
        </p:pic>
      </p:grpSp>
      <p:sp>
        <p:nvSpPr>
          <p:cNvPr id="18" name="TextBox 17">
            <a:extLst>
              <a:ext uri="{FF2B5EF4-FFF2-40B4-BE49-F238E27FC236}">
                <a16:creationId xmlns:a16="http://schemas.microsoft.com/office/drawing/2014/main" id="{A8B0F1F3-E94F-DE70-F923-E5E7CCE811C7}"/>
              </a:ext>
            </a:extLst>
          </p:cNvPr>
          <p:cNvSpPr txBox="1"/>
          <p:nvPr/>
        </p:nvSpPr>
        <p:spPr>
          <a:xfrm>
            <a:off x="2462981" y="5206783"/>
            <a:ext cx="7266038" cy="707886"/>
          </a:xfrm>
          <a:prstGeom prst="rect">
            <a:avLst/>
          </a:prstGeom>
          <a:noFill/>
        </p:spPr>
        <p:txBody>
          <a:bodyPr wrap="square">
            <a:spAutoFit/>
          </a:bodyPr>
          <a:lstStyle/>
          <a:p>
            <a:pPr algn="ctr"/>
            <a:r>
              <a:rPr lang="en-US" sz="2000" b="1" dirty="0">
                <a:solidFill>
                  <a:schemeClr val="bg1"/>
                </a:solidFill>
                <a:latin typeface="Arial Black" panose="020B0A04020102020204" pitchFamily="34" charset="0"/>
              </a:rPr>
              <a:t>KAMLA NEHRU INSTITUTE OF TECHNOLOGY SULTANPUR (U.P.)</a:t>
            </a:r>
          </a:p>
        </p:txBody>
      </p:sp>
      <p:sp>
        <p:nvSpPr>
          <p:cNvPr id="20" name="Rectangle 19">
            <a:extLst>
              <a:ext uri="{FF2B5EF4-FFF2-40B4-BE49-F238E27FC236}">
                <a16:creationId xmlns:a16="http://schemas.microsoft.com/office/drawing/2014/main" id="{905E4D65-E917-261E-6061-E57FABC25205}"/>
              </a:ext>
            </a:extLst>
          </p:cNvPr>
          <p:cNvSpPr/>
          <p:nvPr/>
        </p:nvSpPr>
        <p:spPr>
          <a:xfrm>
            <a:off x="3810000" y="6293645"/>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7C9F1CF-DEB6-EB57-F284-9BCD8B767C6C}"/>
              </a:ext>
            </a:extLst>
          </p:cNvPr>
          <p:cNvSpPr txBox="1"/>
          <p:nvPr/>
        </p:nvSpPr>
        <p:spPr>
          <a:xfrm>
            <a:off x="2462981" y="5876797"/>
            <a:ext cx="7266038" cy="400110"/>
          </a:xfrm>
          <a:prstGeom prst="rect">
            <a:avLst/>
          </a:prstGeom>
          <a:noFill/>
        </p:spPr>
        <p:txBody>
          <a:bodyPr wrap="square">
            <a:spAutoFit/>
          </a:bodyPr>
          <a:lstStyle/>
          <a:p>
            <a:pPr marL="0" algn="ctr" rtl="0" eaLnBrk="1" latinLnBrk="0" hangingPunct="1">
              <a:buNone/>
            </a:pPr>
            <a:r>
              <a:rPr lang="en-US" sz="2000" kern="1200" dirty="0">
                <a:solidFill>
                  <a:schemeClr val="bg1"/>
                </a:solidFill>
                <a:effectLst/>
                <a:latin typeface="Times New Roman" panose="02020603050405020304" pitchFamily="18" charset="0"/>
                <a:ea typeface="Times New Roman" panose="02020603050405020304" pitchFamily="18" charset="0"/>
                <a:cs typeface="+mn-cs"/>
              </a:rPr>
              <a:t> </a:t>
            </a:r>
            <a:r>
              <a:rPr lang="en-US" sz="2000" b="1" kern="1200" dirty="0">
                <a:solidFill>
                  <a:schemeClr val="bg1"/>
                </a:solidFill>
                <a:effectLst/>
                <a:latin typeface="Times New Roman" panose="02020603050405020304" pitchFamily="18" charset="0"/>
                <a:ea typeface="Times New Roman" panose="02020603050405020304" pitchFamily="18" charset="0"/>
                <a:cs typeface="+mn-cs"/>
              </a:rPr>
              <a:t>MASTER</a:t>
            </a:r>
            <a:r>
              <a:rPr lang="en-US" sz="2000" b="1" kern="1200" spc="-11" dirty="0">
                <a:solidFill>
                  <a:schemeClr val="bg1"/>
                </a:solidFill>
                <a:effectLst/>
                <a:latin typeface="Times New Roman" panose="02020603050405020304" pitchFamily="18" charset="0"/>
                <a:ea typeface="Times New Roman" panose="02020603050405020304" pitchFamily="18" charset="0"/>
                <a:cs typeface="+mn-cs"/>
              </a:rPr>
              <a:t> </a:t>
            </a:r>
            <a:r>
              <a:rPr lang="en-US" sz="2000" b="1" kern="1200" dirty="0">
                <a:solidFill>
                  <a:schemeClr val="bg1"/>
                </a:solidFill>
                <a:effectLst/>
                <a:latin typeface="Times New Roman" panose="02020603050405020304" pitchFamily="18" charset="0"/>
                <a:ea typeface="Times New Roman" panose="02020603050405020304" pitchFamily="18" charset="0"/>
                <a:cs typeface="+mn-cs"/>
              </a:rPr>
              <a:t>OF</a:t>
            </a:r>
            <a:r>
              <a:rPr lang="en-US" sz="2000" b="1" kern="1200" spc="-38" dirty="0">
                <a:solidFill>
                  <a:schemeClr val="bg1"/>
                </a:solidFill>
                <a:effectLst/>
                <a:latin typeface="Times New Roman" panose="02020603050405020304" pitchFamily="18" charset="0"/>
                <a:ea typeface="Times New Roman" panose="02020603050405020304" pitchFamily="18" charset="0"/>
                <a:cs typeface="+mn-cs"/>
              </a:rPr>
              <a:t> </a:t>
            </a:r>
            <a:r>
              <a:rPr lang="en-US" sz="2000" b="1" kern="1200" dirty="0">
                <a:solidFill>
                  <a:schemeClr val="bg1"/>
                </a:solidFill>
                <a:effectLst/>
                <a:latin typeface="Times New Roman" panose="02020603050405020304" pitchFamily="18" charset="0"/>
                <a:ea typeface="Times New Roman" panose="02020603050405020304" pitchFamily="18" charset="0"/>
                <a:cs typeface="+mn-cs"/>
              </a:rPr>
              <a:t>COMPUTER</a:t>
            </a:r>
            <a:r>
              <a:rPr lang="en-US" sz="2000" b="1" kern="1200" spc="-56" dirty="0">
                <a:solidFill>
                  <a:schemeClr val="bg1"/>
                </a:solidFill>
                <a:effectLst/>
                <a:latin typeface="Times New Roman" panose="02020603050405020304" pitchFamily="18" charset="0"/>
                <a:ea typeface="Times New Roman" panose="02020603050405020304" pitchFamily="18" charset="0"/>
                <a:cs typeface="+mn-cs"/>
              </a:rPr>
              <a:t> </a:t>
            </a:r>
            <a:r>
              <a:rPr lang="en-US" sz="2000" b="1" kern="1200" spc="-8" dirty="0">
                <a:solidFill>
                  <a:schemeClr val="bg1"/>
                </a:solidFill>
                <a:effectLst/>
                <a:latin typeface="Times New Roman" panose="02020603050405020304" pitchFamily="18" charset="0"/>
                <a:ea typeface="Times New Roman" panose="02020603050405020304" pitchFamily="18" charset="0"/>
                <a:cs typeface="+mn-cs"/>
              </a:rPr>
              <a:t>APPLICATIONS</a:t>
            </a:r>
            <a:endParaRPr lang="en-US" sz="2000" dirty="0">
              <a:solidFill>
                <a:schemeClr val="bg1"/>
              </a:solidFill>
              <a:effectLst/>
            </a:endParaRPr>
          </a:p>
        </p:txBody>
      </p:sp>
      <p:sp>
        <p:nvSpPr>
          <p:cNvPr id="24" name="Rectangle: Rounded Corners 23">
            <a:extLst>
              <a:ext uri="{FF2B5EF4-FFF2-40B4-BE49-F238E27FC236}">
                <a16:creationId xmlns:a16="http://schemas.microsoft.com/office/drawing/2014/main" id="{40EBFD18-B1E3-77BE-4670-BCAB504A3D59}"/>
              </a:ext>
            </a:extLst>
          </p:cNvPr>
          <p:cNvSpPr/>
          <p:nvPr/>
        </p:nvSpPr>
        <p:spPr>
          <a:xfrm>
            <a:off x="-1132764" y="-873458"/>
            <a:ext cx="2715904" cy="2661314"/>
          </a:xfrm>
          <a:prstGeom prst="roundRect">
            <a:avLst>
              <a:gd name="adj" fmla="val 19866"/>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1D656A5-1C31-186F-1958-32EBEF7EAEBC}"/>
              </a:ext>
            </a:extLst>
          </p:cNvPr>
          <p:cNvSpPr txBox="1"/>
          <p:nvPr/>
        </p:nvSpPr>
        <p:spPr>
          <a:xfrm>
            <a:off x="746760" y="836570"/>
            <a:ext cx="10698480" cy="914400"/>
          </a:xfrm>
          <a:prstGeom prst="rect">
            <a:avLst/>
          </a:prstGeom>
          <a:noFill/>
        </p:spPr>
        <p:txBody>
          <a:bodyPr wrap="square">
            <a:spAutoFit/>
          </a:bodyPr>
          <a:lstStyle/>
          <a:p>
            <a:pPr algn="ctr">
              <a:defRPr sz="5200" b="1">
                <a:solidFill>
                  <a:srgbClr val="FFFFFF"/>
                </a:solidFill>
                <a:latin typeface="Trebuchet MS"/>
              </a:defRPr>
            </a:pPr>
            <a:r>
              <a:rPr dirty="0"/>
              <a:t>ATTENTION TRACE</a:t>
            </a:r>
          </a:p>
        </p:txBody>
      </p:sp>
    </p:spTree>
    <p:extLst>
      <p:ext uri="{BB962C8B-B14F-4D97-AF65-F5344CB8AC3E}">
        <p14:creationId xmlns:p14="http://schemas.microsoft.com/office/powerpoint/2010/main" val="3372182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Oval 1"/>
          <p:cNvSpPr/>
          <p:nvPr/>
        </p:nvSpPr>
        <p:spPr>
          <a:xfrm>
            <a:off x="-914400" y="-914400"/>
            <a:ext cx="3657600" cy="3657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4114800"/>
            <a:ext cx="3657600" cy="36576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0" y="2011680"/>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0"/>
            <a:ext cx="10698480" cy="914400"/>
          </a:xfrm>
          <a:prstGeom prst="rect">
            <a:avLst/>
          </a:prstGeom>
          <a:noFill/>
        </p:spPr>
        <p:txBody>
          <a:bodyPr wrap="square">
            <a:spAutoFit/>
          </a:bodyPr>
          <a:lstStyle/>
          <a:p>
            <a:pPr algn="ctr">
              <a:defRPr sz="5200" b="1">
                <a:solidFill>
                  <a:srgbClr val="FFFFFF"/>
                </a:solidFill>
                <a:latin typeface="Trebuchet MS"/>
              </a:defRPr>
            </a:pPr>
            <a:r>
              <a:rPr dirty="0"/>
              <a:t>ATTENTION TRACE</a:t>
            </a:r>
          </a:p>
        </p:txBody>
      </p:sp>
      <p:sp>
        <p:nvSpPr>
          <p:cNvPr id="6" name="TextBox 5"/>
          <p:cNvSpPr txBox="1"/>
          <p:nvPr/>
        </p:nvSpPr>
        <p:spPr>
          <a:xfrm>
            <a:off x="731520" y="3200400"/>
            <a:ext cx="10698480" cy="548640"/>
          </a:xfrm>
          <a:prstGeom prst="rect">
            <a:avLst/>
          </a:prstGeom>
          <a:noFill/>
        </p:spPr>
        <p:txBody>
          <a:bodyPr wrap="square">
            <a:spAutoFit/>
          </a:bodyPr>
          <a:lstStyle/>
          <a:p>
            <a:pPr algn="ctr">
              <a:defRPr sz="2400" b="0">
                <a:solidFill>
                  <a:srgbClr val="FF4D29"/>
                </a:solidFill>
                <a:latin typeface="Trebuchet MS"/>
              </a:defRPr>
            </a:pPr>
            <a:r>
              <a:t>AI-Powered Real-Time Advertising Analytics Platform</a:t>
            </a:r>
          </a:p>
        </p:txBody>
      </p:sp>
      <p:sp>
        <p:nvSpPr>
          <p:cNvPr id="7" name="TextBox 6"/>
          <p:cNvSpPr txBox="1"/>
          <p:nvPr/>
        </p:nvSpPr>
        <p:spPr>
          <a:xfrm>
            <a:off x="1371600" y="4023360"/>
            <a:ext cx="9418320" cy="307777"/>
          </a:xfrm>
          <a:prstGeom prst="rect">
            <a:avLst/>
          </a:prstGeom>
          <a:noFill/>
        </p:spPr>
        <p:txBody>
          <a:bodyPr wrap="square">
            <a:spAutoFit/>
          </a:bodyPr>
          <a:lstStyle/>
          <a:p>
            <a:pPr algn="ctr">
              <a:defRPr sz="1400" b="0">
                <a:solidFill>
                  <a:srgbClr val="94A3B8"/>
                </a:solidFill>
                <a:latin typeface="Trebuchet MS"/>
              </a:defRPr>
            </a:pPr>
            <a:r>
              <a:rPr sz="1400" dirty="0"/>
              <a:t>Leveraging Computer Vision, Emotion AI &amp; Behavioral Tracking for Next-Gen Ad Intelligence</a:t>
            </a:r>
          </a:p>
        </p:txBody>
      </p:sp>
      <p:sp>
        <p:nvSpPr>
          <p:cNvPr id="8" name="TextBox 7"/>
          <p:cNvSpPr txBox="1"/>
          <p:nvPr/>
        </p:nvSpPr>
        <p:spPr>
          <a:xfrm>
            <a:off x="1371600" y="5029200"/>
            <a:ext cx="9418320" cy="365760"/>
          </a:xfrm>
          <a:prstGeom prst="rect">
            <a:avLst/>
          </a:prstGeom>
          <a:noFill/>
        </p:spPr>
        <p:txBody>
          <a:bodyPr wrap="square">
            <a:spAutoFit/>
          </a:bodyPr>
          <a:lstStyle/>
          <a:p>
            <a:pPr algn="ctr">
              <a:defRPr sz="1300" b="0">
                <a:solidFill>
                  <a:srgbClr val="64748B"/>
                </a:solidFill>
                <a:latin typeface="Trebuchet MS"/>
              </a:defRPr>
            </a:pPr>
            <a:r>
              <a:rPr dirty="0"/>
              <a:t>Final Year Project Presentation  |  May 2026</a:t>
            </a:r>
          </a:p>
        </p:txBody>
      </p:sp>
      <p:sp>
        <p:nvSpPr>
          <p:cNvPr id="9" name="TextBox 8"/>
          <p:cNvSpPr txBox="1"/>
          <p:nvPr/>
        </p:nvSpPr>
        <p:spPr>
          <a:xfrm>
            <a:off x="1371600" y="5394960"/>
            <a:ext cx="9418320" cy="365760"/>
          </a:xfrm>
          <a:prstGeom prst="rect">
            <a:avLst/>
          </a:prstGeom>
          <a:noFill/>
        </p:spPr>
        <p:txBody>
          <a:bodyPr wrap="square">
            <a:spAutoFit/>
          </a:bodyPr>
          <a:lstStyle/>
          <a:p>
            <a:pPr algn="ctr">
              <a:defRPr sz="1200" b="0">
                <a:solidFill>
                  <a:srgbClr val="64748B"/>
                </a:solidFill>
                <a:latin typeface="Trebuchet MS"/>
              </a:defRPr>
            </a:pPr>
            <a:r>
              <a:t>Guided by: Dr. (Prof.) R. K. Singh  &amp;  Prof. Sonam Arya</a:t>
            </a:r>
          </a:p>
        </p:txBody>
      </p:sp>
      <p:sp>
        <p:nvSpPr>
          <p:cNvPr id="10" name="TextBox 9"/>
          <p:cNvSpPr txBox="1"/>
          <p:nvPr/>
        </p:nvSpPr>
        <p:spPr>
          <a:xfrm>
            <a:off x="1371600" y="5715000"/>
            <a:ext cx="9418320" cy="365760"/>
          </a:xfrm>
          <a:prstGeom prst="rect">
            <a:avLst/>
          </a:prstGeom>
          <a:noFill/>
        </p:spPr>
        <p:txBody>
          <a:bodyPr wrap="square">
            <a:spAutoFit/>
          </a:bodyPr>
          <a:lstStyle/>
          <a:p>
            <a:pPr algn="ctr">
              <a:defRPr sz="1200" b="0">
                <a:solidFill>
                  <a:srgbClr val="64748B"/>
                </a:solidFill>
                <a:latin typeface="Trebuchet MS"/>
              </a:defRPr>
            </a:pPr>
            <a:r>
              <a:t>Presented by: Saurabh Kumar  |  Sujan Chaurasia  |  Kartik Yadav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01</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Introduction</a:t>
            </a:r>
          </a:p>
        </p:txBody>
      </p:sp>
      <p:sp>
        <p:nvSpPr>
          <p:cNvPr id="5" name="TextBox 4"/>
          <p:cNvSpPr txBox="1"/>
          <p:nvPr/>
        </p:nvSpPr>
        <p:spPr>
          <a:xfrm>
            <a:off x="548640" y="1645920"/>
            <a:ext cx="11064240" cy="1097280"/>
          </a:xfrm>
          <a:prstGeom prst="rect">
            <a:avLst/>
          </a:prstGeom>
          <a:noFill/>
        </p:spPr>
        <p:txBody>
          <a:bodyPr wrap="square">
            <a:spAutoFit/>
          </a:bodyPr>
          <a:lstStyle/>
          <a:p>
            <a:pPr algn="l">
              <a:defRPr sz="1600" b="0">
                <a:solidFill>
                  <a:srgbClr val="94A3B8"/>
                </a:solidFill>
                <a:latin typeface="Trebuchet MS"/>
              </a:defRPr>
            </a:pPr>
            <a:r>
              <a:rPr dirty="0"/>
              <a:t>Attention Trace is a SaaS-based advertising analytics platform that uses Artificial Intelligence to measure how users truly engage with online advertisements. Unlike traditional ad tracking that only counts impressions and clicks, our platform leverages real-time computer vision and behavioral analysis to deliver a comprehensive Engagement Score.</a:t>
            </a:r>
          </a:p>
        </p:txBody>
      </p:sp>
      <p:sp>
        <p:nvSpPr>
          <p:cNvPr id="6" name="Rounded Rectangle 5"/>
          <p:cNvSpPr/>
          <p:nvPr/>
        </p:nvSpPr>
        <p:spPr>
          <a:xfrm>
            <a:off x="365760" y="3200400"/>
            <a:ext cx="3538728" cy="2743200"/>
          </a:xfrm>
          <a:prstGeom prst="roundRect">
            <a:avLst/>
          </a:prstGeom>
          <a:solidFill>
            <a:srgbClr val="111620"/>
          </a:solidFill>
          <a:ln w="127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3383280"/>
            <a:ext cx="4572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3611880"/>
            <a:ext cx="3081528" cy="365760"/>
          </a:xfrm>
          <a:prstGeom prst="rect">
            <a:avLst/>
          </a:prstGeom>
          <a:noFill/>
        </p:spPr>
        <p:txBody>
          <a:bodyPr wrap="square">
            <a:spAutoFit/>
          </a:bodyPr>
          <a:lstStyle/>
          <a:p>
            <a:pPr algn="l">
              <a:defRPr sz="1600" b="1">
                <a:solidFill>
                  <a:srgbClr val="FFFFFF"/>
                </a:solidFill>
                <a:latin typeface="Trebuchet MS"/>
              </a:defRPr>
            </a:pPr>
            <a:r>
              <a:t>Emotion Detection</a:t>
            </a:r>
          </a:p>
        </p:txBody>
      </p:sp>
      <p:sp>
        <p:nvSpPr>
          <p:cNvPr id="9" name="TextBox 8"/>
          <p:cNvSpPr txBox="1"/>
          <p:nvPr/>
        </p:nvSpPr>
        <p:spPr>
          <a:xfrm>
            <a:off x="685800" y="4114800"/>
            <a:ext cx="2990088" cy="502920"/>
          </a:xfrm>
          <a:prstGeom prst="rect">
            <a:avLst/>
          </a:prstGeom>
          <a:noFill/>
        </p:spPr>
        <p:txBody>
          <a:bodyPr wrap="square">
            <a:spAutoFit/>
          </a:bodyPr>
          <a:lstStyle/>
          <a:p>
            <a:pPr algn="l">
              <a:defRPr sz="1100" b="0">
                <a:solidFill>
                  <a:srgbClr val="94A3B8"/>
                </a:solidFill>
                <a:latin typeface="Trebuchet MS"/>
              </a:defRPr>
            </a:pPr>
            <a:r>
              <a:rPr dirty="0"/>
              <a:t>Real-time facial expression analysis using FER deep learning model</a:t>
            </a:r>
          </a:p>
        </p:txBody>
      </p:sp>
      <p:sp>
        <p:nvSpPr>
          <p:cNvPr id="10" name="TextBox 9"/>
          <p:cNvSpPr txBox="1"/>
          <p:nvPr/>
        </p:nvSpPr>
        <p:spPr>
          <a:xfrm>
            <a:off x="685800" y="4663440"/>
            <a:ext cx="2990088" cy="502920"/>
          </a:xfrm>
          <a:prstGeom prst="rect">
            <a:avLst/>
          </a:prstGeom>
          <a:noFill/>
        </p:spPr>
        <p:txBody>
          <a:bodyPr wrap="square">
            <a:spAutoFit/>
          </a:bodyPr>
          <a:lstStyle/>
          <a:p>
            <a:pPr algn="l">
              <a:defRPr sz="1100" b="0">
                <a:solidFill>
                  <a:srgbClr val="94A3B8"/>
                </a:solidFill>
                <a:latin typeface="Trebuchet MS"/>
              </a:defRPr>
            </a:pPr>
            <a:r>
              <a:t>Tracks 7 emotions: Happy, Sad, Angry, Surprise, Fear, Disgust, Neutral</a:t>
            </a:r>
          </a:p>
        </p:txBody>
      </p:sp>
      <p:sp>
        <p:nvSpPr>
          <p:cNvPr id="11" name="TextBox 10"/>
          <p:cNvSpPr txBox="1"/>
          <p:nvPr/>
        </p:nvSpPr>
        <p:spPr>
          <a:xfrm>
            <a:off x="685800" y="5212080"/>
            <a:ext cx="2990088" cy="502920"/>
          </a:xfrm>
          <a:prstGeom prst="rect">
            <a:avLst/>
          </a:prstGeom>
          <a:noFill/>
        </p:spPr>
        <p:txBody>
          <a:bodyPr wrap="square">
            <a:spAutoFit/>
          </a:bodyPr>
          <a:lstStyle/>
          <a:p>
            <a:pPr algn="l">
              <a:defRPr sz="1100" b="0">
                <a:solidFill>
                  <a:srgbClr val="94A3B8"/>
                </a:solidFill>
                <a:latin typeface="Trebuchet MS"/>
              </a:defRPr>
            </a:pPr>
            <a:r>
              <a:t>Emotion timeline and distribution charts generated per session</a:t>
            </a:r>
          </a:p>
        </p:txBody>
      </p:sp>
      <p:sp>
        <p:nvSpPr>
          <p:cNvPr id="12" name="Rounded Rectangle 11"/>
          <p:cNvSpPr/>
          <p:nvPr/>
        </p:nvSpPr>
        <p:spPr>
          <a:xfrm>
            <a:off x="4087368" y="3200400"/>
            <a:ext cx="3538728" cy="2743200"/>
          </a:xfrm>
          <a:prstGeom prst="roundRect">
            <a:avLst/>
          </a:prstGeom>
          <a:solidFill>
            <a:srgbClr val="111620"/>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0248" y="3383280"/>
            <a:ext cx="4572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15968" y="3611880"/>
            <a:ext cx="3081528" cy="365760"/>
          </a:xfrm>
          <a:prstGeom prst="rect">
            <a:avLst/>
          </a:prstGeom>
          <a:noFill/>
        </p:spPr>
        <p:txBody>
          <a:bodyPr wrap="square">
            <a:spAutoFit/>
          </a:bodyPr>
          <a:lstStyle/>
          <a:p>
            <a:pPr algn="l">
              <a:defRPr sz="1600" b="1">
                <a:solidFill>
                  <a:srgbClr val="FFFFFF"/>
                </a:solidFill>
                <a:latin typeface="Trebuchet MS"/>
              </a:defRPr>
            </a:pPr>
            <a:r>
              <a:t>Gaze Tracking</a:t>
            </a:r>
          </a:p>
        </p:txBody>
      </p:sp>
      <p:sp>
        <p:nvSpPr>
          <p:cNvPr id="15" name="TextBox 14"/>
          <p:cNvSpPr txBox="1"/>
          <p:nvPr/>
        </p:nvSpPr>
        <p:spPr>
          <a:xfrm>
            <a:off x="4407408" y="4114800"/>
            <a:ext cx="2990088" cy="502920"/>
          </a:xfrm>
          <a:prstGeom prst="rect">
            <a:avLst/>
          </a:prstGeom>
          <a:noFill/>
        </p:spPr>
        <p:txBody>
          <a:bodyPr wrap="square">
            <a:spAutoFit/>
          </a:bodyPr>
          <a:lstStyle/>
          <a:p>
            <a:pPr algn="l">
              <a:defRPr sz="1100" b="0">
                <a:solidFill>
                  <a:srgbClr val="94A3B8"/>
                </a:solidFill>
                <a:latin typeface="Trebuchet MS"/>
              </a:defRPr>
            </a:pPr>
            <a:r>
              <a:t>Google MediaPipe Face Mesh with 478 facial landmarks</a:t>
            </a:r>
          </a:p>
        </p:txBody>
      </p:sp>
      <p:sp>
        <p:nvSpPr>
          <p:cNvPr id="16" name="TextBox 15"/>
          <p:cNvSpPr txBox="1"/>
          <p:nvPr/>
        </p:nvSpPr>
        <p:spPr>
          <a:xfrm>
            <a:off x="4407408" y="4663440"/>
            <a:ext cx="2990088" cy="502920"/>
          </a:xfrm>
          <a:prstGeom prst="rect">
            <a:avLst/>
          </a:prstGeom>
          <a:noFill/>
        </p:spPr>
        <p:txBody>
          <a:bodyPr wrap="square">
            <a:spAutoFit/>
          </a:bodyPr>
          <a:lstStyle/>
          <a:p>
            <a:pPr algn="l">
              <a:defRPr sz="1100" b="0">
                <a:solidFill>
                  <a:srgbClr val="94A3B8"/>
                </a:solidFill>
                <a:latin typeface="Trebuchet MS"/>
              </a:defRPr>
            </a:pPr>
            <a:r>
              <a:t>Iris position mapping for precise on-screen gaze coordinates</a:t>
            </a:r>
          </a:p>
        </p:txBody>
      </p:sp>
      <p:sp>
        <p:nvSpPr>
          <p:cNvPr id="17" name="TextBox 16"/>
          <p:cNvSpPr txBox="1"/>
          <p:nvPr/>
        </p:nvSpPr>
        <p:spPr>
          <a:xfrm>
            <a:off x="4407408" y="5212080"/>
            <a:ext cx="2990088" cy="502920"/>
          </a:xfrm>
          <a:prstGeom prst="rect">
            <a:avLst/>
          </a:prstGeom>
          <a:noFill/>
        </p:spPr>
        <p:txBody>
          <a:bodyPr wrap="square">
            <a:spAutoFit/>
          </a:bodyPr>
          <a:lstStyle/>
          <a:p>
            <a:pPr algn="l">
              <a:defRPr sz="1100" b="0">
                <a:solidFill>
                  <a:srgbClr val="94A3B8"/>
                </a:solidFill>
                <a:latin typeface="Trebuchet MS"/>
              </a:defRPr>
            </a:pPr>
            <a:r>
              <a:t>On-ad / Off-ad detection to measure visual attention percentage</a:t>
            </a:r>
          </a:p>
        </p:txBody>
      </p:sp>
      <p:sp>
        <p:nvSpPr>
          <p:cNvPr id="18" name="Rounded Rectangle 17"/>
          <p:cNvSpPr/>
          <p:nvPr/>
        </p:nvSpPr>
        <p:spPr>
          <a:xfrm>
            <a:off x="7808976" y="3200400"/>
            <a:ext cx="3538728" cy="2743200"/>
          </a:xfrm>
          <a:prstGeom prst="roundRect">
            <a:avLst/>
          </a:prstGeom>
          <a:solidFill>
            <a:srgbClr val="111620"/>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91856" y="3383280"/>
            <a:ext cx="457200" cy="508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37576" y="3611880"/>
            <a:ext cx="3081528" cy="365760"/>
          </a:xfrm>
          <a:prstGeom prst="rect">
            <a:avLst/>
          </a:prstGeom>
          <a:noFill/>
        </p:spPr>
        <p:txBody>
          <a:bodyPr wrap="square">
            <a:spAutoFit/>
          </a:bodyPr>
          <a:lstStyle/>
          <a:p>
            <a:pPr algn="l">
              <a:defRPr sz="1600" b="1">
                <a:solidFill>
                  <a:srgbClr val="FFFFFF"/>
                </a:solidFill>
                <a:latin typeface="Trebuchet MS"/>
              </a:defRPr>
            </a:pPr>
            <a:r>
              <a:t>Behavioral Analytics</a:t>
            </a:r>
          </a:p>
        </p:txBody>
      </p:sp>
      <p:sp>
        <p:nvSpPr>
          <p:cNvPr id="21" name="TextBox 20"/>
          <p:cNvSpPr txBox="1"/>
          <p:nvPr/>
        </p:nvSpPr>
        <p:spPr>
          <a:xfrm>
            <a:off x="8129016" y="4114800"/>
            <a:ext cx="2990088" cy="502920"/>
          </a:xfrm>
          <a:prstGeom prst="rect">
            <a:avLst/>
          </a:prstGeom>
          <a:noFill/>
        </p:spPr>
        <p:txBody>
          <a:bodyPr wrap="square">
            <a:spAutoFit/>
          </a:bodyPr>
          <a:lstStyle/>
          <a:p>
            <a:pPr algn="l">
              <a:defRPr sz="1100" b="0">
                <a:solidFill>
                  <a:srgbClr val="94A3B8"/>
                </a:solidFill>
                <a:latin typeface="Trebuchet MS"/>
              </a:defRPr>
            </a:pPr>
            <a:r>
              <a:t>Mouse movement heatmaps, velocity tracking, hover zone analysis</a:t>
            </a:r>
          </a:p>
        </p:txBody>
      </p:sp>
      <p:sp>
        <p:nvSpPr>
          <p:cNvPr id="22" name="TextBox 21"/>
          <p:cNvSpPr txBox="1"/>
          <p:nvPr/>
        </p:nvSpPr>
        <p:spPr>
          <a:xfrm>
            <a:off x="8129016" y="4663440"/>
            <a:ext cx="2990088" cy="502920"/>
          </a:xfrm>
          <a:prstGeom prst="rect">
            <a:avLst/>
          </a:prstGeom>
          <a:noFill/>
        </p:spPr>
        <p:txBody>
          <a:bodyPr wrap="square">
            <a:spAutoFit/>
          </a:bodyPr>
          <a:lstStyle/>
          <a:p>
            <a:pPr algn="l">
              <a:defRPr sz="1100" b="0">
                <a:solidFill>
                  <a:srgbClr val="94A3B8"/>
                </a:solidFill>
                <a:latin typeface="Trebuchet MS"/>
              </a:defRPr>
            </a:pPr>
            <a:r>
              <a:t>Click tracking, idle time vs active time measurement</a:t>
            </a:r>
          </a:p>
        </p:txBody>
      </p:sp>
      <p:sp>
        <p:nvSpPr>
          <p:cNvPr id="23" name="TextBox 22"/>
          <p:cNvSpPr txBox="1"/>
          <p:nvPr/>
        </p:nvSpPr>
        <p:spPr>
          <a:xfrm>
            <a:off x="8129016" y="5212080"/>
            <a:ext cx="2990088" cy="502920"/>
          </a:xfrm>
          <a:prstGeom prst="rect">
            <a:avLst/>
          </a:prstGeom>
          <a:noFill/>
        </p:spPr>
        <p:txBody>
          <a:bodyPr wrap="square">
            <a:spAutoFit/>
          </a:bodyPr>
          <a:lstStyle/>
          <a:p>
            <a:pPr algn="l">
              <a:defRPr sz="1100" b="0">
                <a:solidFill>
                  <a:srgbClr val="94A3B8"/>
                </a:solidFill>
                <a:latin typeface="Trebuchet MS"/>
              </a:defRPr>
            </a:pPr>
            <a:r>
              <a:t>Tab visibility monitoring with keepalive data persistence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02</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Problem Statement</a:t>
            </a:r>
          </a:p>
        </p:txBody>
      </p:sp>
      <p:sp>
        <p:nvSpPr>
          <p:cNvPr id="5" name="Oval 4"/>
          <p:cNvSpPr/>
          <p:nvPr/>
        </p:nvSpPr>
        <p:spPr>
          <a:xfrm>
            <a:off x="822960" y="17881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737360"/>
            <a:ext cx="10241280" cy="502920"/>
          </a:xfrm>
          <a:prstGeom prst="rect">
            <a:avLst/>
          </a:prstGeom>
          <a:noFill/>
        </p:spPr>
        <p:txBody>
          <a:bodyPr wrap="square">
            <a:spAutoFit/>
          </a:bodyPr>
          <a:lstStyle/>
          <a:p>
            <a:pPr algn="l">
              <a:defRPr sz="1600" b="0">
                <a:solidFill>
                  <a:srgbClr val="94A3B8"/>
                </a:solidFill>
                <a:latin typeface="Trebuchet MS"/>
              </a:defRPr>
            </a:pPr>
            <a:r>
              <a:t>Traditional ad metrics (impressions, CTR) only measure surface-level interactions -- they cannot tell if a user actually looked at, understood, or emotionally responded to an advertisement.</a:t>
            </a:r>
          </a:p>
        </p:txBody>
      </p:sp>
      <p:sp>
        <p:nvSpPr>
          <p:cNvPr id="7" name="Oval 6"/>
          <p:cNvSpPr/>
          <p:nvPr/>
        </p:nvSpPr>
        <p:spPr>
          <a:xfrm>
            <a:off x="822960" y="27025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651760"/>
            <a:ext cx="10241280" cy="502920"/>
          </a:xfrm>
          <a:prstGeom prst="rect">
            <a:avLst/>
          </a:prstGeom>
          <a:noFill/>
        </p:spPr>
        <p:txBody>
          <a:bodyPr wrap="square">
            <a:spAutoFit/>
          </a:bodyPr>
          <a:lstStyle/>
          <a:p>
            <a:pPr algn="l">
              <a:defRPr sz="1600" b="0">
                <a:solidFill>
                  <a:srgbClr val="94A3B8"/>
                </a:solidFill>
                <a:latin typeface="Trebuchet MS"/>
              </a:defRPr>
            </a:pPr>
            <a:r>
              <a:rPr dirty="0"/>
              <a:t>Advertisers spend billions annually on digital ads with no reliable way to measure genuine human attention, leading to wasted budgets and ineffective campaigns.</a:t>
            </a:r>
          </a:p>
        </p:txBody>
      </p:sp>
      <p:sp>
        <p:nvSpPr>
          <p:cNvPr id="9" name="Oval 8"/>
          <p:cNvSpPr/>
          <p:nvPr/>
        </p:nvSpPr>
        <p:spPr>
          <a:xfrm>
            <a:off x="822960" y="36169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566160"/>
            <a:ext cx="10241280" cy="502920"/>
          </a:xfrm>
          <a:prstGeom prst="rect">
            <a:avLst/>
          </a:prstGeom>
          <a:noFill/>
        </p:spPr>
        <p:txBody>
          <a:bodyPr wrap="square">
            <a:spAutoFit/>
          </a:bodyPr>
          <a:lstStyle/>
          <a:p>
            <a:pPr algn="l">
              <a:defRPr sz="1600" b="0">
                <a:solidFill>
                  <a:srgbClr val="94A3B8"/>
                </a:solidFill>
                <a:latin typeface="Trebuchet MS"/>
              </a:defRPr>
            </a:pPr>
            <a:r>
              <a:t>No existing lightweight, browser-based solution combines facial emotion recognition, eye-gaze tracking, and behavioral analytics into a single embeddable script.</a:t>
            </a:r>
          </a:p>
        </p:txBody>
      </p:sp>
      <p:sp>
        <p:nvSpPr>
          <p:cNvPr id="11" name="Oval 10"/>
          <p:cNvSpPr/>
          <p:nvPr/>
        </p:nvSpPr>
        <p:spPr>
          <a:xfrm>
            <a:off x="822960" y="45313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4480560"/>
            <a:ext cx="10241280" cy="502920"/>
          </a:xfrm>
          <a:prstGeom prst="rect">
            <a:avLst/>
          </a:prstGeom>
          <a:noFill/>
        </p:spPr>
        <p:txBody>
          <a:bodyPr wrap="square">
            <a:spAutoFit/>
          </a:bodyPr>
          <a:lstStyle/>
          <a:p>
            <a:pPr algn="l">
              <a:defRPr sz="1600" b="0">
                <a:solidFill>
                  <a:srgbClr val="94A3B8"/>
                </a:solidFill>
                <a:latin typeface="Trebuchet MS"/>
              </a:defRPr>
            </a:pPr>
            <a:r>
              <a:t>Current solutions require expensive hardware (eye-tracking glasses, EEG headsets) or controlled lab environments, making them impractical for real-world ad tracking.</a:t>
            </a:r>
          </a:p>
        </p:txBody>
      </p:sp>
      <p:sp>
        <p:nvSpPr>
          <p:cNvPr id="13" name="Oval 12"/>
          <p:cNvSpPr/>
          <p:nvPr/>
        </p:nvSpPr>
        <p:spPr>
          <a:xfrm>
            <a:off x="822960" y="54457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394960"/>
            <a:ext cx="10241280" cy="502920"/>
          </a:xfrm>
          <a:prstGeom prst="rect">
            <a:avLst/>
          </a:prstGeom>
          <a:noFill/>
        </p:spPr>
        <p:txBody>
          <a:bodyPr wrap="square">
            <a:spAutoFit/>
          </a:bodyPr>
          <a:lstStyle/>
          <a:p>
            <a:pPr algn="l">
              <a:defRPr sz="1600" b="0">
                <a:solidFill>
                  <a:srgbClr val="94A3B8"/>
                </a:solidFill>
                <a:latin typeface="Trebuchet MS"/>
              </a:defRPr>
            </a:pPr>
            <a:r>
              <a:t>Privacy concerns around webcam-based tracking remain unaddressed -- existing tools often store raw video data, creating significant security and compliance risks.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03</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Objectives</a:t>
            </a:r>
          </a:p>
        </p:txBody>
      </p:sp>
      <p:sp>
        <p:nvSpPr>
          <p:cNvPr id="5" name="Oval 4"/>
          <p:cNvSpPr/>
          <p:nvPr/>
        </p:nvSpPr>
        <p:spPr>
          <a:xfrm>
            <a:off x="822960" y="17881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737360"/>
            <a:ext cx="10241280" cy="502920"/>
          </a:xfrm>
          <a:prstGeom prst="rect">
            <a:avLst/>
          </a:prstGeom>
          <a:noFill/>
        </p:spPr>
        <p:txBody>
          <a:bodyPr wrap="square">
            <a:spAutoFit/>
          </a:bodyPr>
          <a:lstStyle/>
          <a:p>
            <a:pPr algn="l">
              <a:defRPr sz="1600" b="0">
                <a:solidFill>
                  <a:srgbClr val="94A3B8"/>
                </a:solidFill>
                <a:latin typeface="Trebuchet MS"/>
              </a:defRPr>
            </a:pPr>
            <a:r>
              <a:t>Build a real-time ad analytics engine using browser-based AI (MediaPipe + FER) that processes webcam data without storing any raw video frames.</a:t>
            </a:r>
          </a:p>
        </p:txBody>
      </p:sp>
      <p:sp>
        <p:nvSpPr>
          <p:cNvPr id="7" name="Oval 6"/>
          <p:cNvSpPr/>
          <p:nvPr/>
        </p:nvSpPr>
        <p:spPr>
          <a:xfrm>
            <a:off x="822960" y="27025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651760"/>
            <a:ext cx="10241280" cy="502920"/>
          </a:xfrm>
          <a:prstGeom prst="rect">
            <a:avLst/>
          </a:prstGeom>
          <a:noFill/>
        </p:spPr>
        <p:txBody>
          <a:bodyPr wrap="square">
            <a:spAutoFit/>
          </a:bodyPr>
          <a:lstStyle/>
          <a:p>
            <a:pPr algn="l">
              <a:defRPr sz="1600" b="0">
                <a:solidFill>
                  <a:srgbClr val="94A3B8"/>
                </a:solidFill>
                <a:latin typeface="Trebuchet MS"/>
              </a:defRPr>
            </a:pPr>
            <a:r>
              <a:t>Develop a lightweight, embeddable JavaScript tracking script (trace.js) that can be integrated into any website with a single &lt;script&gt; tag.</a:t>
            </a:r>
          </a:p>
        </p:txBody>
      </p:sp>
      <p:sp>
        <p:nvSpPr>
          <p:cNvPr id="9" name="Oval 8"/>
          <p:cNvSpPr/>
          <p:nvPr/>
        </p:nvSpPr>
        <p:spPr>
          <a:xfrm>
            <a:off x="822960" y="36169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566160"/>
            <a:ext cx="10241280" cy="502920"/>
          </a:xfrm>
          <a:prstGeom prst="rect">
            <a:avLst/>
          </a:prstGeom>
          <a:noFill/>
        </p:spPr>
        <p:txBody>
          <a:bodyPr wrap="square">
            <a:spAutoFit/>
          </a:bodyPr>
          <a:lstStyle/>
          <a:p>
            <a:pPr algn="l">
              <a:defRPr sz="1600" b="0">
                <a:solidFill>
                  <a:srgbClr val="94A3B8"/>
                </a:solidFill>
                <a:latin typeface="Trebuchet MS"/>
              </a:defRPr>
            </a:pPr>
            <a:r>
              <a:t>Create a comprehensive SaaS dashboard (React + FastAPI) providing advertisers with engagement scores, emotion distribution, attention heatmaps, and gaze overlays.</a:t>
            </a:r>
          </a:p>
        </p:txBody>
      </p:sp>
      <p:sp>
        <p:nvSpPr>
          <p:cNvPr id="11" name="Oval 10"/>
          <p:cNvSpPr/>
          <p:nvPr/>
        </p:nvSpPr>
        <p:spPr>
          <a:xfrm>
            <a:off x="822960" y="45313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4480560"/>
            <a:ext cx="10241280" cy="502920"/>
          </a:xfrm>
          <a:prstGeom prst="rect">
            <a:avLst/>
          </a:prstGeom>
          <a:noFill/>
        </p:spPr>
        <p:txBody>
          <a:bodyPr wrap="square">
            <a:spAutoFit/>
          </a:bodyPr>
          <a:lstStyle/>
          <a:p>
            <a:pPr algn="l">
              <a:defRPr sz="1600" b="0">
                <a:solidFill>
                  <a:srgbClr val="94A3B8"/>
                </a:solidFill>
                <a:latin typeface="Trebuchet MS"/>
              </a:defRPr>
            </a:pPr>
            <a:r>
              <a:t>Implement a complete subscription management system with UPI-based payment processing, admin verification workflows, and campaign limit enforcement.</a:t>
            </a:r>
          </a:p>
        </p:txBody>
      </p:sp>
      <p:sp>
        <p:nvSpPr>
          <p:cNvPr id="13" name="Oval 12"/>
          <p:cNvSpPr/>
          <p:nvPr/>
        </p:nvSpPr>
        <p:spPr>
          <a:xfrm>
            <a:off x="822960" y="5445760"/>
            <a:ext cx="101600" cy="1016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394960"/>
            <a:ext cx="10241280" cy="502920"/>
          </a:xfrm>
          <a:prstGeom prst="rect">
            <a:avLst/>
          </a:prstGeom>
          <a:noFill/>
        </p:spPr>
        <p:txBody>
          <a:bodyPr wrap="square">
            <a:spAutoFit/>
          </a:bodyPr>
          <a:lstStyle/>
          <a:p>
            <a:pPr algn="l">
              <a:defRPr sz="1600" b="0">
                <a:solidFill>
                  <a:srgbClr val="94A3B8"/>
                </a:solidFill>
                <a:latin typeface="Trebuchet MS"/>
              </a:defRPr>
            </a:pPr>
            <a:r>
              <a:t>Design a privacy-first architecture where facial data is processed in real-time and only computed analytics (emotion labels, gaze coordinates) are retained.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04</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System Flowchart</a:t>
            </a:r>
          </a:p>
        </p:txBody>
      </p:sp>
      <p:sp>
        <p:nvSpPr>
          <p:cNvPr id="5" name="Rounded Rectangle 4"/>
          <p:cNvSpPr/>
          <p:nvPr/>
        </p:nvSpPr>
        <p:spPr>
          <a:xfrm>
            <a:off x="320040" y="2011680"/>
            <a:ext cx="1234440" cy="914400"/>
          </a:xfrm>
          <a:prstGeom prst="roundRect">
            <a:avLst/>
          </a:prstGeom>
          <a:solidFill>
            <a:srgbClr val="111620"/>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2160" y="1846580"/>
            <a:ext cx="330200" cy="330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1</a:t>
            </a:r>
          </a:p>
        </p:txBody>
      </p:sp>
      <p:sp>
        <p:nvSpPr>
          <p:cNvPr id="7" name="TextBox 6"/>
          <p:cNvSpPr txBox="1"/>
          <p:nvPr/>
        </p:nvSpPr>
        <p:spPr>
          <a:xfrm>
            <a:off x="320040" y="2148840"/>
            <a:ext cx="1234440" cy="777240"/>
          </a:xfrm>
          <a:prstGeom prst="rect">
            <a:avLst/>
          </a:prstGeom>
          <a:noFill/>
        </p:spPr>
        <p:txBody>
          <a:bodyPr wrap="square">
            <a:spAutoFit/>
          </a:bodyPr>
          <a:lstStyle/>
          <a:p>
            <a:pPr algn="ctr">
              <a:defRPr sz="1100" b="1">
                <a:solidFill>
                  <a:srgbClr val="FFFFFF"/>
                </a:solidFill>
                <a:latin typeface="Trebuchet MS"/>
              </a:defRPr>
            </a:pPr>
            <a:r>
              <a:t>User Visits</a:t>
            </a:r>
            <a:br/>
            <a:r>
              <a:t>Website</a:t>
            </a:r>
          </a:p>
        </p:txBody>
      </p:sp>
      <p:sp>
        <p:nvSpPr>
          <p:cNvPr id="8" name="TextBox 7"/>
          <p:cNvSpPr txBox="1"/>
          <p:nvPr/>
        </p:nvSpPr>
        <p:spPr>
          <a:xfrm>
            <a:off x="1554480"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9" name="Rounded Rectangle 8"/>
          <p:cNvSpPr/>
          <p:nvPr/>
        </p:nvSpPr>
        <p:spPr>
          <a:xfrm>
            <a:off x="1755648" y="2011680"/>
            <a:ext cx="1234440" cy="914400"/>
          </a:xfrm>
          <a:prstGeom prst="roundRect">
            <a:avLst/>
          </a:prstGeom>
          <a:solidFill>
            <a:srgbClr val="111620"/>
          </a:solidFill>
          <a:ln w="254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207768" y="1846580"/>
            <a:ext cx="330200" cy="330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2</a:t>
            </a:r>
          </a:p>
        </p:txBody>
      </p:sp>
      <p:sp>
        <p:nvSpPr>
          <p:cNvPr id="11" name="TextBox 10"/>
          <p:cNvSpPr txBox="1"/>
          <p:nvPr/>
        </p:nvSpPr>
        <p:spPr>
          <a:xfrm>
            <a:off x="1755648" y="2148840"/>
            <a:ext cx="1234440" cy="777240"/>
          </a:xfrm>
          <a:prstGeom prst="rect">
            <a:avLst/>
          </a:prstGeom>
          <a:noFill/>
        </p:spPr>
        <p:txBody>
          <a:bodyPr wrap="square">
            <a:spAutoFit/>
          </a:bodyPr>
          <a:lstStyle/>
          <a:p>
            <a:pPr algn="ctr">
              <a:defRPr sz="1100" b="1">
                <a:solidFill>
                  <a:srgbClr val="FFFFFF"/>
                </a:solidFill>
                <a:latin typeface="Trebuchet MS"/>
              </a:defRPr>
            </a:pPr>
            <a:r>
              <a:t>trace.js</a:t>
            </a:r>
            <a:br/>
            <a:r>
              <a:t>Loads</a:t>
            </a:r>
          </a:p>
        </p:txBody>
      </p:sp>
      <p:sp>
        <p:nvSpPr>
          <p:cNvPr id="12" name="TextBox 11"/>
          <p:cNvSpPr txBox="1"/>
          <p:nvPr/>
        </p:nvSpPr>
        <p:spPr>
          <a:xfrm>
            <a:off x="2990088"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13" name="Rounded Rectangle 12"/>
          <p:cNvSpPr/>
          <p:nvPr/>
        </p:nvSpPr>
        <p:spPr>
          <a:xfrm>
            <a:off x="3191256" y="2011680"/>
            <a:ext cx="1234440" cy="914400"/>
          </a:xfrm>
          <a:prstGeom prst="roundRect">
            <a:avLst/>
          </a:prstGeom>
          <a:solidFill>
            <a:srgbClr val="111620"/>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43376" y="1846580"/>
            <a:ext cx="330200" cy="33020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3</a:t>
            </a:r>
          </a:p>
        </p:txBody>
      </p:sp>
      <p:sp>
        <p:nvSpPr>
          <p:cNvPr id="15" name="TextBox 14"/>
          <p:cNvSpPr txBox="1"/>
          <p:nvPr/>
        </p:nvSpPr>
        <p:spPr>
          <a:xfrm>
            <a:off x="3191256" y="2148840"/>
            <a:ext cx="1234440" cy="777240"/>
          </a:xfrm>
          <a:prstGeom prst="rect">
            <a:avLst/>
          </a:prstGeom>
          <a:noFill/>
        </p:spPr>
        <p:txBody>
          <a:bodyPr wrap="square">
            <a:spAutoFit/>
          </a:bodyPr>
          <a:lstStyle/>
          <a:p>
            <a:pPr algn="ctr">
              <a:defRPr sz="1100" b="1">
                <a:solidFill>
                  <a:srgbClr val="FFFFFF"/>
                </a:solidFill>
                <a:latin typeface="Trebuchet MS"/>
              </a:defRPr>
            </a:pPr>
            <a:r>
              <a:t>Ad Overlay</a:t>
            </a:r>
            <a:br/>
            <a:r>
              <a:t>Displayed</a:t>
            </a:r>
          </a:p>
        </p:txBody>
      </p:sp>
      <p:sp>
        <p:nvSpPr>
          <p:cNvPr id="16" name="TextBox 15"/>
          <p:cNvSpPr txBox="1"/>
          <p:nvPr/>
        </p:nvSpPr>
        <p:spPr>
          <a:xfrm>
            <a:off x="4425696"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17" name="Rounded Rectangle 16"/>
          <p:cNvSpPr/>
          <p:nvPr/>
        </p:nvSpPr>
        <p:spPr>
          <a:xfrm>
            <a:off x="4626864" y="2011680"/>
            <a:ext cx="1234440" cy="914400"/>
          </a:xfrm>
          <a:prstGeom prst="roundRect">
            <a:avLst/>
          </a:prstGeom>
          <a:solidFill>
            <a:srgbClr val="111620"/>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078984" y="1846580"/>
            <a:ext cx="330200" cy="3302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4</a:t>
            </a:r>
          </a:p>
        </p:txBody>
      </p:sp>
      <p:sp>
        <p:nvSpPr>
          <p:cNvPr id="19" name="TextBox 18"/>
          <p:cNvSpPr txBox="1"/>
          <p:nvPr/>
        </p:nvSpPr>
        <p:spPr>
          <a:xfrm>
            <a:off x="4626864" y="2148840"/>
            <a:ext cx="1234440" cy="777240"/>
          </a:xfrm>
          <a:prstGeom prst="rect">
            <a:avLst/>
          </a:prstGeom>
          <a:noFill/>
        </p:spPr>
        <p:txBody>
          <a:bodyPr wrap="square">
            <a:spAutoFit/>
          </a:bodyPr>
          <a:lstStyle/>
          <a:p>
            <a:pPr algn="ctr">
              <a:defRPr sz="1100" b="1">
                <a:solidFill>
                  <a:srgbClr val="FFFFFF"/>
                </a:solidFill>
                <a:latin typeface="Trebuchet MS"/>
              </a:defRPr>
            </a:pPr>
            <a:r>
              <a:t>Webcam +</a:t>
            </a:r>
            <a:br/>
            <a:r>
              <a:t>Mouse Capture</a:t>
            </a:r>
          </a:p>
        </p:txBody>
      </p:sp>
      <p:sp>
        <p:nvSpPr>
          <p:cNvPr id="20" name="TextBox 19"/>
          <p:cNvSpPr txBox="1"/>
          <p:nvPr/>
        </p:nvSpPr>
        <p:spPr>
          <a:xfrm>
            <a:off x="5861304"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21" name="Rounded Rectangle 20"/>
          <p:cNvSpPr/>
          <p:nvPr/>
        </p:nvSpPr>
        <p:spPr>
          <a:xfrm>
            <a:off x="6062472" y="2011680"/>
            <a:ext cx="1234440" cy="914400"/>
          </a:xfrm>
          <a:prstGeom prst="roundRect">
            <a:avLst/>
          </a:prstGeom>
          <a:solidFill>
            <a:srgbClr val="111620"/>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514592" y="1846580"/>
            <a:ext cx="330200" cy="3302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5</a:t>
            </a:r>
          </a:p>
        </p:txBody>
      </p:sp>
      <p:sp>
        <p:nvSpPr>
          <p:cNvPr id="23" name="TextBox 22"/>
          <p:cNvSpPr txBox="1"/>
          <p:nvPr/>
        </p:nvSpPr>
        <p:spPr>
          <a:xfrm>
            <a:off x="6062472" y="2148840"/>
            <a:ext cx="1234440" cy="777240"/>
          </a:xfrm>
          <a:prstGeom prst="rect">
            <a:avLst/>
          </a:prstGeom>
          <a:noFill/>
        </p:spPr>
        <p:txBody>
          <a:bodyPr wrap="square">
            <a:spAutoFit/>
          </a:bodyPr>
          <a:lstStyle/>
          <a:p>
            <a:pPr algn="ctr">
              <a:defRPr sz="1100" b="1">
                <a:solidFill>
                  <a:srgbClr val="FFFFFF"/>
                </a:solidFill>
                <a:latin typeface="Trebuchet MS"/>
              </a:defRPr>
            </a:pPr>
            <a:r>
              <a:t>WebSocket</a:t>
            </a:r>
            <a:br/>
            <a:r>
              <a:t>AI Engine</a:t>
            </a:r>
          </a:p>
        </p:txBody>
      </p:sp>
      <p:sp>
        <p:nvSpPr>
          <p:cNvPr id="24" name="TextBox 23"/>
          <p:cNvSpPr txBox="1"/>
          <p:nvPr/>
        </p:nvSpPr>
        <p:spPr>
          <a:xfrm>
            <a:off x="7296912"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25" name="Rounded Rectangle 24"/>
          <p:cNvSpPr/>
          <p:nvPr/>
        </p:nvSpPr>
        <p:spPr>
          <a:xfrm>
            <a:off x="7498080" y="2011680"/>
            <a:ext cx="1234440" cy="914400"/>
          </a:xfrm>
          <a:prstGeom prst="roundRect">
            <a:avLst/>
          </a:prstGeom>
          <a:solidFill>
            <a:srgbClr val="111620"/>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50200" y="1846580"/>
            <a:ext cx="330200" cy="33020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6</a:t>
            </a:r>
          </a:p>
        </p:txBody>
      </p:sp>
      <p:sp>
        <p:nvSpPr>
          <p:cNvPr id="27" name="TextBox 26"/>
          <p:cNvSpPr txBox="1"/>
          <p:nvPr/>
        </p:nvSpPr>
        <p:spPr>
          <a:xfrm>
            <a:off x="7498080" y="2148840"/>
            <a:ext cx="1234440" cy="777240"/>
          </a:xfrm>
          <a:prstGeom prst="rect">
            <a:avLst/>
          </a:prstGeom>
          <a:noFill/>
        </p:spPr>
        <p:txBody>
          <a:bodyPr wrap="square">
            <a:spAutoFit/>
          </a:bodyPr>
          <a:lstStyle/>
          <a:p>
            <a:pPr algn="ctr">
              <a:defRPr sz="1100" b="1">
                <a:solidFill>
                  <a:srgbClr val="FFFFFF"/>
                </a:solidFill>
                <a:latin typeface="Trebuchet MS"/>
              </a:defRPr>
            </a:pPr>
            <a:r>
              <a:t>Emotion +</a:t>
            </a:r>
            <a:br/>
            <a:r>
              <a:t>Gaze Analysis</a:t>
            </a:r>
          </a:p>
        </p:txBody>
      </p:sp>
      <p:sp>
        <p:nvSpPr>
          <p:cNvPr id="28" name="TextBox 27"/>
          <p:cNvSpPr txBox="1"/>
          <p:nvPr/>
        </p:nvSpPr>
        <p:spPr>
          <a:xfrm>
            <a:off x="8732520"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29" name="Rounded Rectangle 28"/>
          <p:cNvSpPr/>
          <p:nvPr/>
        </p:nvSpPr>
        <p:spPr>
          <a:xfrm>
            <a:off x="8933688" y="2011680"/>
            <a:ext cx="1234440" cy="914400"/>
          </a:xfrm>
          <a:prstGeom prst="roundRect">
            <a:avLst/>
          </a:prstGeom>
          <a:solidFill>
            <a:srgbClr val="111620"/>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385808" y="1846580"/>
            <a:ext cx="330200" cy="330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7</a:t>
            </a:r>
          </a:p>
        </p:txBody>
      </p:sp>
      <p:sp>
        <p:nvSpPr>
          <p:cNvPr id="31" name="TextBox 30"/>
          <p:cNvSpPr txBox="1"/>
          <p:nvPr/>
        </p:nvSpPr>
        <p:spPr>
          <a:xfrm>
            <a:off x="8933688" y="2148840"/>
            <a:ext cx="1234440" cy="777240"/>
          </a:xfrm>
          <a:prstGeom prst="rect">
            <a:avLst/>
          </a:prstGeom>
          <a:noFill/>
        </p:spPr>
        <p:txBody>
          <a:bodyPr wrap="square">
            <a:spAutoFit/>
          </a:bodyPr>
          <a:lstStyle/>
          <a:p>
            <a:pPr algn="ctr">
              <a:defRPr sz="1100" b="1">
                <a:solidFill>
                  <a:srgbClr val="FFFFFF"/>
                </a:solidFill>
                <a:latin typeface="Trebuchet MS"/>
              </a:defRPr>
            </a:pPr>
            <a:r>
              <a:t>Session Data</a:t>
            </a:r>
            <a:br/>
            <a:r>
              <a:t>MongoDB</a:t>
            </a:r>
          </a:p>
        </p:txBody>
      </p:sp>
      <p:sp>
        <p:nvSpPr>
          <p:cNvPr id="32" name="TextBox 31"/>
          <p:cNvSpPr txBox="1"/>
          <p:nvPr/>
        </p:nvSpPr>
        <p:spPr>
          <a:xfrm>
            <a:off x="10168128" y="2240280"/>
            <a:ext cx="201168" cy="457200"/>
          </a:xfrm>
          <a:prstGeom prst="rect">
            <a:avLst/>
          </a:prstGeom>
          <a:noFill/>
        </p:spPr>
        <p:txBody>
          <a:bodyPr wrap="square">
            <a:spAutoFit/>
          </a:bodyPr>
          <a:lstStyle/>
          <a:p>
            <a:pPr algn="ctr">
              <a:defRPr sz="1400" b="0">
                <a:solidFill>
                  <a:srgbClr val="64748B"/>
                </a:solidFill>
                <a:latin typeface="Trebuchet MS"/>
              </a:defRPr>
            </a:pPr>
            <a:r>
              <a:t>&gt;&gt;</a:t>
            </a:r>
          </a:p>
        </p:txBody>
      </p:sp>
      <p:sp>
        <p:nvSpPr>
          <p:cNvPr id="33" name="Rounded Rectangle 32"/>
          <p:cNvSpPr/>
          <p:nvPr/>
        </p:nvSpPr>
        <p:spPr>
          <a:xfrm>
            <a:off x="10369296" y="2011680"/>
            <a:ext cx="1234440" cy="914400"/>
          </a:xfrm>
          <a:prstGeom prst="roundRect">
            <a:avLst/>
          </a:prstGeom>
          <a:solidFill>
            <a:srgbClr val="111620"/>
          </a:solidFill>
          <a:ln w="254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821416" y="1846580"/>
            <a:ext cx="330200" cy="330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100" b="1">
                <a:solidFill>
                  <a:srgbClr val="FFFFFF"/>
                </a:solidFill>
                <a:latin typeface="Trebuchet MS"/>
              </a:defRPr>
            </a:pPr>
            <a:r>
              <a:t>8</a:t>
            </a:r>
          </a:p>
        </p:txBody>
      </p:sp>
      <p:sp>
        <p:nvSpPr>
          <p:cNvPr id="35" name="TextBox 34"/>
          <p:cNvSpPr txBox="1"/>
          <p:nvPr/>
        </p:nvSpPr>
        <p:spPr>
          <a:xfrm>
            <a:off x="10369296" y="2148840"/>
            <a:ext cx="1234440" cy="777240"/>
          </a:xfrm>
          <a:prstGeom prst="rect">
            <a:avLst/>
          </a:prstGeom>
          <a:noFill/>
        </p:spPr>
        <p:txBody>
          <a:bodyPr wrap="square">
            <a:spAutoFit/>
          </a:bodyPr>
          <a:lstStyle/>
          <a:p>
            <a:pPr algn="ctr">
              <a:defRPr sz="1100" b="1">
                <a:solidFill>
                  <a:srgbClr val="FFFFFF"/>
                </a:solidFill>
                <a:latin typeface="Trebuchet MS"/>
              </a:defRPr>
            </a:pPr>
            <a:r>
              <a:t>Dashboard</a:t>
            </a:r>
            <a:br/>
            <a:r>
              <a:t>Visualization</a:t>
            </a:r>
          </a:p>
        </p:txBody>
      </p:sp>
      <p:sp>
        <p:nvSpPr>
          <p:cNvPr id="36" name="Rounded Rectangle 35"/>
          <p:cNvSpPr/>
          <p:nvPr/>
        </p:nvSpPr>
        <p:spPr>
          <a:xfrm>
            <a:off x="365760" y="3383280"/>
            <a:ext cx="3538728" cy="2743200"/>
          </a:xfrm>
          <a:prstGeom prst="roundRect">
            <a:avLst/>
          </a:prstGeom>
          <a:solidFill>
            <a:srgbClr val="111620"/>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48640" y="3566160"/>
            <a:ext cx="4572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3749040"/>
            <a:ext cx="3081528" cy="365760"/>
          </a:xfrm>
          <a:prstGeom prst="rect">
            <a:avLst/>
          </a:prstGeom>
          <a:noFill/>
        </p:spPr>
        <p:txBody>
          <a:bodyPr wrap="square">
            <a:spAutoFit/>
          </a:bodyPr>
          <a:lstStyle/>
          <a:p>
            <a:pPr algn="l">
              <a:defRPr sz="1500" b="1">
                <a:solidFill>
                  <a:srgbClr val="FFFFFF"/>
                </a:solidFill>
                <a:latin typeface="Trebuchet MS"/>
              </a:defRPr>
            </a:pPr>
            <a:r>
              <a:t>Frontend Layer</a:t>
            </a:r>
          </a:p>
        </p:txBody>
      </p:sp>
      <p:sp>
        <p:nvSpPr>
          <p:cNvPr id="39" name="TextBox 38"/>
          <p:cNvSpPr txBox="1"/>
          <p:nvPr/>
        </p:nvSpPr>
        <p:spPr>
          <a:xfrm>
            <a:off x="685800" y="4297680"/>
            <a:ext cx="2990088" cy="365760"/>
          </a:xfrm>
          <a:prstGeom prst="rect">
            <a:avLst/>
          </a:prstGeom>
          <a:noFill/>
        </p:spPr>
        <p:txBody>
          <a:bodyPr wrap="square">
            <a:spAutoFit/>
          </a:bodyPr>
          <a:lstStyle/>
          <a:p>
            <a:pPr algn="l">
              <a:defRPr sz="1100" b="0">
                <a:solidFill>
                  <a:srgbClr val="94A3B8"/>
                </a:solidFill>
                <a:latin typeface="Trebuchet MS"/>
              </a:defRPr>
            </a:pPr>
            <a:r>
              <a:t>  React 18 + Vite for SPA dashboard</a:t>
            </a:r>
          </a:p>
        </p:txBody>
      </p:sp>
      <p:sp>
        <p:nvSpPr>
          <p:cNvPr id="40" name="TextBox 39"/>
          <p:cNvSpPr txBox="1"/>
          <p:nvPr/>
        </p:nvSpPr>
        <p:spPr>
          <a:xfrm>
            <a:off x="685800" y="4709160"/>
            <a:ext cx="2990088" cy="365760"/>
          </a:xfrm>
          <a:prstGeom prst="rect">
            <a:avLst/>
          </a:prstGeom>
          <a:noFill/>
        </p:spPr>
        <p:txBody>
          <a:bodyPr wrap="square">
            <a:spAutoFit/>
          </a:bodyPr>
          <a:lstStyle/>
          <a:p>
            <a:pPr algn="l">
              <a:defRPr sz="1100" b="0">
                <a:solidFill>
                  <a:srgbClr val="94A3B8"/>
                </a:solidFill>
                <a:latin typeface="Trebuchet MS"/>
              </a:defRPr>
            </a:pPr>
            <a:r>
              <a:t>  Tailwind CSS responsive styling</a:t>
            </a:r>
          </a:p>
        </p:txBody>
      </p:sp>
      <p:sp>
        <p:nvSpPr>
          <p:cNvPr id="41" name="TextBox 40"/>
          <p:cNvSpPr txBox="1"/>
          <p:nvPr/>
        </p:nvSpPr>
        <p:spPr>
          <a:xfrm>
            <a:off x="685800" y="5120640"/>
            <a:ext cx="2990088" cy="365760"/>
          </a:xfrm>
          <a:prstGeom prst="rect">
            <a:avLst/>
          </a:prstGeom>
          <a:noFill/>
        </p:spPr>
        <p:txBody>
          <a:bodyPr wrap="square">
            <a:spAutoFit/>
          </a:bodyPr>
          <a:lstStyle/>
          <a:p>
            <a:pPr algn="l">
              <a:defRPr sz="1100" b="0">
                <a:solidFill>
                  <a:srgbClr val="94A3B8"/>
                </a:solidFill>
                <a:latin typeface="Trebuchet MS"/>
              </a:defRPr>
            </a:pPr>
            <a:r>
              <a:t>  trace.js (Vanilla JS) tracking engine</a:t>
            </a:r>
          </a:p>
        </p:txBody>
      </p:sp>
      <p:sp>
        <p:nvSpPr>
          <p:cNvPr id="42" name="TextBox 41"/>
          <p:cNvSpPr txBox="1"/>
          <p:nvPr/>
        </p:nvSpPr>
        <p:spPr>
          <a:xfrm>
            <a:off x="685800" y="5532120"/>
            <a:ext cx="2990088" cy="365760"/>
          </a:xfrm>
          <a:prstGeom prst="rect">
            <a:avLst/>
          </a:prstGeom>
          <a:noFill/>
        </p:spPr>
        <p:txBody>
          <a:bodyPr wrap="square">
            <a:spAutoFit/>
          </a:bodyPr>
          <a:lstStyle/>
          <a:p>
            <a:pPr algn="l">
              <a:defRPr sz="1100" b="0">
                <a:solidFill>
                  <a:srgbClr val="94A3B8"/>
                </a:solidFill>
                <a:latin typeface="Trebuchet MS"/>
              </a:defRPr>
            </a:pPr>
            <a:r>
              <a:t>  Recharts for analytics visualization</a:t>
            </a:r>
          </a:p>
        </p:txBody>
      </p:sp>
      <p:sp>
        <p:nvSpPr>
          <p:cNvPr id="43" name="Rounded Rectangle 42"/>
          <p:cNvSpPr/>
          <p:nvPr/>
        </p:nvSpPr>
        <p:spPr>
          <a:xfrm>
            <a:off x="4087368" y="3383280"/>
            <a:ext cx="3538728" cy="2743200"/>
          </a:xfrm>
          <a:prstGeom prst="roundRect">
            <a:avLst/>
          </a:prstGeom>
          <a:solidFill>
            <a:srgbClr val="111620"/>
          </a:solidFill>
          <a:ln w="12700">
            <a:solidFill>
              <a:srgbClr val="FF4D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270248" y="3566160"/>
            <a:ext cx="4572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315968" y="3749040"/>
            <a:ext cx="3081528" cy="365760"/>
          </a:xfrm>
          <a:prstGeom prst="rect">
            <a:avLst/>
          </a:prstGeom>
          <a:noFill/>
        </p:spPr>
        <p:txBody>
          <a:bodyPr wrap="square">
            <a:spAutoFit/>
          </a:bodyPr>
          <a:lstStyle/>
          <a:p>
            <a:pPr algn="l">
              <a:defRPr sz="1500" b="1">
                <a:solidFill>
                  <a:srgbClr val="FFFFFF"/>
                </a:solidFill>
                <a:latin typeface="Trebuchet MS"/>
              </a:defRPr>
            </a:pPr>
            <a:r>
              <a:t>Backend Layer</a:t>
            </a:r>
          </a:p>
        </p:txBody>
      </p:sp>
      <p:sp>
        <p:nvSpPr>
          <p:cNvPr id="46" name="TextBox 45"/>
          <p:cNvSpPr txBox="1"/>
          <p:nvPr/>
        </p:nvSpPr>
        <p:spPr>
          <a:xfrm>
            <a:off x="4407408" y="4297680"/>
            <a:ext cx="2990088" cy="365760"/>
          </a:xfrm>
          <a:prstGeom prst="rect">
            <a:avLst/>
          </a:prstGeom>
          <a:noFill/>
        </p:spPr>
        <p:txBody>
          <a:bodyPr wrap="square">
            <a:spAutoFit/>
          </a:bodyPr>
          <a:lstStyle/>
          <a:p>
            <a:pPr algn="l">
              <a:defRPr sz="1100" b="0">
                <a:solidFill>
                  <a:srgbClr val="94A3B8"/>
                </a:solidFill>
                <a:latin typeface="Trebuchet MS"/>
              </a:defRPr>
            </a:pPr>
            <a:r>
              <a:t>  FastAPI (Python) REST API</a:t>
            </a:r>
          </a:p>
        </p:txBody>
      </p:sp>
      <p:sp>
        <p:nvSpPr>
          <p:cNvPr id="47" name="TextBox 46"/>
          <p:cNvSpPr txBox="1"/>
          <p:nvPr/>
        </p:nvSpPr>
        <p:spPr>
          <a:xfrm>
            <a:off x="4407408" y="4709160"/>
            <a:ext cx="2990088" cy="365760"/>
          </a:xfrm>
          <a:prstGeom prst="rect">
            <a:avLst/>
          </a:prstGeom>
          <a:noFill/>
        </p:spPr>
        <p:txBody>
          <a:bodyPr wrap="square">
            <a:spAutoFit/>
          </a:bodyPr>
          <a:lstStyle/>
          <a:p>
            <a:pPr algn="l">
              <a:defRPr sz="1100" b="0">
                <a:solidFill>
                  <a:srgbClr val="94A3B8"/>
                </a:solidFill>
                <a:latin typeface="Trebuchet MS"/>
              </a:defRPr>
            </a:pPr>
            <a:r>
              <a:t>  WebSocket for real-time AI streaming</a:t>
            </a:r>
          </a:p>
        </p:txBody>
      </p:sp>
      <p:sp>
        <p:nvSpPr>
          <p:cNvPr id="48" name="TextBox 47"/>
          <p:cNvSpPr txBox="1"/>
          <p:nvPr/>
        </p:nvSpPr>
        <p:spPr>
          <a:xfrm>
            <a:off x="4407408" y="5120640"/>
            <a:ext cx="2990088" cy="365760"/>
          </a:xfrm>
          <a:prstGeom prst="rect">
            <a:avLst/>
          </a:prstGeom>
          <a:noFill/>
        </p:spPr>
        <p:txBody>
          <a:bodyPr wrap="square">
            <a:spAutoFit/>
          </a:bodyPr>
          <a:lstStyle/>
          <a:p>
            <a:pPr algn="l">
              <a:defRPr sz="1100" b="0">
                <a:solidFill>
                  <a:srgbClr val="94A3B8"/>
                </a:solidFill>
                <a:latin typeface="Trebuchet MS"/>
              </a:defRPr>
            </a:pPr>
            <a:r>
              <a:t>  JWT authentication with Google OAuth</a:t>
            </a:r>
          </a:p>
        </p:txBody>
      </p:sp>
      <p:sp>
        <p:nvSpPr>
          <p:cNvPr id="49" name="TextBox 48"/>
          <p:cNvSpPr txBox="1"/>
          <p:nvPr/>
        </p:nvSpPr>
        <p:spPr>
          <a:xfrm>
            <a:off x="4407408" y="5532120"/>
            <a:ext cx="2990088" cy="365760"/>
          </a:xfrm>
          <a:prstGeom prst="rect">
            <a:avLst/>
          </a:prstGeom>
          <a:noFill/>
        </p:spPr>
        <p:txBody>
          <a:bodyPr wrap="square">
            <a:spAutoFit/>
          </a:bodyPr>
          <a:lstStyle/>
          <a:p>
            <a:pPr algn="l">
              <a:defRPr sz="1100" b="0">
                <a:solidFill>
                  <a:srgbClr val="94A3B8"/>
                </a:solidFill>
                <a:latin typeface="Trebuchet MS"/>
              </a:defRPr>
            </a:pPr>
            <a:r>
              <a:t>  SMTP email service for OTP verification</a:t>
            </a:r>
          </a:p>
        </p:txBody>
      </p:sp>
      <p:sp>
        <p:nvSpPr>
          <p:cNvPr id="50" name="Rounded Rectangle 49"/>
          <p:cNvSpPr/>
          <p:nvPr/>
        </p:nvSpPr>
        <p:spPr>
          <a:xfrm>
            <a:off x="7808976" y="3383280"/>
            <a:ext cx="3538728" cy="2743200"/>
          </a:xfrm>
          <a:prstGeom prst="roundRect">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991856" y="3566160"/>
            <a:ext cx="457200" cy="508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037576" y="3749040"/>
            <a:ext cx="3081528" cy="365760"/>
          </a:xfrm>
          <a:prstGeom prst="rect">
            <a:avLst/>
          </a:prstGeom>
          <a:noFill/>
        </p:spPr>
        <p:txBody>
          <a:bodyPr wrap="square">
            <a:spAutoFit/>
          </a:bodyPr>
          <a:lstStyle/>
          <a:p>
            <a:pPr algn="l">
              <a:defRPr sz="1500" b="1">
                <a:solidFill>
                  <a:srgbClr val="FFFFFF"/>
                </a:solidFill>
                <a:latin typeface="Trebuchet MS"/>
              </a:defRPr>
            </a:pPr>
            <a:r>
              <a:t>AI + Data Layer</a:t>
            </a:r>
          </a:p>
        </p:txBody>
      </p:sp>
      <p:sp>
        <p:nvSpPr>
          <p:cNvPr id="53" name="TextBox 52"/>
          <p:cNvSpPr txBox="1"/>
          <p:nvPr/>
        </p:nvSpPr>
        <p:spPr>
          <a:xfrm>
            <a:off x="8129016" y="4297680"/>
            <a:ext cx="2990088" cy="365760"/>
          </a:xfrm>
          <a:prstGeom prst="rect">
            <a:avLst/>
          </a:prstGeom>
          <a:noFill/>
        </p:spPr>
        <p:txBody>
          <a:bodyPr wrap="square">
            <a:spAutoFit/>
          </a:bodyPr>
          <a:lstStyle/>
          <a:p>
            <a:pPr algn="l">
              <a:defRPr sz="1100" b="0">
                <a:solidFill>
                  <a:srgbClr val="94A3B8"/>
                </a:solidFill>
                <a:latin typeface="Trebuchet MS"/>
              </a:defRPr>
            </a:pPr>
            <a:r>
              <a:t>  Google MediaPipe Face Mesh (478 landmarks)</a:t>
            </a:r>
          </a:p>
        </p:txBody>
      </p:sp>
      <p:sp>
        <p:nvSpPr>
          <p:cNvPr id="54" name="TextBox 53"/>
          <p:cNvSpPr txBox="1"/>
          <p:nvPr/>
        </p:nvSpPr>
        <p:spPr>
          <a:xfrm>
            <a:off x="8129016" y="4709160"/>
            <a:ext cx="2990088" cy="365760"/>
          </a:xfrm>
          <a:prstGeom prst="rect">
            <a:avLst/>
          </a:prstGeom>
          <a:noFill/>
        </p:spPr>
        <p:txBody>
          <a:bodyPr wrap="square">
            <a:spAutoFit/>
          </a:bodyPr>
          <a:lstStyle/>
          <a:p>
            <a:pPr algn="l">
              <a:defRPr sz="1100" b="0">
                <a:solidFill>
                  <a:srgbClr val="94A3B8"/>
                </a:solidFill>
                <a:latin typeface="Trebuchet MS"/>
              </a:defRPr>
            </a:pPr>
            <a:r>
              <a:t>  FER deep learning emotion classifier</a:t>
            </a:r>
          </a:p>
        </p:txBody>
      </p:sp>
      <p:sp>
        <p:nvSpPr>
          <p:cNvPr id="55" name="TextBox 54"/>
          <p:cNvSpPr txBox="1"/>
          <p:nvPr/>
        </p:nvSpPr>
        <p:spPr>
          <a:xfrm>
            <a:off x="8129016" y="5120640"/>
            <a:ext cx="2990088" cy="365760"/>
          </a:xfrm>
          <a:prstGeom prst="rect">
            <a:avLst/>
          </a:prstGeom>
          <a:noFill/>
        </p:spPr>
        <p:txBody>
          <a:bodyPr wrap="square">
            <a:spAutoFit/>
          </a:bodyPr>
          <a:lstStyle/>
          <a:p>
            <a:pPr algn="l">
              <a:defRPr sz="1100" b="0">
                <a:solidFill>
                  <a:srgbClr val="94A3B8"/>
                </a:solidFill>
                <a:latin typeface="Trebuchet MS"/>
              </a:defRPr>
            </a:pPr>
            <a:r>
              <a:t>  OpenCV for frame preprocessing</a:t>
            </a:r>
          </a:p>
        </p:txBody>
      </p:sp>
      <p:sp>
        <p:nvSpPr>
          <p:cNvPr id="56" name="TextBox 55"/>
          <p:cNvSpPr txBox="1"/>
          <p:nvPr/>
        </p:nvSpPr>
        <p:spPr>
          <a:xfrm>
            <a:off x="8129016" y="5532120"/>
            <a:ext cx="2990088" cy="365760"/>
          </a:xfrm>
          <a:prstGeom prst="rect">
            <a:avLst/>
          </a:prstGeom>
          <a:noFill/>
        </p:spPr>
        <p:txBody>
          <a:bodyPr wrap="square">
            <a:spAutoFit/>
          </a:bodyPr>
          <a:lstStyle/>
          <a:p>
            <a:pPr algn="l">
              <a:defRPr sz="1100" b="0">
                <a:solidFill>
                  <a:srgbClr val="94A3B8"/>
                </a:solidFill>
                <a:latin typeface="Trebuchet MS"/>
              </a:defRPr>
            </a:pPr>
            <a:r>
              <a:t>  MongoDB Atlas cloud database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05</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Technologies Used</a:t>
            </a:r>
          </a:p>
        </p:txBody>
      </p:sp>
      <p:sp>
        <p:nvSpPr>
          <p:cNvPr id="5" name="Rounded Rectangle 4"/>
          <p:cNvSpPr/>
          <p:nvPr/>
        </p:nvSpPr>
        <p:spPr>
          <a:xfrm>
            <a:off x="320040" y="169164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02920" y="1965960"/>
            <a:ext cx="457200" cy="457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965960"/>
            <a:ext cx="1737360" cy="457200"/>
          </a:xfrm>
          <a:prstGeom prst="rect">
            <a:avLst/>
          </a:prstGeom>
          <a:noFill/>
        </p:spPr>
        <p:txBody>
          <a:bodyPr wrap="square">
            <a:spAutoFit/>
          </a:bodyPr>
          <a:lstStyle/>
          <a:p>
            <a:pPr algn="l">
              <a:defRPr sz="1400" b="1">
                <a:solidFill>
                  <a:srgbClr val="FFFFFF"/>
                </a:solidFill>
                <a:latin typeface="Trebuchet MS"/>
              </a:defRPr>
            </a:pPr>
            <a:r>
              <a:t>Python / FastAPI</a:t>
            </a:r>
          </a:p>
        </p:txBody>
      </p:sp>
      <p:sp>
        <p:nvSpPr>
          <p:cNvPr id="8" name="TextBox 7"/>
          <p:cNvSpPr txBox="1"/>
          <p:nvPr/>
        </p:nvSpPr>
        <p:spPr>
          <a:xfrm>
            <a:off x="548640" y="2697480"/>
            <a:ext cx="2194560" cy="1097280"/>
          </a:xfrm>
          <a:prstGeom prst="rect">
            <a:avLst/>
          </a:prstGeom>
          <a:noFill/>
        </p:spPr>
        <p:txBody>
          <a:bodyPr wrap="square">
            <a:spAutoFit/>
          </a:bodyPr>
          <a:lstStyle/>
          <a:p>
            <a:pPr algn="l">
              <a:defRPr sz="1300" b="0">
                <a:solidFill>
                  <a:srgbClr val="94A3B8"/>
                </a:solidFill>
                <a:latin typeface="Trebuchet MS"/>
              </a:defRPr>
            </a:pPr>
            <a:r>
              <a:t>High-performance async</a:t>
            </a:r>
            <a:br/>
            <a:r>
              <a:t>backend REST framework</a:t>
            </a:r>
          </a:p>
        </p:txBody>
      </p:sp>
      <p:sp>
        <p:nvSpPr>
          <p:cNvPr id="9" name="Rounded Rectangle 8"/>
          <p:cNvSpPr/>
          <p:nvPr/>
        </p:nvSpPr>
        <p:spPr>
          <a:xfrm>
            <a:off x="3127248" y="169164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310128" y="196596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04488" y="1965960"/>
            <a:ext cx="1737360" cy="457200"/>
          </a:xfrm>
          <a:prstGeom prst="rect">
            <a:avLst/>
          </a:prstGeom>
          <a:noFill/>
        </p:spPr>
        <p:txBody>
          <a:bodyPr wrap="square">
            <a:spAutoFit/>
          </a:bodyPr>
          <a:lstStyle/>
          <a:p>
            <a:pPr algn="l">
              <a:defRPr sz="1400" b="1">
                <a:solidFill>
                  <a:srgbClr val="FFFFFF"/>
                </a:solidFill>
                <a:latin typeface="Trebuchet MS"/>
              </a:defRPr>
            </a:pPr>
            <a:r>
              <a:t>React 18 + Vite</a:t>
            </a:r>
          </a:p>
        </p:txBody>
      </p:sp>
      <p:sp>
        <p:nvSpPr>
          <p:cNvPr id="12" name="TextBox 11"/>
          <p:cNvSpPr txBox="1"/>
          <p:nvPr/>
        </p:nvSpPr>
        <p:spPr>
          <a:xfrm>
            <a:off x="3355848" y="2697480"/>
            <a:ext cx="2194560" cy="1097280"/>
          </a:xfrm>
          <a:prstGeom prst="rect">
            <a:avLst/>
          </a:prstGeom>
          <a:noFill/>
        </p:spPr>
        <p:txBody>
          <a:bodyPr wrap="square">
            <a:spAutoFit/>
          </a:bodyPr>
          <a:lstStyle/>
          <a:p>
            <a:pPr algn="l">
              <a:defRPr sz="1300" b="0">
                <a:solidFill>
                  <a:srgbClr val="94A3B8"/>
                </a:solidFill>
                <a:latin typeface="Trebuchet MS"/>
              </a:defRPr>
            </a:pPr>
            <a:r>
              <a:t>Modern SPA frontend</a:t>
            </a:r>
            <a:br/>
            <a:r>
              <a:t>with hot-module reload</a:t>
            </a:r>
          </a:p>
        </p:txBody>
      </p:sp>
      <p:sp>
        <p:nvSpPr>
          <p:cNvPr id="13" name="Rounded Rectangle 12"/>
          <p:cNvSpPr/>
          <p:nvPr/>
        </p:nvSpPr>
        <p:spPr>
          <a:xfrm>
            <a:off x="5934456" y="169164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17336" y="1965960"/>
            <a:ext cx="457200" cy="4572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11696" y="1965960"/>
            <a:ext cx="1737360" cy="457200"/>
          </a:xfrm>
          <a:prstGeom prst="rect">
            <a:avLst/>
          </a:prstGeom>
          <a:noFill/>
        </p:spPr>
        <p:txBody>
          <a:bodyPr wrap="square">
            <a:spAutoFit/>
          </a:bodyPr>
          <a:lstStyle/>
          <a:p>
            <a:pPr algn="l">
              <a:defRPr sz="1400" b="1">
                <a:solidFill>
                  <a:srgbClr val="FFFFFF"/>
                </a:solidFill>
                <a:latin typeface="Trebuchet MS"/>
              </a:defRPr>
            </a:pPr>
            <a:r>
              <a:t>MongoDB Atlas</a:t>
            </a:r>
          </a:p>
        </p:txBody>
      </p:sp>
      <p:sp>
        <p:nvSpPr>
          <p:cNvPr id="16" name="TextBox 15"/>
          <p:cNvSpPr txBox="1"/>
          <p:nvPr/>
        </p:nvSpPr>
        <p:spPr>
          <a:xfrm>
            <a:off x="6163056" y="2697480"/>
            <a:ext cx="2194560" cy="1097280"/>
          </a:xfrm>
          <a:prstGeom prst="rect">
            <a:avLst/>
          </a:prstGeom>
          <a:noFill/>
        </p:spPr>
        <p:txBody>
          <a:bodyPr wrap="square">
            <a:spAutoFit/>
          </a:bodyPr>
          <a:lstStyle/>
          <a:p>
            <a:pPr algn="l">
              <a:defRPr sz="1300" b="0">
                <a:solidFill>
                  <a:srgbClr val="94A3B8"/>
                </a:solidFill>
                <a:latin typeface="Trebuchet MS"/>
              </a:defRPr>
            </a:pPr>
            <a:r>
              <a:t>Cloud-hosted NoSQL</a:t>
            </a:r>
            <a:br/>
            <a:r>
              <a:t>document database</a:t>
            </a:r>
          </a:p>
        </p:txBody>
      </p:sp>
      <p:sp>
        <p:nvSpPr>
          <p:cNvPr id="17" name="Rounded Rectangle 16"/>
          <p:cNvSpPr/>
          <p:nvPr/>
        </p:nvSpPr>
        <p:spPr>
          <a:xfrm>
            <a:off x="8741664" y="169164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924544" y="1965960"/>
            <a:ext cx="457200" cy="4572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18904" y="1965960"/>
            <a:ext cx="1737360" cy="457200"/>
          </a:xfrm>
          <a:prstGeom prst="rect">
            <a:avLst/>
          </a:prstGeom>
          <a:noFill/>
        </p:spPr>
        <p:txBody>
          <a:bodyPr wrap="square">
            <a:spAutoFit/>
          </a:bodyPr>
          <a:lstStyle/>
          <a:p>
            <a:pPr algn="l">
              <a:defRPr sz="1400" b="1">
                <a:solidFill>
                  <a:srgbClr val="FFFFFF"/>
                </a:solidFill>
                <a:latin typeface="Trebuchet MS"/>
              </a:defRPr>
            </a:pPr>
            <a:r>
              <a:t>Tailwind CSS</a:t>
            </a:r>
          </a:p>
        </p:txBody>
      </p:sp>
      <p:sp>
        <p:nvSpPr>
          <p:cNvPr id="20" name="TextBox 19"/>
          <p:cNvSpPr txBox="1"/>
          <p:nvPr/>
        </p:nvSpPr>
        <p:spPr>
          <a:xfrm>
            <a:off x="8970264" y="2697480"/>
            <a:ext cx="2194560" cy="1097280"/>
          </a:xfrm>
          <a:prstGeom prst="rect">
            <a:avLst/>
          </a:prstGeom>
          <a:noFill/>
        </p:spPr>
        <p:txBody>
          <a:bodyPr wrap="square">
            <a:spAutoFit/>
          </a:bodyPr>
          <a:lstStyle/>
          <a:p>
            <a:pPr algn="l">
              <a:defRPr sz="1300" b="0">
                <a:solidFill>
                  <a:srgbClr val="94A3B8"/>
                </a:solidFill>
                <a:latin typeface="Trebuchet MS"/>
              </a:defRPr>
            </a:pPr>
            <a:r>
              <a:t>Utility-first CSS</a:t>
            </a:r>
            <a:br/>
            <a:r>
              <a:t>for rapid premium UI</a:t>
            </a:r>
          </a:p>
        </p:txBody>
      </p:sp>
      <p:sp>
        <p:nvSpPr>
          <p:cNvPr id="21" name="Rounded Rectangle 20"/>
          <p:cNvSpPr/>
          <p:nvPr/>
        </p:nvSpPr>
        <p:spPr>
          <a:xfrm>
            <a:off x="320040" y="411480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02920" y="4389120"/>
            <a:ext cx="457200" cy="45720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97280" y="4389120"/>
            <a:ext cx="1737360" cy="457200"/>
          </a:xfrm>
          <a:prstGeom prst="rect">
            <a:avLst/>
          </a:prstGeom>
          <a:noFill/>
        </p:spPr>
        <p:txBody>
          <a:bodyPr wrap="square">
            <a:spAutoFit/>
          </a:bodyPr>
          <a:lstStyle/>
          <a:p>
            <a:pPr algn="l">
              <a:defRPr sz="1400" b="1">
                <a:solidFill>
                  <a:srgbClr val="FFFFFF"/>
                </a:solidFill>
                <a:latin typeface="Trebuchet MS"/>
              </a:defRPr>
            </a:pPr>
            <a:r>
              <a:t>Google MediaPipe</a:t>
            </a:r>
          </a:p>
        </p:txBody>
      </p:sp>
      <p:sp>
        <p:nvSpPr>
          <p:cNvPr id="24" name="TextBox 23"/>
          <p:cNvSpPr txBox="1"/>
          <p:nvPr/>
        </p:nvSpPr>
        <p:spPr>
          <a:xfrm>
            <a:off x="548640" y="5120640"/>
            <a:ext cx="2194560" cy="1097280"/>
          </a:xfrm>
          <a:prstGeom prst="rect">
            <a:avLst/>
          </a:prstGeom>
          <a:noFill/>
        </p:spPr>
        <p:txBody>
          <a:bodyPr wrap="square">
            <a:spAutoFit/>
          </a:bodyPr>
          <a:lstStyle/>
          <a:p>
            <a:pPr algn="l">
              <a:defRPr sz="1300" b="0">
                <a:solidFill>
                  <a:srgbClr val="94A3B8"/>
                </a:solidFill>
                <a:latin typeface="Trebuchet MS"/>
              </a:defRPr>
            </a:pPr>
            <a:r>
              <a:t>Face Mesh with 478</a:t>
            </a:r>
            <a:br/>
            <a:r>
              <a:t>landmark iris tracking</a:t>
            </a:r>
          </a:p>
        </p:txBody>
      </p:sp>
      <p:sp>
        <p:nvSpPr>
          <p:cNvPr id="25" name="Rounded Rectangle 24"/>
          <p:cNvSpPr/>
          <p:nvPr/>
        </p:nvSpPr>
        <p:spPr>
          <a:xfrm>
            <a:off x="3127248" y="411480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310128" y="4389120"/>
            <a:ext cx="457200" cy="45720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904488" y="4389120"/>
            <a:ext cx="1737360" cy="457200"/>
          </a:xfrm>
          <a:prstGeom prst="rect">
            <a:avLst/>
          </a:prstGeom>
          <a:noFill/>
        </p:spPr>
        <p:txBody>
          <a:bodyPr wrap="square">
            <a:spAutoFit/>
          </a:bodyPr>
          <a:lstStyle/>
          <a:p>
            <a:pPr algn="l">
              <a:defRPr sz="1400" b="1">
                <a:solidFill>
                  <a:srgbClr val="FFFFFF"/>
                </a:solidFill>
                <a:latin typeface="Trebuchet MS"/>
              </a:defRPr>
            </a:pPr>
            <a:r>
              <a:t>FER Library</a:t>
            </a:r>
          </a:p>
        </p:txBody>
      </p:sp>
      <p:sp>
        <p:nvSpPr>
          <p:cNvPr id="28" name="TextBox 27"/>
          <p:cNvSpPr txBox="1"/>
          <p:nvPr/>
        </p:nvSpPr>
        <p:spPr>
          <a:xfrm>
            <a:off x="3355848" y="5120640"/>
            <a:ext cx="2194560" cy="1097280"/>
          </a:xfrm>
          <a:prstGeom prst="rect">
            <a:avLst/>
          </a:prstGeom>
          <a:noFill/>
        </p:spPr>
        <p:txBody>
          <a:bodyPr wrap="square">
            <a:spAutoFit/>
          </a:bodyPr>
          <a:lstStyle/>
          <a:p>
            <a:pPr algn="l">
              <a:defRPr sz="1300" b="0">
                <a:solidFill>
                  <a:srgbClr val="94A3B8"/>
                </a:solidFill>
                <a:latin typeface="Trebuchet MS"/>
              </a:defRPr>
            </a:pPr>
            <a:r>
              <a:t>CNN-based facial</a:t>
            </a:r>
            <a:br/>
            <a:r>
              <a:t>expression recognition</a:t>
            </a:r>
          </a:p>
        </p:txBody>
      </p:sp>
      <p:sp>
        <p:nvSpPr>
          <p:cNvPr id="29" name="Rounded Rectangle 28"/>
          <p:cNvSpPr/>
          <p:nvPr/>
        </p:nvSpPr>
        <p:spPr>
          <a:xfrm>
            <a:off x="5934456" y="411480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117336" y="4389120"/>
            <a:ext cx="457200" cy="4572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11696" y="4389120"/>
            <a:ext cx="1737360" cy="457200"/>
          </a:xfrm>
          <a:prstGeom prst="rect">
            <a:avLst/>
          </a:prstGeom>
          <a:noFill/>
        </p:spPr>
        <p:txBody>
          <a:bodyPr wrap="square">
            <a:spAutoFit/>
          </a:bodyPr>
          <a:lstStyle/>
          <a:p>
            <a:pPr algn="l">
              <a:defRPr sz="1400" b="1">
                <a:solidFill>
                  <a:srgbClr val="FFFFFF"/>
                </a:solidFill>
                <a:latin typeface="Trebuchet MS"/>
              </a:defRPr>
            </a:pPr>
            <a:r>
              <a:t>WebSocket</a:t>
            </a:r>
          </a:p>
        </p:txBody>
      </p:sp>
      <p:sp>
        <p:nvSpPr>
          <p:cNvPr id="32" name="TextBox 31"/>
          <p:cNvSpPr txBox="1"/>
          <p:nvPr/>
        </p:nvSpPr>
        <p:spPr>
          <a:xfrm>
            <a:off x="6163056" y="5120640"/>
            <a:ext cx="2194560" cy="1097280"/>
          </a:xfrm>
          <a:prstGeom prst="rect">
            <a:avLst/>
          </a:prstGeom>
          <a:noFill/>
        </p:spPr>
        <p:txBody>
          <a:bodyPr wrap="square">
            <a:spAutoFit/>
          </a:bodyPr>
          <a:lstStyle/>
          <a:p>
            <a:pPr algn="l">
              <a:defRPr sz="1300" b="0">
                <a:solidFill>
                  <a:srgbClr val="94A3B8"/>
                </a:solidFill>
                <a:latin typeface="Trebuchet MS"/>
              </a:defRPr>
            </a:pPr>
            <a:r>
              <a:t>Real-time bidirectional</a:t>
            </a:r>
            <a:br/>
            <a:r>
              <a:t>AI data streaming</a:t>
            </a:r>
          </a:p>
        </p:txBody>
      </p:sp>
      <p:sp>
        <p:nvSpPr>
          <p:cNvPr id="33" name="Rounded Rectangle 32"/>
          <p:cNvSpPr/>
          <p:nvPr/>
        </p:nvSpPr>
        <p:spPr>
          <a:xfrm>
            <a:off x="8741664" y="4114800"/>
            <a:ext cx="2651760" cy="22402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924544" y="438912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518904" y="4389120"/>
            <a:ext cx="1737360" cy="457200"/>
          </a:xfrm>
          <a:prstGeom prst="rect">
            <a:avLst/>
          </a:prstGeom>
          <a:noFill/>
        </p:spPr>
        <p:txBody>
          <a:bodyPr wrap="square">
            <a:spAutoFit/>
          </a:bodyPr>
          <a:lstStyle/>
          <a:p>
            <a:pPr algn="l">
              <a:defRPr sz="1400" b="1">
                <a:solidFill>
                  <a:srgbClr val="FFFFFF"/>
                </a:solidFill>
                <a:latin typeface="Trebuchet MS"/>
              </a:defRPr>
            </a:pPr>
            <a:r>
              <a:t>Google OAuth 2.0</a:t>
            </a:r>
          </a:p>
        </p:txBody>
      </p:sp>
      <p:sp>
        <p:nvSpPr>
          <p:cNvPr id="36" name="TextBox 35"/>
          <p:cNvSpPr txBox="1"/>
          <p:nvPr/>
        </p:nvSpPr>
        <p:spPr>
          <a:xfrm>
            <a:off x="8970264" y="5120640"/>
            <a:ext cx="2194560" cy="1097280"/>
          </a:xfrm>
          <a:prstGeom prst="rect">
            <a:avLst/>
          </a:prstGeom>
          <a:noFill/>
        </p:spPr>
        <p:txBody>
          <a:bodyPr wrap="square">
            <a:spAutoFit/>
          </a:bodyPr>
          <a:lstStyle/>
          <a:p>
            <a:pPr algn="l">
              <a:defRPr sz="1300" b="0">
                <a:solidFill>
                  <a:srgbClr val="94A3B8"/>
                </a:solidFill>
                <a:latin typeface="Trebuchet MS"/>
              </a:defRPr>
            </a:pPr>
            <a:r>
              <a:t>Secure third-party</a:t>
            </a:r>
            <a:br/>
            <a:r>
              <a:t>authentication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06</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Major Modules</a:t>
            </a:r>
          </a:p>
        </p:txBody>
      </p:sp>
      <p:sp>
        <p:nvSpPr>
          <p:cNvPr id="5" name="Rounded Rectangle 4"/>
          <p:cNvSpPr/>
          <p:nvPr/>
        </p:nvSpPr>
        <p:spPr>
          <a:xfrm>
            <a:off x="320040" y="169164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74520"/>
            <a:ext cx="50800" cy="11430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874520"/>
            <a:ext cx="4846320" cy="365760"/>
          </a:xfrm>
          <a:prstGeom prst="rect">
            <a:avLst/>
          </a:prstGeom>
          <a:noFill/>
        </p:spPr>
        <p:txBody>
          <a:bodyPr wrap="square">
            <a:spAutoFit/>
          </a:bodyPr>
          <a:lstStyle/>
          <a:p>
            <a:pPr algn="l">
              <a:defRPr sz="1500" b="1">
                <a:solidFill>
                  <a:srgbClr val="FFFFFF"/>
                </a:solidFill>
                <a:latin typeface="Trebuchet MS"/>
              </a:defRPr>
            </a:pPr>
            <a:r>
              <a:t>Authentication Module</a:t>
            </a:r>
          </a:p>
        </p:txBody>
      </p:sp>
      <p:sp>
        <p:nvSpPr>
          <p:cNvPr id="8" name="TextBox 7"/>
          <p:cNvSpPr txBox="1"/>
          <p:nvPr/>
        </p:nvSpPr>
        <p:spPr>
          <a:xfrm>
            <a:off x="731520" y="2331720"/>
            <a:ext cx="4846320" cy="822960"/>
          </a:xfrm>
          <a:prstGeom prst="rect">
            <a:avLst/>
          </a:prstGeom>
          <a:noFill/>
        </p:spPr>
        <p:txBody>
          <a:bodyPr wrap="square">
            <a:spAutoFit/>
          </a:bodyPr>
          <a:lstStyle/>
          <a:p>
            <a:pPr algn="l">
              <a:defRPr sz="1200" b="0">
                <a:solidFill>
                  <a:srgbClr val="94A3B8"/>
                </a:solidFill>
                <a:latin typeface="Trebuchet MS"/>
              </a:defRPr>
            </a:pPr>
            <a:r>
              <a:t>Email/Password signup with OTP verification via SMTP, Google OAuth 2.0 integration, JWT token-based session management, and password reset flow.</a:t>
            </a:r>
          </a:p>
        </p:txBody>
      </p:sp>
      <p:sp>
        <p:nvSpPr>
          <p:cNvPr id="9" name="Rounded Rectangle 8"/>
          <p:cNvSpPr/>
          <p:nvPr/>
        </p:nvSpPr>
        <p:spPr>
          <a:xfrm>
            <a:off x="5943600" y="169164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0" y="1874520"/>
            <a:ext cx="50800" cy="1143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874520"/>
            <a:ext cx="4846320" cy="365760"/>
          </a:xfrm>
          <a:prstGeom prst="rect">
            <a:avLst/>
          </a:prstGeom>
          <a:noFill/>
        </p:spPr>
        <p:txBody>
          <a:bodyPr wrap="square">
            <a:spAutoFit/>
          </a:bodyPr>
          <a:lstStyle/>
          <a:p>
            <a:pPr algn="l">
              <a:defRPr sz="1500" b="1">
                <a:solidFill>
                  <a:srgbClr val="FFFFFF"/>
                </a:solidFill>
                <a:latin typeface="Trebuchet MS"/>
              </a:defRPr>
            </a:pPr>
            <a:r>
              <a:t>Campaign Management</a:t>
            </a:r>
          </a:p>
        </p:txBody>
      </p:sp>
      <p:sp>
        <p:nvSpPr>
          <p:cNvPr id="12" name="TextBox 11"/>
          <p:cNvSpPr txBox="1"/>
          <p:nvPr/>
        </p:nvSpPr>
        <p:spPr>
          <a:xfrm>
            <a:off x="6355080" y="2331720"/>
            <a:ext cx="4846320" cy="822960"/>
          </a:xfrm>
          <a:prstGeom prst="rect">
            <a:avLst/>
          </a:prstGeom>
          <a:noFill/>
        </p:spPr>
        <p:txBody>
          <a:bodyPr wrap="square">
            <a:spAutoFit/>
          </a:bodyPr>
          <a:lstStyle/>
          <a:p>
            <a:pPr algn="l">
              <a:defRPr sz="1200" b="0">
                <a:solidFill>
                  <a:srgbClr val="94A3B8"/>
                </a:solidFill>
                <a:latin typeface="Trebuchet MS"/>
              </a:defRPr>
            </a:pPr>
            <a:r>
              <a:t>Create, upload, and manage ad campaigns with media files (image/video), target URL configuration, and auto-generated embed scripts.</a:t>
            </a:r>
          </a:p>
        </p:txBody>
      </p:sp>
      <p:sp>
        <p:nvSpPr>
          <p:cNvPr id="13" name="Rounded Rectangle 12"/>
          <p:cNvSpPr/>
          <p:nvPr/>
        </p:nvSpPr>
        <p:spPr>
          <a:xfrm>
            <a:off x="320040" y="333756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520440"/>
            <a:ext cx="50800" cy="11430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520440"/>
            <a:ext cx="4846320" cy="365760"/>
          </a:xfrm>
          <a:prstGeom prst="rect">
            <a:avLst/>
          </a:prstGeom>
          <a:noFill/>
        </p:spPr>
        <p:txBody>
          <a:bodyPr wrap="square">
            <a:spAutoFit/>
          </a:bodyPr>
          <a:lstStyle/>
          <a:p>
            <a:pPr algn="l">
              <a:defRPr sz="1500" b="1">
                <a:solidFill>
                  <a:srgbClr val="FFFFFF"/>
                </a:solidFill>
                <a:latin typeface="Trebuchet MS"/>
              </a:defRPr>
            </a:pPr>
            <a:r>
              <a:t>AI Tracking Engine (trace.js)</a:t>
            </a:r>
          </a:p>
        </p:txBody>
      </p:sp>
      <p:sp>
        <p:nvSpPr>
          <p:cNvPr id="16" name="TextBox 15"/>
          <p:cNvSpPr txBox="1"/>
          <p:nvPr/>
        </p:nvSpPr>
        <p:spPr>
          <a:xfrm>
            <a:off x="731520" y="3977640"/>
            <a:ext cx="4846320" cy="822960"/>
          </a:xfrm>
          <a:prstGeom prst="rect">
            <a:avLst/>
          </a:prstGeom>
          <a:noFill/>
        </p:spPr>
        <p:txBody>
          <a:bodyPr wrap="square">
            <a:spAutoFit/>
          </a:bodyPr>
          <a:lstStyle/>
          <a:p>
            <a:pPr algn="l">
              <a:defRPr sz="1200" b="0">
                <a:solidFill>
                  <a:srgbClr val="94A3B8"/>
                </a:solidFill>
                <a:latin typeface="Trebuchet MS"/>
              </a:defRPr>
            </a:pPr>
            <a:r>
              <a:t>Autonomous JavaScript injected into publisher sites. Handles webcam streaming, WebSocket AI communication, and keepalive data persistence on tab close.</a:t>
            </a:r>
          </a:p>
        </p:txBody>
      </p:sp>
      <p:sp>
        <p:nvSpPr>
          <p:cNvPr id="17" name="Rounded Rectangle 16"/>
          <p:cNvSpPr/>
          <p:nvPr/>
        </p:nvSpPr>
        <p:spPr>
          <a:xfrm>
            <a:off x="5943600" y="333756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0760" y="3520440"/>
            <a:ext cx="50800" cy="11430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3520440"/>
            <a:ext cx="4846320" cy="365760"/>
          </a:xfrm>
          <a:prstGeom prst="rect">
            <a:avLst/>
          </a:prstGeom>
          <a:noFill/>
        </p:spPr>
        <p:txBody>
          <a:bodyPr wrap="square">
            <a:spAutoFit/>
          </a:bodyPr>
          <a:lstStyle/>
          <a:p>
            <a:pPr algn="l">
              <a:defRPr sz="1500" b="1">
                <a:solidFill>
                  <a:srgbClr val="FFFFFF"/>
                </a:solidFill>
                <a:latin typeface="Trebuchet MS"/>
              </a:defRPr>
            </a:pPr>
            <a:r>
              <a:t>Real-Time AI Processing</a:t>
            </a:r>
          </a:p>
        </p:txBody>
      </p:sp>
      <p:sp>
        <p:nvSpPr>
          <p:cNvPr id="20" name="TextBox 19"/>
          <p:cNvSpPr txBox="1"/>
          <p:nvPr/>
        </p:nvSpPr>
        <p:spPr>
          <a:xfrm>
            <a:off x="6355080" y="3977640"/>
            <a:ext cx="4846320" cy="822960"/>
          </a:xfrm>
          <a:prstGeom prst="rect">
            <a:avLst/>
          </a:prstGeom>
          <a:noFill/>
        </p:spPr>
        <p:txBody>
          <a:bodyPr wrap="square">
            <a:spAutoFit/>
          </a:bodyPr>
          <a:lstStyle/>
          <a:p>
            <a:pPr algn="l">
              <a:defRPr sz="1200" b="0">
                <a:solidFill>
                  <a:srgbClr val="94A3B8"/>
                </a:solidFill>
                <a:latin typeface="Trebuchet MS"/>
              </a:defRPr>
            </a:pPr>
            <a:r>
              <a:t>WebSocket endpoint processes webcam frames for emotion detection (FER) and gaze tracking (MediaPipe) simultaneously, returning JSON results in &lt; 500ms.</a:t>
            </a:r>
          </a:p>
        </p:txBody>
      </p:sp>
      <p:sp>
        <p:nvSpPr>
          <p:cNvPr id="21" name="Rounded Rectangle 20"/>
          <p:cNvSpPr/>
          <p:nvPr/>
        </p:nvSpPr>
        <p:spPr>
          <a:xfrm>
            <a:off x="320040" y="498348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166360"/>
            <a:ext cx="50800" cy="1143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5166360"/>
            <a:ext cx="4846320" cy="365760"/>
          </a:xfrm>
          <a:prstGeom prst="rect">
            <a:avLst/>
          </a:prstGeom>
          <a:noFill/>
        </p:spPr>
        <p:txBody>
          <a:bodyPr wrap="square">
            <a:spAutoFit/>
          </a:bodyPr>
          <a:lstStyle/>
          <a:p>
            <a:pPr algn="l">
              <a:defRPr sz="1500" b="1">
                <a:solidFill>
                  <a:srgbClr val="FFFFFF"/>
                </a:solidFill>
                <a:latin typeface="Trebuchet MS"/>
              </a:defRPr>
            </a:pPr>
            <a:r>
              <a:t>Analytics Dashboard</a:t>
            </a:r>
          </a:p>
        </p:txBody>
      </p:sp>
      <p:sp>
        <p:nvSpPr>
          <p:cNvPr id="24" name="TextBox 23"/>
          <p:cNvSpPr txBox="1"/>
          <p:nvPr/>
        </p:nvSpPr>
        <p:spPr>
          <a:xfrm>
            <a:off x="731520" y="5623560"/>
            <a:ext cx="4846320" cy="822960"/>
          </a:xfrm>
          <a:prstGeom prst="rect">
            <a:avLst/>
          </a:prstGeom>
          <a:noFill/>
        </p:spPr>
        <p:txBody>
          <a:bodyPr wrap="square">
            <a:spAutoFit/>
          </a:bodyPr>
          <a:lstStyle/>
          <a:p>
            <a:pPr algn="l">
              <a:defRPr sz="1200" b="0">
                <a:solidFill>
                  <a:srgbClr val="94A3B8"/>
                </a:solidFill>
                <a:latin typeface="Trebuchet MS"/>
              </a:defRPr>
            </a:pPr>
            <a:r>
              <a:t>Interactive React dashboard with engagement scores, emotion pie charts, attention heatmaps, gaze timelines, and downloadable CSV reports.</a:t>
            </a:r>
          </a:p>
        </p:txBody>
      </p:sp>
      <p:sp>
        <p:nvSpPr>
          <p:cNvPr id="25" name="Rounded Rectangle 24"/>
          <p:cNvSpPr/>
          <p:nvPr/>
        </p:nvSpPr>
        <p:spPr>
          <a:xfrm>
            <a:off x="5943600" y="4983480"/>
            <a:ext cx="5440680" cy="150876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080760" y="5166360"/>
            <a:ext cx="50800" cy="1143000"/>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5166360"/>
            <a:ext cx="4846320" cy="365760"/>
          </a:xfrm>
          <a:prstGeom prst="rect">
            <a:avLst/>
          </a:prstGeom>
          <a:noFill/>
        </p:spPr>
        <p:txBody>
          <a:bodyPr wrap="square">
            <a:spAutoFit/>
          </a:bodyPr>
          <a:lstStyle/>
          <a:p>
            <a:pPr algn="l">
              <a:defRPr sz="1500" b="1">
                <a:solidFill>
                  <a:srgbClr val="FFFFFF"/>
                </a:solidFill>
                <a:latin typeface="Trebuchet MS"/>
              </a:defRPr>
            </a:pPr>
            <a:r>
              <a:t>Subscription &amp; Payment</a:t>
            </a:r>
          </a:p>
        </p:txBody>
      </p:sp>
      <p:sp>
        <p:nvSpPr>
          <p:cNvPr id="28" name="TextBox 27"/>
          <p:cNvSpPr txBox="1"/>
          <p:nvPr/>
        </p:nvSpPr>
        <p:spPr>
          <a:xfrm>
            <a:off x="6355080" y="5623560"/>
            <a:ext cx="4846320" cy="822960"/>
          </a:xfrm>
          <a:prstGeom prst="rect">
            <a:avLst/>
          </a:prstGeom>
          <a:noFill/>
        </p:spPr>
        <p:txBody>
          <a:bodyPr wrap="square">
            <a:spAutoFit/>
          </a:bodyPr>
          <a:lstStyle/>
          <a:p>
            <a:pPr algn="l">
              <a:defRPr sz="1200" b="0">
                <a:solidFill>
                  <a:srgbClr val="94A3B8"/>
                </a:solidFill>
                <a:latin typeface="Trebuchet MS"/>
              </a:defRPr>
            </a:pPr>
            <a:r>
              <a:t>SaaS model with dynamic UPI QR payments, admin verification workflow, campaign limits, plan management, and billing records.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457200"/>
          </a:xfrm>
          <a:prstGeom prst="rect">
            <a:avLst/>
          </a:prstGeom>
          <a:noFill/>
        </p:spPr>
        <p:txBody>
          <a:bodyPr wrap="square">
            <a:spAutoFit/>
          </a:bodyPr>
          <a:lstStyle/>
          <a:p>
            <a:pPr algn="l">
              <a:defRPr sz="4000" b="1">
                <a:solidFill>
                  <a:srgbClr val="FF4D29"/>
                </a:solidFill>
                <a:latin typeface="Trebuchet MS"/>
              </a:defRPr>
            </a:pPr>
            <a:r>
              <a:t>07</a:t>
            </a:r>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Result Comparison</a:t>
            </a:r>
          </a:p>
        </p:txBody>
      </p:sp>
      <p:sp>
        <p:nvSpPr>
          <p:cNvPr id="5" name="TextBox 4"/>
          <p:cNvSpPr txBox="1"/>
          <p:nvPr/>
        </p:nvSpPr>
        <p:spPr>
          <a:xfrm>
            <a:off x="548640" y="1554480"/>
            <a:ext cx="10972800" cy="365760"/>
          </a:xfrm>
          <a:prstGeom prst="rect">
            <a:avLst/>
          </a:prstGeom>
          <a:noFill/>
        </p:spPr>
        <p:txBody>
          <a:bodyPr wrap="square">
            <a:spAutoFit/>
          </a:bodyPr>
          <a:lstStyle/>
          <a:p>
            <a:pPr algn="l">
              <a:defRPr sz="1400" b="0">
                <a:solidFill>
                  <a:srgbClr val="94A3B8"/>
                </a:solidFill>
                <a:latin typeface="Trebuchet MS"/>
              </a:defRPr>
            </a:pPr>
            <a:r>
              <a:rPr dirty="0"/>
              <a:t>How Attention Trace outperforms existing advertising analytics platforms:</a:t>
            </a:r>
          </a:p>
        </p:txBody>
      </p:sp>
      <p:sp>
        <p:nvSpPr>
          <p:cNvPr id="6" name="Rectangle 5"/>
          <p:cNvSpPr/>
          <p:nvPr/>
        </p:nvSpPr>
        <p:spPr>
          <a:xfrm>
            <a:off x="320040" y="1965960"/>
            <a:ext cx="2560320" cy="438912"/>
          </a:xfrm>
          <a:prstGeom prst="rect">
            <a:avLst/>
          </a:prstGeom>
          <a:solidFill>
            <a:srgbClr val="1A202C"/>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2002536"/>
            <a:ext cx="2377440" cy="438912"/>
          </a:xfrm>
          <a:prstGeom prst="rect">
            <a:avLst/>
          </a:prstGeom>
          <a:noFill/>
        </p:spPr>
        <p:txBody>
          <a:bodyPr wrap="square">
            <a:spAutoFit/>
          </a:bodyPr>
          <a:lstStyle/>
          <a:p>
            <a:pPr algn="ctr">
              <a:defRPr sz="1200" b="1">
                <a:solidFill>
                  <a:srgbClr val="FFFFFF"/>
                </a:solidFill>
                <a:latin typeface="Trebuchet MS"/>
              </a:defRPr>
            </a:pPr>
            <a:r>
              <a:t>Feature / Metric</a:t>
            </a:r>
          </a:p>
        </p:txBody>
      </p:sp>
      <p:sp>
        <p:nvSpPr>
          <p:cNvPr id="8" name="Rectangle 7"/>
          <p:cNvSpPr/>
          <p:nvPr/>
        </p:nvSpPr>
        <p:spPr>
          <a:xfrm>
            <a:off x="2880360" y="1965960"/>
            <a:ext cx="4114800" cy="438912"/>
          </a:xfrm>
          <a:prstGeom prst="rect">
            <a:avLst/>
          </a:prstGeom>
          <a:solidFill>
            <a:srgbClr val="1A202C"/>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71800" y="2002536"/>
            <a:ext cx="3931920" cy="438912"/>
          </a:xfrm>
          <a:prstGeom prst="rect">
            <a:avLst/>
          </a:prstGeom>
          <a:noFill/>
        </p:spPr>
        <p:txBody>
          <a:bodyPr wrap="square">
            <a:spAutoFit/>
          </a:bodyPr>
          <a:lstStyle/>
          <a:p>
            <a:pPr algn="ctr">
              <a:defRPr sz="1200" b="1">
                <a:solidFill>
                  <a:srgbClr val="F87171"/>
                </a:solidFill>
                <a:latin typeface="Trebuchet MS"/>
              </a:defRPr>
            </a:pPr>
            <a:r>
              <a:t>Traditional Platforms</a:t>
            </a:r>
          </a:p>
        </p:txBody>
      </p:sp>
      <p:sp>
        <p:nvSpPr>
          <p:cNvPr id="10" name="Rectangle 9"/>
          <p:cNvSpPr/>
          <p:nvPr/>
        </p:nvSpPr>
        <p:spPr>
          <a:xfrm>
            <a:off x="6995160" y="1965960"/>
            <a:ext cx="4480560" cy="438912"/>
          </a:xfrm>
          <a:prstGeom prst="rect">
            <a:avLst/>
          </a:prstGeom>
          <a:solidFill>
            <a:srgbClr val="1A202C"/>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86600" y="2002536"/>
            <a:ext cx="4297680" cy="438912"/>
          </a:xfrm>
          <a:prstGeom prst="rect">
            <a:avLst/>
          </a:prstGeom>
          <a:noFill/>
        </p:spPr>
        <p:txBody>
          <a:bodyPr wrap="square">
            <a:spAutoFit/>
          </a:bodyPr>
          <a:lstStyle/>
          <a:p>
            <a:pPr algn="ctr">
              <a:defRPr sz="1200" b="1">
                <a:solidFill>
                  <a:srgbClr val="6EE7B7"/>
                </a:solidFill>
                <a:latin typeface="Trebuchet MS"/>
              </a:defRPr>
            </a:pPr>
            <a:r>
              <a:t>Attention Trace (Ours)</a:t>
            </a:r>
          </a:p>
        </p:txBody>
      </p:sp>
      <p:sp>
        <p:nvSpPr>
          <p:cNvPr id="12" name="Rectangle 11"/>
          <p:cNvSpPr/>
          <p:nvPr/>
        </p:nvSpPr>
        <p:spPr>
          <a:xfrm>
            <a:off x="320040" y="2404872"/>
            <a:ext cx="256032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2441448"/>
            <a:ext cx="2377440" cy="457200"/>
          </a:xfrm>
          <a:prstGeom prst="rect">
            <a:avLst/>
          </a:prstGeom>
          <a:noFill/>
        </p:spPr>
        <p:txBody>
          <a:bodyPr wrap="square">
            <a:spAutoFit/>
          </a:bodyPr>
          <a:lstStyle/>
          <a:p>
            <a:pPr algn="l">
              <a:defRPr sz="1100" b="1">
                <a:solidFill>
                  <a:srgbClr val="FFFFFF"/>
                </a:solidFill>
                <a:latin typeface="Trebuchet MS"/>
              </a:defRPr>
            </a:pPr>
            <a:r>
              <a:t>Engagement Metric</a:t>
            </a:r>
          </a:p>
        </p:txBody>
      </p:sp>
      <p:sp>
        <p:nvSpPr>
          <p:cNvPr id="14" name="Rectangle 13"/>
          <p:cNvSpPr/>
          <p:nvPr/>
        </p:nvSpPr>
        <p:spPr>
          <a:xfrm>
            <a:off x="2880360" y="2404872"/>
            <a:ext cx="411480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71800" y="2441448"/>
            <a:ext cx="3931920" cy="457200"/>
          </a:xfrm>
          <a:prstGeom prst="rect">
            <a:avLst/>
          </a:prstGeom>
          <a:noFill/>
        </p:spPr>
        <p:txBody>
          <a:bodyPr wrap="square">
            <a:spAutoFit/>
          </a:bodyPr>
          <a:lstStyle/>
          <a:p>
            <a:pPr algn="ctr">
              <a:defRPr sz="1100" b="0">
                <a:solidFill>
                  <a:srgbClr val="F87171"/>
                </a:solidFill>
                <a:latin typeface="Trebuchet MS"/>
              </a:defRPr>
            </a:pPr>
            <a:r>
              <a:t>Clicks + Impressions only</a:t>
            </a:r>
          </a:p>
        </p:txBody>
      </p:sp>
      <p:sp>
        <p:nvSpPr>
          <p:cNvPr id="16" name="Rectangle 15"/>
          <p:cNvSpPr/>
          <p:nvPr/>
        </p:nvSpPr>
        <p:spPr>
          <a:xfrm>
            <a:off x="6995160" y="2404872"/>
            <a:ext cx="448056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86600" y="2441448"/>
            <a:ext cx="4297680" cy="457200"/>
          </a:xfrm>
          <a:prstGeom prst="rect">
            <a:avLst/>
          </a:prstGeom>
          <a:noFill/>
        </p:spPr>
        <p:txBody>
          <a:bodyPr wrap="square">
            <a:spAutoFit/>
          </a:bodyPr>
          <a:lstStyle/>
          <a:p>
            <a:pPr algn="ctr">
              <a:defRPr sz="1100" b="0">
                <a:solidFill>
                  <a:srgbClr val="6EE7B7"/>
                </a:solidFill>
                <a:latin typeface="Trebuchet MS"/>
              </a:defRPr>
            </a:pPr>
            <a:r>
              <a:t>Emotion + Gaze + Behavior Score (0-100)</a:t>
            </a:r>
          </a:p>
        </p:txBody>
      </p:sp>
      <p:sp>
        <p:nvSpPr>
          <p:cNvPr id="18" name="Rectangle 17"/>
          <p:cNvSpPr/>
          <p:nvPr/>
        </p:nvSpPr>
        <p:spPr>
          <a:xfrm>
            <a:off x="320040" y="2935224"/>
            <a:ext cx="256032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971800"/>
            <a:ext cx="2377440" cy="457200"/>
          </a:xfrm>
          <a:prstGeom prst="rect">
            <a:avLst/>
          </a:prstGeom>
          <a:noFill/>
        </p:spPr>
        <p:txBody>
          <a:bodyPr wrap="square">
            <a:spAutoFit/>
          </a:bodyPr>
          <a:lstStyle/>
          <a:p>
            <a:pPr algn="l">
              <a:defRPr sz="1100" b="1">
                <a:solidFill>
                  <a:srgbClr val="FFFFFF"/>
                </a:solidFill>
                <a:latin typeface="Trebuchet MS"/>
              </a:defRPr>
            </a:pPr>
            <a:r>
              <a:t>Emotion Detection</a:t>
            </a:r>
          </a:p>
        </p:txBody>
      </p:sp>
      <p:sp>
        <p:nvSpPr>
          <p:cNvPr id="20" name="Rectangle 19"/>
          <p:cNvSpPr/>
          <p:nvPr/>
        </p:nvSpPr>
        <p:spPr>
          <a:xfrm>
            <a:off x="2880360" y="2935224"/>
            <a:ext cx="411480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71800" y="2971800"/>
            <a:ext cx="3931920" cy="457200"/>
          </a:xfrm>
          <a:prstGeom prst="rect">
            <a:avLst/>
          </a:prstGeom>
          <a:noFill/>
        </p:spPr>
        <p:txBody>
          <a:bodyPr wrap="square">
            <a:spAutoFit/>
          </a:bodyPr>
          <a:lstStyle/>
          <a:p>
            <a:pPr algn="ctr">
              <a:defRPr sz="1100" b="0">
                <a:solidFill>
                  <a:srgbClr val="F87171"/>
                </a:solidFill>
                <a:latin typeface="Trebuchet MS"/>
              </a:defRPr>
            </a:pPr>
            <a:r>
              <a:t>Not available</a:t>
            </a:r>
          </a:p>
        </p:txBody>
      </p:sp>
      <p:sp>
        <p:nvSpPr>
          <p:cNvPr id="22" name="Rectangle 21"/>
          <p:cNvSpPr/>
          <p:nvPr/>
        </p:nvSpPr>
        <p:spPr>
          <a:xfrm>
            <a:off x="6995160" y="2935224"/>
            <a:ext cx="448056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86600" y="2971800"/>
            <a:ext cx="4297680" cy="457200"/>
          </a:xfrm>
          <a:prstGeom prst="rect">
            <a:avLst/>
          </a:prstGeom>
          <a:noFill/>
        </p:spPr>
        <p:txBody>
          <a:bodyPr wrap="square">
            <a:spAutoFit/>
          </a:bodyPr>
          <a:lstStyle/>
          <a:p>
            <a:pPr algn="ctr">
              <a:defRPr sz="1100" b="0">
                <a:solidFill>
                  <a:srgbClr val="6EE7B7"/>
                </a:solidFill>
                <a:latin typeface="Trebuchet MS"/>
              </a:defRPr>
            </a:pPr>
            <a:r>
              <a:t>Real-time 7-emotion FER via webcam</a:t>
            </a:r>
          </a:p>
        </p:txBody>
      </p:sp>
      <p:sp>
        <p:nvSpPr>
          <p:cNvPr id="24" name="Rectangle 23"/>
          <p:cNvSpPr/>
          <p:nvPr/>
        </p:nvSpPr>
        <p:spPr>
          <a:xfrm>
            <a:off x="320040" y="3465576"/>
            <a:ext cx="256032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502152"/>
            <a:ext cx="2377440" cy="457200"/>
          </a:xfrm>
          <a:prstGeom prst="rect">
            <a:avLst/>
          </a:prstGeom>
          <a:noFill/>
        </p:spPr>
        <p:txBody>
          <a:bodyPr wrap="square">
            <a:spAutoFit/>
          </a:bodyPr>
          <a:lstStyle/>
          <a:p>
            <a:pPr algn="l">
              <a:defRPr sz="1100" b="1">
                <a:solidFill>
                  <a:srgbClr val="FFFFFF"/>
                </a:solidFill>
                <a:latin typeface="Trebuchet MS"/>
              </a:defRPr>
            </a:pPr>
            <a:r>
              <a:t>Eye Tracking</a:t>
            </a:r>
          </a:p>
        </p:txBody>
      </p:sp>
      <p:sp>
        <p:nvSpPr>
          <p:cNvPr id="26" name="Rectangle 25"/>
          <p:cNvSpPr/>
          <p:nvPr/>
        </p:nvSpPr>
        <p:spPr>
          <a:xfrm>
            <a:off x="2880360" y="3465576"/>
            <a:ext cx="411480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71800" y="3502152"/>
            <a:ext cx="3931920" cy="457200"/>
          </a:xfrm>
          <a:prstGeom prst="rect">
            <a:avLst/>
          </a:prstGeom>
          <a:noFill/>
        </p:spPr>
        <p:txBody>
          <a:bodyPr wrap="square">
            <a:spAutoFit/>
          </a:bodyPr>
          <a:lstStyle/>
          <a:p>
            <a:pPr algn="ctr">
              <a:defRPr sz="1100" b="0">
                <a:solidFill>
                  <a:srgbClr val="F87171"/>
                </a:solidFill>
                <a:latin typeface="Trebuchet MS"/>
              </a:defRPr>
            </a:pPr>
            <a:r>
              <a:t>$15,000+ hardware required</a:t>
            </a:r>
          </a:p>
        </p:txBody>
      </p:sp>
      <p:sp>
        <p:nvSpPr>
          <p:cNvPr id="28" name="Rectangle 27"/>
          <p:cNvSpPr/>
          <p:nvPr/>
        </p:nvSpPr>
        <p:spPr>
          <a:xfrm>
            <a:off x="6995160" y="3465576"/>
            <a:ext cx="448056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86600" y="3502152"/>
            <a:ext cx="4297680" cy="457200"/>
          </a:xfrm>
          <a:prstGeom prst="rect">
            <a:avLst/>
          </a:prstGeom>
          <a:noFill/>
        </p:spPr>
        <p:txBody>
          <a:bodyPr wrap="square">
            <a:spAutoFit/>
          </a:bodyPr>
          <a:lstStyle/>
          <a:p>
            <a:pPr algn="ctr">
              <a:defRPr sz="1100" b="0">
                <a:solidFill>
                  <a:srgbClr val="6EE7B7"/>
                </a:solidFill>
                <a:latin typeface="Trebuchet MS"/>
              </a:defRPr>
            </a:pPr>
            <a:r>
              <a:t>Free browser-based MediaPipe iris tracking</a:t>
            </a:r>
          </a:p>
        </p:txBody>
      </p:sp>
      <p:sp>
        <p:nvSpPr>
          <p:cNvPr id="30" name="Rectangle 29"/>
          <p:cNvSpPr/>
          <p:nvPr/>
        </p:nvSpPr>
        <p:spPr>
          <a:xfrm>
            <a:off x="320040" y="3995928"/>
            <a:ext cx="256032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032504"/>
            <a:ext cx="2377440" cy="457200"/>
          </a:xfrm>
          <a:prstGeom prst="rect">
            <a:avLst/>
          </a:prstGeom>
          <a:noFill/>
        </p:spPr>
        <p:txBody>
          <a:bodyPr wrap="square">
            <a:spAutoFit/>
          </a:bodyPr>
          <a:lstStyle/>
          <a:p>
            <a:pPr algn="l">
              <a:defRPr sz="1100" b="1">
                <a:solidFill>
                  <a:srgbClr val="FFFFFF"/>
                </a:solidFill>
                <a:latin typeface="Trebuchet MS"/>
              </a:defRPr>
            </a:pPr>
            <a:r>
              <a:t>Integration Effort</a:t>
            </a:r>
          </a:p>
        </p:txBody>
      </p:sp>
      <p:sp>
        <p:nvSpPr>
          <p:cNvPr id="32" name="Rectangle 31"/>
          <p:cNvSpPr/>
          <p:nvPr/>
        </p:nvSpPr>
        <p:spPr>
          <a:xfrm>
            <a:off x="2880360" y="3995928"/>
            <a:ext cx="411480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71800" y="4032504"/>
            <a:ext cx="3931920" cy="457200"/>
          </a:xfrm>
          <a:prstGeom prst="rect">
            <a:avLst/>
          </a:prstGeom>
          <a:noFill/>
        </p:spPr>
        <p:txBody>
          <a:bodyPr wrap="square">
            <a:spAutoFit/>
          </a:bodyPr>
          <a:lstStyle/>
          <a:p>
            <a:pPr algn="ctr">
              <a:defRPr sz="1100" b="0">
                <a:solidFill>
                  <a:srgbClr val="F87171"/>
                </a:solidFill>
                <a:latin typeface="Trebuchet MS"/>
              </a:defRPr>
            </a:pPr>
            <a:r>
              <a:t>Complex SDKs, weeks of setup</a:t>
            </a:r>
          </a:p>
        </p:txBody>
      </p:sp>
      <p:sp>
        <p:nvSpPr>
          <p:cNvPr id="34" name="Rectangle 33"/>
          <p:cNvSpPr/>
          <p:nvPr/>
        </p:nvSpPr>
        <p:spPr>
          <a:xfrm>
            <a:off x="6995160" y="3995928"/>
            <a:ext cx="448056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86600" y="4032504"/>
            <a:ext cx="4297680" cy="457200"/>
          </a:xfrm>
          <a:prstGeom prst="rect">
            <a:avLst/>
          </a:prstGeom>
          <a:noFill/>
        </p:spPr>
        <p:txBody>
          <a:bodyPr wrap="square">
            <a:spAutoFit/>
          </a:bodyPr>
          <a:lstStyle/>
          <a:p>
            <a:pPr algn="ctr">
              <a:defRPr sz="1100" b="0">
                <a:solidFill>
                  <a:srgbClr val="6EE7B7"/>
                </a:solidFill>
                <a:latin typeface="Trebuchet MS"/>
              </a:defRPr>
            </a:pPr>
            <a:r>
              <a:t>Single &lt;script&gt; tag, 30 seconds</a:t>
            </a:r>
          </a:p>
        </p:txBody>
      </p:sp>
      <p:sp>
        <p:nvSpPr>
          <p:cNvPr id="36" name="Rectangle 35"/>
          <p:cNvSpPr/>
          <p:nvPr/>
        </p:nvSpPr>
        <p:spPr>
          <a:xfrm>
            <a:off x="320040" y="4526280"/>
            <a:ext cx="256032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4562856"/>
            <a:ext cx="2377440" cy="457200"/>
          </a:xfrm>
          <a:prstGeom prst="rect">
            <a:avLst/>
          </a:prstGeom>
          <a:noFill/>
        </p:spPr>
        <p:txBody>
          <a:bodyPr wrap="square">
            <a:spAutoFit/>
          </a:bodyPr>
          <a:lstStyle/>
          <a:p>
            <a:pPr algn="l">
              <a:defRPr sz="1100" b="1">
                <a:solidFill>
                  <a:srgbClr val="FFFFFF"/>
                </a:solidFill>
                <a:latin typeface="Trebuchet MS"/>
              </a:defRPr>
            </a:pPr>
            <a:r>
              <a:t>Privacy &amp; Storage</a:t>
            </a:r>
          </a:p>
        </p:txBody>
      </p:sp>
      <p:sp>
        <p:nvSpPr>
          <p:cNvPr id="38" name="Rectangle 37"/>
          <p:cNvSpPr/>
          <p:nvPr/>
        </p:nvSpPr>
        <p:spPr>
          <a:xfrm>
            <a:off x="2880360" y="4526280"/>
            <a:ext cx="411480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71800" y="4562856"/>
            <a:ext cx="3931920" cy="457200"/>
          </a:xfrm>
          <a:prstGeom prst="rect">
            <a:avLst/>
          </a:prstGeom>
          <a:noFill/>
        </p:spPr>
        <p:txBody>
          <a:bodyPr wrap="square">
            <a:spAutoFit/>
          </a:bodyPr>
          <a:lstStyle/>
          <a:p>
            <a:pPr algn="ctr">
              <a:defRPr sz="1100" b="0">
                <a:solidFill>
                  <a:srgbClr val="F87171"/>
                </a:solidFill>
                <a:latin typeface="Trebuchet MS"/>
              </a:defRPr>
            </a:pPr>
            <a:r>
              <a:t>Raw video stored on server</a:t>
            </a:r>
          </a:p>
        </p:txBody>
      </p:sp>
      <p:sp>
        <p:nvSpPr>
          <p:cNvPr id="40" name="Rectangle 39"/>
          <p:cNvSpPr/>
          <p:nvPr/>
        </p:nvSpPr>
        <p:spPr>
          <a:xfrm>
            <a:off x="6995160" y="4526280"/>
            <a:ext cx="448056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86600" y="4562856"/>
            <a:ext cx="4297680" cy="457200"/>
          </a:xfrm>
          <a:prstGeom prst="rect">
            <a:avLst/>
          </a:prstGeom>
          <a:noFill/>
        </p:spPr>
        <p:txBody>
          <a:bodyPr wrap="square">
            <a:spAutoFit/>
          </a:bodyPr>
          <a:lstStyle/>
          <a:p>
            <a:pPr algn="ctr">
              <a:defRPr sz="1100" b="0">
                <a:solidFill>
                  <a:srgbClr val="6EE7B7"/>
                </a:solidFill>
                <a:latin typeface="Trebuchet MS"/>
              </a:defRPr>
            </a:pPr>
            <a:r>
              <a:t>Zero video stored; analytics only</a:t>
            </a:r>
          </a:p>
        </p:txBody>
      </p:sp>
      <p:sp>
        <p:nvSpPr>
          <p:cNvPr id="42" name="Rectangle 41"/>
          <p:cNvSpPr/>
          <p:nvPr/>
        </p:nvSpPr>
        <p:spPr>
          <a:xfrm>
            <a:off x="320040" y="5056632"/>
            <a:ext cx="256032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5093208"/>
            <a:ext cx="2377440" cy="457200"/>
          </a:xfrm>
          <a:prstGeom prst="rect">
            <a:avLst/>
          </a:prstGeom>
          <a:noFill/>
        </p:spPr>
        <p:txBody>
          <a:bodyPr wrap="square">
            <a:spAutoFit/>
          </a:bodyPr>
          <a:lstStyle/>
          <a:p>
            <a:pPr algn="l">
              <a:defRPr sz="1100" b="1">
                <a:solidFill>
                  <a:srgbClr val="FFFFFF"/>
                </a:solidFill>
                <a:latin typeface="Trebuchet MS"/>
              </a:defRPr>
            </a:pPr>
            <a:r>
              <a:t>Cost</a:t>
            </a:r>
          </a:p>
        </p:txBody>
      </p:sp>
      <p:sp>
        <p:nvSpPr>
          <p:cNvPr id="44" name="Rectangle 43"/>
          <p:cNvSpPr/>
          <p:nvPr/>
        </p:nvSpPr>
        <p:spPr>
          <a:xfrm>
            <a:off x="2880360" y="5056632"/>
            <a:ext cx="411480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971800" y="5093208"/>
            <a:ext cx="3931920" cy="457200"/>
          </a:xfrm>
          <a:prstGeom prst="rect">
            <a:avLst/>
          </a:prstGeom>
          <a:noFill/>
        </p:spPr>
        <p:txBody>
          <a:bodyPr wrap="square">
            <a:spAutoFit/>
          </a:bodyPr>
          <a:lstStyle/>
          <a:p>
            <a:pPr algn="ctr">
              <a:defRPr sz="1100" b="0">
                <a:solidFill>
                  <a:srgbClr val="F87171"/>
                </a:solidFill>
                <a:latin typeface="Trebuchet MS"/>
              </a:defRPr>
            </a:pPr>
            <a:r>
              <a:t>$500-5,000+/month enterprise</a:t>
            </a:r>
          </a:p>
        </p:txBody>
      </p:sp>
      <p:sp>
        <p:nvSpPr>
          <p:cNvPr id="46" name="Rectangle 45"/>
          <p:cNvSpPr/>
          <p:nvPr/>
        </p:nvSpPr>
        <p:spPr>
          <a:xfrm>
            <a:off x="6995160" y="5056632"/>
            <a:ext cx="4480560" cy="530352"/>
          </a:xfrm>
          <a:prstGeom prst="rect">
            <a:avLst/>
          </a:prstGeom>
          <a:solidFill>
            <a:srgbClr val="0F131C"/>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86600" y="5093208"/>
            <a:ext cx="4297680" cy="457200"/>
          </a:xfrm>
          <a:prstGeom prst="rect">
            <a:avLst/>
          </a:prstGeom>
          <a:noFill/>
        </p:spPr>
        <p:txBody>
          <a:bodyPr wrap="square">
            <a:spAutoFit/>
          </a:bodyPr>
          <a:lstStyle/>
          <a:p>
            <a:pPr algn="ctr">
              <a:defRPr sz="1100" b="0">
                <a:solidFill>
                  <a:srgbClr val="6EE7B7"/>
                </a:solidFill>
                <a:latin typeface="Trebuchet MS"/>
              </a:defRPr>
            </a:pPr>
            <a:r>
              <a:t>Free tier + Rs. 500/month Pro</a:t>
            </a:r>
          </a:p>
        </p:txBody>
      </p:sp>
      <p:sp>
        <p:nvSpPr>
          <p:cNvPr id="48" name="Rectangle 47"/>
          <p:cNvSpPr/>
          <p:nvPr/>
        </p:nvSpPr>
        <p:spPr>
          <a:xfrm>
            <a:off x="320040" y="5586984"/>
            <a:ext cx="256032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11480" y="5623560"/>
            <a:ext cx="2377440" cy="457200"/>
          </a:xfrm>
          <a:prstGeom prst="rect">
            <a:avLst/>
          </a:prstGeom>
          <a:noFill/>
        </p:spPr>
        <p:txBody>
          <a:bodyPr wrap="square">
            <a:spAutoFit/>
          </a:bodyPr>
          <a:lstStyle/>
          <a:p>
            <a:pPr algn="l">
              <a:defRPr sz="1100" b="1">
                <a:solidFill>
                  <a:srgbClr val="FFFFFF"/>
                </a:solidFill>
                <a:latin typeface="Trebuchet MS"/>
              </a:defRPr>
            </a:pPr>
            <a:r>
              <a:t>Processing Speed</a:t>
            </a:r>
          </a:p>
        </p:txBody>
      </p:sp>
      <p:sp>
        <p:nvSpPr>
          <p:cNvPr id="50" name="Rectangle 49"/>
          <p:cNvSpPr/>
          <p:nvPr/>
        </p:nvSpPr>
        <p:spPr>
          <a:xfrm>
            <a:off x="2880360" y="5586984"/>
            <a:ext cx="411480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971800" y="5623560"/>
            <a:ext cx="3931920" cy="457200"/>
          </a:xfrm>
          <a:prstGeom prst="rect">
            <a:avLst/>
          </a:prstGeom>
          <a:noFill/>
        </p:spPr>
        <p:txBody>
          <a:bodyPr wrap="square">
            <a:spAutoFit/>
          </a:bodyPr>
          <a:lstStyle/>
          <a:p>
            <a:pPr algn="ctr">
              <a:defRPr sz="1100" b="0">
                <a:solidFill>
                  <a:srgbClr val="F87171"/>
                </a:solidFill>
                <a:latin typeface="Trebuchet MS"/>
              </a:defRPr>
            </a:pPr>
            <a:r>
              <a:t>Post-session batch analysis</a:t>
            </a:r>
          </a:p>
        </p:txBody>
      </p:sp>
      <p:sp>
        <p:nvSpPr>
          <p:cNvPr id="52" name="Rectangle 51"/>
          <p:cNvSpPr/>
          <p:nvPr/>
        </p:nvSpPr>
        <p:spPr>
          <a:xfrm>
            <a:off x="6995160" y="5586984"/>
            <a:ext cx="4480560" cy="530352"/>
          </a:xfrm>
          <a:prstGeom prst="rect">
            <a:avLst/>
          </a:prstGeom>
          <a:solidFill>
            <a:srgbClr val="111620"/>
          </a:solidFill>
          <a:ln w="63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086600" y="5623560"/>
            <a:ext cx="4297680" cy="457200"/>
          </a:xfrm>
          <a:prstGeom prst="rect">
            <a:avLst/>
          </a:prstGeom>
          <a:noFill/>
        </p:spPr>
        <p:txBody>
          <a:bodyPr wrap="square">
            <a:spAutoFit/>
          </a:bodyPr>
          <a:lstStyle/>
          <a:p>
            <a:pPr algn="ctr">
              <a:defRPr sz="1100" b="0">
                <a:solidFill>
                  <a:srgbClr val="6EE7B7"/>
                </a:solidFill>
                <a:latin typeface="Trebuchet MS"/>
              </a:defRPr>
            </a:pPr>
            <a:r>
              <a:t>Live WebSocket AI, &lt; 500ms/frame</a:t>
            </a:r>
          </a:p>
        </p:txBody>
      </p:sp>
      <p:sp>
        <p:nvSpPr>
          <p:cNvPr id="54" name="TextBox 53"/>
          <p:cNvSpPr txBox="1"/>
          <p:nvPr/>
        </p:nvSpPr>
        <p:spPr>
          <a:xfrm>
            <a:off x="457200" y="6229227"/>
            <a:ext cx="11155680" cy="365760"/>
          </a:xfrm>
          <a:prstGeom prst="rect">
            <a:avLst/>
          </a:prstGeom>
          <a:noFill/>
        </p:spPr>
        <p:txBody>
          <a:bodyPr wrap="square">
            <a:spAutoFit/>
          </a:bodyPr>
          <a:lstStyle/>
          <a:p>
            <a:pPr algn="ctr">
              <a:defRPr sz="1100" b="0">
                <a:solidFill>
                  <a:srgbClr val="64748B"/>
                </a:solidFill>
                <a:latin typeface="Trebuchet MS"/>
              </a:defRPr>
            </a:pPr>
            <a:r>
              <a:rPr dirty="0"/>
              <a:t>Attention Trace delivers enterprise-grade analytics at a fraction of the cost with zero hardware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a:extLst>
            <a:ext uri="{FF2B5EF4-FFF2-40B4-BE49-F238E27FC236}">
              <a16:creationId xmlns:a16="http://schemas.microsoft.com/office/drawing/2014/main" id="{6AC5A803-931E-5468-BDA7-73043CE155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2B68C3-D798-8A83-ACC9-504288676B4C}"/>
              </a:ext>
            </a:extLst>
          </p:cNvPr>
          <p:cNvSpPr txBox="1"/>
          <p:nvPr/>
        </p:nvSpPr>
        <p:spPr>
          <a:xfrm>
            <a:off x="548640" y="274320"/>
            <a:ext cx="1097280" cy="707886"/>
          </a:xfrm>
          <a:prstGeom prst="rect">
            <a:avLst/>
          </a:prstGeom>
          <a:noFill/>
        </p:spPr>
        <p:txBody>
          <a:bodyPr wrap="square">
            <a:spAutoFit/>
          </a:bodyPr>
          <a:lstStyle/>
          <a:p>
            <a:pPr algn="l">
              <a:defRPr sz="4000" b="1">
                <a:solidFill>
                  <a:srgbClr val="FF4D29"/>
                </a:solidFill>
                <a:latin typeface="Trebuchet MS"/>
              </a:defRPr>
            </a:pPr>
            <a:r>
              <a:rPr dirty="0"/>
              <a:t>0</a:t>
            </a:r>
            <a:r>
              <a:rPr lang="en-US" dirty="0"/>
              <a:t>8</a:t>
            </a:r>
            <a:endParaRPr dirty="0"/>
          </a:p>
        </p:txBody>
      </p:sp>
      <p:sp>
        <p:nvSpPr>
          <p:cNvPr id="3" name="Rectangle 2">
            <a:extLst>
              <a:ext uri="{FF2B5EF4-FFF2-40B4-BE49-F238E27FC236}">
                <a16:creationId xmlns:a16="http://schemas.microsoft.com/office/drawing/2014/main" id="{81422930-F2F7-C7A8-E2A5-B104166167EE}"/>
              </a:ext>
            </a:extLst>
          </p:cNvPr>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9568284-198B-7D30-494F-BB62740C8CAC}"/>
              </a:ext>
            </a:extLst>
          </p:cNvPr>
          <p:cNvSpPr txBox="1"/>
          <p:nvPr/>
        </p:nvSpPr>
        <p:spPr>
          <a:xfrm>
            <a:off x="548640" y="960120"/>
            <a:ext cx="10058400" cy="677108"/>
          </a:xfrm>
          <a:prstGeom prst="rect">
            <a:avLst/>
          </a:prstGeom>
          <a:noFill/>
        </p:spPr>
        <p:txBody>
          <a:bodyPr wrap="square">
            <a:spAutoFit/>
          </a:bodyPr>
          <a:lstStyle/>
          <a:p>
            <a:pPr algn="l">
              <a:defRPr sz="3800" b="1">
                <a:solidFill>
                  <a:srgbClr val="FFFFFF"/>
                </a:solidFill>
                <a:latin typeface="Trebuchet MS"/>
              </a:defRPr>
            </a:pPr>
            <a:r>
              <a:rPr lang="en-US" dirty="0"/>
              <a:t>UI INTERFACES</a:t>
            </a:r>
            <a:endParaRPr dirty="0"/>
          </a:p>
        </p:txBody>
      </p:sp>
      <p:sp>
        <p:nvSpPr>
          <p:cNvPr id="15" name="Rounded Rectangle 14">
            <a:extLst>
              <a:ext uri="{FF2B5EF4-FFF2-40B4-BE49-F238E27FC236}">
                <a16:creationId xmlns:a16="http://schemas.microsoft.com/office/drawing/2014/main" id="{30B86BC5-83EF-DBD4-84F5-FBA58D973935}"/>
              </a:ext>
            </a:extLst>
          </p:cNvPr>
          <p:cNvSpPr/>
          <p:nvPr/>
        </p:nvSpPr>
        <p:spPr>
          <a:xfrm>
            <a:off x="168133" y="1802536"/>
            <a:ext cx="5967197" cy="4018162"/>
          </a:xfrm>
          <a:prstGeom prst="roundRect">
            <a:avLst>
              <a:gd name="adj" fmla="val 162"/>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2" name="Picture 21">
            <a:extLst>
              <a:ext uri="{FF2B5EF4-FFF2-40B4-BE49-F238E27FC236}">
                <a16:creationId xmlns:a16="http://schemas.microsoft.com/office/drawing/2014/main" id="{4D36B40F-1683-C69B-8057-753BFF5B4F41}"/>
              </a:ext>
            </a:extLst>
          </p:cNvPr>
          <p:cNvPicPr>
            <a:picLocks noChangeAspect="1"/>
          </p:cNvPicPr>
          <p:nvPr/>
        </p:nvPicPr>
        <p:blipFill>
          <a:blip r:embed="rId3"/>
          <a:stretch>
            <a:fillRect/>
          </a:stretch>
        </p:blipFill>
        <p:spPr>
          <a:xfrm>
            <a:off x="275305" y="1907457"/>
            <a:ext cx="5751871" cy="3814916"/>
          </a:xfrm>
          <a:prstGeom prst="rect">
            <a:avLst/>
          </a:prstGeom>
          <a:ln>
            <a:noFill/>
          </a:ln>
        </p:spPr>
      </p:pic>
      <p:sp>
        <p:nvSpPr>
          <p:cNvPr id="25" name="Rounded Rectangle 14">
            <a:extLst>
              <a:ext uri="{FF2B5EF4-FFF2-40B4-BE49-F238E27FC236}">
                <a16:creationId xmlns:a16="http://schemas.microsoft.com/office/drawing/2014/main" id="{6268F571-F19D-AD04-9560-6415314FF186}"/>
              </a:ext>
            </a:extLst>
          </p:cNvPr>
          <p:cNvSpPr/>
          <p:nvPr/>
        </p:nvSpPr>
        <p:spPr>
          <a:xfrm>
            <a:off x="6174656" y="1805833"/>
            <a:ext cx="5839379" cy="4018162"/>
          </a:xfrm>
          <a:prstGeom prst="roundRect">
            <a:avLst>
              <a:gd name="adj" fmla="val 162"/>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24" name="Picture 23">
            <a:extLst>
              <a:ext uri="{FF2B5EF4-FFF2-40B4-BE49-F238E27FC236}">
                <a16:creationId xmlns:a16="http://schemas.microsoft.com/office/drawing/2014/main" id="{F70A62D7-15E4-7F23-1751-E0C1243E510B}"/>
              </a:ext>
            </a:extLst>
          </p:cNvPr>
          <p:cNvPicPr>
            <a:picLocks noChangeAspect="1"/>
          </p:cNvPicPr>
          <p:nvPr/>
        </p:nvPicPr>
        <p:blipFill>
          <a:blip r:embed="rId4"/>
          <a:stretch>
            <a:fillRect/>
          </a:stretch>
        </p:blipFill>
        <p:spPr>
          <a:xfrm>
            <a:off x="6262165" y="1897624"/>
            <a:ext cx="5634866" cy="3814917"/>
          </a:xfrm>
          <a:prstGeom prst="rect">
            <a:avLst/>
          </a:prstGeom>
        </p:spPr>
      </p:pic>
    </p:spTree>
    <p:extLst>
      <p:ext uri="{BB962C8B-B14F-4D97-AF65-F5344CB8AC3E}">
        <p14:creationId xmlns:p14="http://schemas.microsoft.com/office/powerpoint/2010/main" val="4113115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a:extLst>
            <a:ext uri="{FF2B5EF4-FFF2-40B4-BE49-F238E27FC236}">
              <a16:creationId xmlns:a16="http://schemas.microsoft.com/office/drawing/2014/main" id="{254AF3B5-DF5B-C85E-AA0B-C8CDEE5E4A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F19FFD-2BA6-7172-5EDE-B32AF03C9EC9}"/>
              </a:ext>
            </a:extLst>
          </p:cNvPr>
          <p:cNvSpPr txBox="1"/>
          <p:nvPr/>
        </p:nvSpPr>
        <p:spPr>
          <a:xfrm>
            <a:off x="548639" y="274320"/>
            <a:ext cx="1319489" cy="707886"/>
          </a:xfrm>
          <a:prstGeom prst="rect">
            <a:avLst/>
          </a:prstGeom>
          <a:noFill/>
        </p:spPr>
        <p:txBody>
          <a:bodyPr wrap="square">
            <a:spAutoFit/>
          </a:bodyPr>
          <a:lstStyle/>
          <a:p>
            <a:pPr algn="l">
              <a:defRPr sz="4000" b="1">
                <a:solidFill>
                  <a:srgbClr val="FF4D29"/>
                </a:solidFill>
                <a:latin typeface="Trebuchet MS"/>
              </a:defRPr>
            </a:pPr>
            <a:r>
              <a:rPr dirty="0"/>
              <a:t>0</a:t>
            </a:r>
            <a:r>
              <a:rPr lang="en-US" dirty="0"/>
              <a:t>8</a:t>
            </a:r>
            <a:endParaRPr dirty="0"/>
          </a:p>
        </p:txBody>
      </p:sp>
      <p:sp>
        <p:nvSpPr>
          <p:cNvPr id="3" name="Rectangle 2">
            <a:extLst>
              <a:ext uri="{FF2B5EF4-FFF2-40B4-BE49-F238E27FC236}">
                <a16:creationId xmlns:a16="http://schemas.microsoft.com/office/drawing/2014/main" id="{3524CB55-3414-AA7C-C386-F66914A1599A}"/>
              </a:ext>
            </a:extLst>
          </p:cNvPr>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FE38F1A-0506-2BFD-43CA-EB2B7E0B5DB1}"/>
              </a:ext>
            </a:extLst>
          </p:cNvPr>
          <p:cNvSpPr txBox="1"/>
          <p:nvPr/>
        </p:nvSpPr>
        <p:spPr>
          <a:xfrm>
            <a:off x="548640" y="960120"/>
            <a:ext cx="10058400" cy="677108"/>
          </a:xfrm>
          <a:prstGeom prst="rect">
            <a:avLst/>
          </a:prstGeom>
          <a:noFill/>
        </p:spPr>
        <p:txBody>
          <a:bodyPr wrap="square">
            <a:spAutoFit/>
          </a:bodyPr>
          <a:lstStyle/>
          <a:p>
            <a:pPr algn="l">
              <a:defRPr sz="3800" b="1">
                <a:solidFill>
                  <a:srgbClr val="FFFFFF"/>
                </a:solidFill>
                <a:latin typeface="Trebuchet MS"/>
              </a:defRPr>
            </a:pPr>
            <a:r>
              <a:rPr lang="en-US" dirty="0"/>
              <a:t>UI INTERFACES</a:t>
            </a:r>
            <a:endParaRPr dirty="0"/>
          </a:p>
        </p:txBody>
      </p:sp>
      <p:sp>
        <p:nvSpPr>
          <p:cNvPr id="15" name="Rounded Rectangle 14">
            <a:extLst>
              <a:ext uri="{FF2B5EF4-FFF2-40B4-BE49-F238E27FC236}">
                <a16:creationId xmlns:a16="http://schemas.microsoft.com/office/drawing/2014/main" id="{3D24449E-00AA-1366-0EFE-A6C33FF0A6DF}"/>
              </a:ext>
            </a:extLst>
          </p:cNvPr>
          <p:cNvSpPr/>
          <p:nvPr/>
        </p:nvSpPr>
        <p:spPr>
          <a:xfrm>
            <a:off x="168133" y="1802536"/>
            <a:ext cx="5967197" cy="4018162"/>
          </a:xfrm>
          <a:prstGeom prst="roundRect">
            <a:avLst>
              <a:gd name="adj" fmla="val 162"/>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Rounded Rectangle 14">
            <a:extLst>
              <a:ext uri="{FF2B5EF4-FFF2-40B4-BE49-F238E27FC236}">
                <a16:creationId xmlns:a16="http://schemas.microsoft.com/office/drawing/2014/main" id="{000B954C-746A-CFC7-43EC-4B71A3D1A73E}"/>
              </a:ext>
            </a:extLst>
          </p:cNvPr>
          <p:cNvSpPr/>
          <p:nvPr/>
        </p:nvSpPr>
        <p:spPr>
          <a:xfrm>
            <a:off x="6174656" y="1805833"/>
            <a:ext cx="5839379" cy="4018162"/>
          </a:xfrm>
          <a:prstGeom prst="roundRect">
            <a:avLst>
              <a:gd name="adj" fmla="val 162"/>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6" name="Picture 5">
            <a:extLst>
              <a:ext uri="{FF2B5EF4-FFF2-40B4-BE49-F238E27FC236}">
                <a16:creationId xmlns:a16="http://schemas.microsoft.com/office/drawing/2014/main" id="{5612D1B1-6FC7-D783-1D09-ED061084FC63}"/>
              </a:ext>
            </a:extLst>
          </p:cNvPr>
          <p:cNvPicPr>
            <a:picLocks noChangeAspect="1"/>
          </p:cNvPicPr>
          <p:nvPr/>
        </p:nvPicPr>
        <p:blipFill>
          <a:blip r:embed="rId3"/>
          <a:stretch>
            <a:fillRect/>
          </a:stretch>
        </p:blipFill>
        <p:spPr>
          <a:xfrm>
            <a:off x="265473" y="1897624"/>
            <a:ext cx="5762683" cy="3814917"/>
          </a:xfrm>
          <a:prstGeom prst="rect">
            <a:avLst/>
          </a:prstGeom>
        </p:spPr>
      </p:pic>
      <p:pic>
        <p:nvPicPr>
          <p:cNvPr id="8" name="Picture 7">
            <a:extLst>
              <a:ext uri="{FF2B5EF4-FFF2-40B4-BE49-F238E27FC236}">
                <a16:creationId xmlns:a16="http://schemas.microsoft.com/office/drawing/2014/main" id="{AE909696-1BEE-3A20-0C9F-5EEE106C7B92}"/>
              </a:ext>
            </a:extLst>
          </p:cNvPr>
          <p:cNvPicPr>
            <a:picLocks noChangeAspect="1"/>
          </p:cNvPicPr>
          <p:nvPr/>
        </p:nvPicPr>
        <p:blipFill>
          <a:blip r:embed="rId4"/>
          <a:stretch>
            <a:fillRect/>
          </a:stretch>
        </p:blipFill>
        <p:spPr>
          <a:xfrm>
            <a:off x="6271999" y="1897624"/>
            <a:ext cx="5664360" cy="3814917"/>
          </a:xfrm>
          <a:prstGeom prst="rect">
            <a:avLst/>
          </a:prstGeom>
        </p:spPr>
      </p:pic>
    </p:spTree>
    <p:extLst>
      <p:ext uri="{BB962C8B-B14F-4D97-AF65-F5344CB8AC3E}">
        <p14:creationId xmlns:p14="http://schemas.microsoft.com/office/powerpoint/2010/main" val="2917044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707886"/>
          </a:xfrm>
          <a:prstGeom prst="rect">
            <a:avLst/>
          </a:prstGeom>
          <a:noFill/>
        </p:spPr>
        <p:txBody>
          <a:bodyPr wrap="square">
            <a:spAutoFit/>
          </a:bodyPr>
          <a:lstStyle/>
          <a:p>
            <a:pPr algn="l">
              <a:defRPr sz="4000" b="1">
                <a:solidFill>
                  <a:srgbClr val="FF4D29"/>
                </a:solidFill>
                <a:latin typeface="Trebuchet MS"/>
              </a:defRPr>
            </a:pPr>
            <a:r>
              <a:rPr dirty="0"/>
              <a:t>0</a:t>
            </a:r>
            <a:r>
              <a:rPr lang="en-US" dirty="0"/>
              <a:t>9</a:t>
            </a:r>
            <a:endParaRPr dirty="0"/>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Conclusion</a:t>
            </a:r>
          </a:p>
        </p:txBody>
      </p:sp>
      <p:sp>
        <p:nvSpPr>
          <p:cNvPr id="5" name="TextBox 4"/>
          <p:cNvSpPr txBox="1"/>
          <p:nvPr/>
        </p:nvSpPr>
        <p:spPr>
          <a:xfrm>
            <a:off x="548640" y="1645920"/>
            <a:ext cx="11064240" cy="1280160"/>
          </a:xfrm>
          <a:prstGeom prst="rect">
            <a:avLst/>
          </a:prstGeom>
          <a:noFill/>
        </p:spPr>
        <p:txBody>
          <a:bodyPr wrap="square">
            <a:spAutoFit/>
          </a:bodyPr>
          <a:lstStyle/>
          <a:p>
            <a:pPr algn="l">
              <a:defRPr sz="1600" b="0">
                <a:solidFill>
                  <a:srgbClr val="94A3B8"/>
                </a:solidFill>
                <a:latin typeface="Trebuchet MS"/>
              </a:defRPr>
            </a:pPr>
            <a:r>
              <a:t>Attention Trace successfully demonstrates that real-time, browser-based AI can transform how advertisers measure genuine human engagement. By combining facial emotion recognition, iris-based gaze tracking, and behavioral heatmapping into a single embeddable script, we have built a practical, privacy-respecting platform that goes far beyond traditional click-through metrics.</a:t>
            </a:r>
          </a:p>
        </p:txBody>
      </p:sp>
      <p:sp>
        <p:nvSpPr>
          <p:cNvPr id="6" name="Rounded Rectangle 5"/>
          <p:cNvSpPr/>
          <p:nvPr/>
        </p:nvSpPr>
        <p:spPr>
          <a:xfrm>
            <a:off x="320040" y="3291840"/>
            <a:ext cx="2651760" cy="1554480"/>
          </a:xfrm>
          <a:prstGeom prst="roundRect">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3520440"/>
            <a:ext cx="2286000" cy="365760"/>
          </a:xfrm>
          <a:prstGeom prst="rect">
            <a:avLst/>
          </a:prstGeom>
          <a:noFill/>
        </p:spPr>
        <p:txBody>
          <a:bodyPr wrap="square">
            <a:spAutoFit/>
          </a:bodyPr>
          <a:lstStyle/>
          <a:p>
            <a:pPr algn="ctr">
              <a:defRPr sz="1400" b="1">
                <a:solidFill>
                  <a:srgbClr val="22C55E"/>
                </a:solidFill>
                <a:latin typeface="Trebuchet MS"/>
              </a:defRPr>
            </a:pPr>
            <a:r>
              <a:t>Privacy-First Design</a:t>
            </a:r>
          </a:p>
        </p:txBody>
      </p:sp>
      <p:sp>
        <p:nvSpPr>
          <p:cNvPr id="8" name="TextBox 7"/>
          <p:cNvSpPr txBox="1"/>
          <p:nvPr/>
        </p:nvSpPr>
        <p:spPr>
          <a:xfrm>
            <a:off x="502920" y="3977640"/>
            <a:ext cx="2286000" cy="731520"/>
          </a:xfrm>
          <a:prstGeom prst="rect">
            <a:avLst/>
          </a:prstGeom>
          <a:noFill/>
        </p:spPr>
        <p:txBody>
          <a:bodyPr wrap="square">
            <a:spAutoFit/>
          </a:bodyPr>
          <a:lstStyle/>
          <a:p>
            <a:pPr algn="ctr">
              <a:defRPr sz="1200" b="0">
                <a:solidFill>
                  <a:srgbClr val="94A3B8"/>
                </a:solidFill>
                <a:latin typeface="Trebuchet MS"/>
              </a:defRPr>
            </a:pPr>
            <a:r>
              <a:t>No raw video frames are</a:t>
            </a:r>
            <a:br/>
            <a:r>
              <a:t>ever stored or transmitted</a:t>
            </a:r>
          </a:p>
        </p:txBody>
      </p:sp>
      <p:sp>
        <p:nvSpPr>
          <p:cNvPr id="9" name="Rounded Rectangle 8"/>
          <p:cNvSpPr/>
          <p:nvPr/>
        </p:nvSpPr>
        <p:spPr>
          <a:xfrm>
            <a:off x="3127248" y="3291840"/>
            <a:ext cx="2651760" cy="1554480"/>
          </a:xfrm>
          <a:prstGeom prst="roundRect">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0128" y="3520440"/>
            <a:ext cx="2286000" cy="365760"/>
          </a:xfrm>
          <a:prstGeom prst="rect">
            <a:avLst/>
          </a:prstGeom>
          <a:noFill/>
        </p:spPr>
        <p:txBody>
          <a:bodyPr wrap="square">
            <a:spAutoFit/>
          </a:bodyPr>
          <a:lstStyle/>
          <a:p>
            <a:pPr algn="ctr">
              <a:defRPr sz="1400" b="1">
                <a:solidFill>
                  <a:srgbClr val="22C55E"/>
                </a:solidFill>
                <a:latin typeface="Trebuchet MS"/>
              </a:defRPr>
            </a:pPr>
            <a:r>
              <a:t>Real-Time AI Engine</a:t>
            </a:r>
          </a:p>
        </p:txBody>
      </p:sp>
      <p:sp>
        <p:nvSpPr>
          <p:cNvPr id="11" name="TextBox 10"/>
          <p:cNvSpPr txBox="1"/>
          <p:nvPr/>
        </p:nvSpPr>
        <p:spPr>
          <a:xfrm>
            <a:off x="3310128" y="3977640"/>
            <a:ext cx="2286000" cy="731520"/>
          </a:xfrm>
          <a:prstGeom prst="rect">
            <a:avLst/>
          </a:prstGeom>
          <a:noFill/>
        </p:spPr>
        <p:txBody>
          <a:bodyPr wrap="square">
            <a:spAutoFit/>
          </a:bodyPr>
          <a:lstStyle/>
          <a:p>
            <a:pPr algn="ctr">
              <a:defRPr sz="1200" b="0">
                <a:solidFill>
                  <a:srgbClr val="94A3B8"/>
                </a:solidFill>
                <a:latin typeface="Trebuchet MS"/>
              </a:defRPr>
            </a:pPr>
            <a:r>
              <a:t>&lt; 500ms processing per</a:t>
            </a:r>
            <a:br/>
            <a:r>
              <a:t>webcam frame via WebSocket</a:t>
            </a:r>
          </a:p>
        </p:txBody>
      </p:sp>
      <p:sp>
        <p:nvSpPr>
          <p:cNvPr id="12" name="Rounded Rectangle 11"/>
          <p:cNvSpPr/>
          <p:nvPr/>
        </p:nvSpPr>
        <p:spPr>
          <a:xfrm>
            <a:off x="5934456" y="3291840"/>
            <a:ext cx="2651760" cy="1554480"/>
          </a:xfrm>
          <a:prstGeom prst="roundRect">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17336" y="3520440"/>
            <a:ext cx="2286000" cy="365760"/>
          </a:xfrm>
          <a:prstGeom prst="rect">
            <a:avLst/>
          </a:prstGeom>
          <a:noFill/>
        </p:spPr>
        <p:txBody>
          <a:bodyPr wrap="square">
            <a:spAutoFit/>
          </a:bodyPr>
          <a:lstStyle/>
          <a:p>
            <a:pPr algn="ctr">
              <a:defRPr sz="1400" b="1">
                <a:solidFill>
                  <a:srgbClr val="22C55E"/>
                </a:solidFill>
                <a:latin typeface="Trebuchet MS"/>
              </a:defRPr>
            </a:pPr>
            <a:r>
              <a:t>Single Script Integration</a:t>
            </a:r>
          </a:p>
        </p:txBody>
      </p:sp>
      <p:sp>
        <p:nvSpPr>
          <p:cNvPr id="14" name="TextBox 13"/>
          <p:cNvSpPr txBox="1"/>
          <p:nvPr/>
        </p:nvSpPr>
        <p:spPr>
          <a:xfrm>
            <a:off x="6117336" y="3977640"/>
            <a:ext cx="2286000" cy="731520"/>
          </a:xfrm>
          <a:prstGeom prst="rect">
            <a:avLst/>
          </a:prstGeom>
          <a:noFill/>
        </p:spPr>
        <p:txBody>
          <a:bodyPr wrap="square">
            <a:spAutoFit/>
          </a:bodyPr>
          <a:lstStyle/>
          <a:p>
            <a:pPr algn="ctr">
              <a:defRPr sz="1200" b="0">
                <a:solidFill>
                  <a:srgbClr val="94A3B8"/>
                </a:solidFill>
                <a:latin typeface="Trebuchet MS"/>
              </a:defRPr>
            </a:pPr>
            <a:r>
              <a:t>One &lt;script&gt; tag deploys</a:t>
            </a:r>
            <a:br/>
            <a:r>
              <a:t>full tracking on any website</a:t>
            </a:r>
          </a:p>
        </p:txBody>
      </p:sp>
      <p:sp>
        <p:nvSpPr>
          <p:cNvPr id="15" name="Rounded Rectangle 14"/>
          <p:cNvSpPr/>
          <p:nvPr/>
        </p:nvSpPr>
        <p:spPr>
          <a:xfrm>
            <a:off x="8741664" y="3291840"/>
            <a:ext cx="2651760" cy="1554480"/>
          </a:xfrm>
          <a:prstGeom prst="roundRect">
            <a:avLst/>
          </a:prstGeom>
          <a:solidFill>
            <a:srgbClr val="11162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24544" y="3520440"/>
            <a:ext cx="2286000" cy="365760"/>
          </a:xfrm>
          <a:prstGeom prst="rect">
            <a:avLst/>
          </a:prstGeom>
          <a:noFill/>
        </p:spPr>
        <p:txBody>
          <a:bodyPr wrap="square">
            <a:spAutoFit/>
          </a:bodyPr>
          <a:lstStyle/>
          <a:p>
            <a:pPr algn="ctr">
              <a:defRPr sz="1400" b="1">
                <a:solidFill>
                  <a:srgbClr val="22C55E"/>
                </a:solidFill>
                <a:latin typeface="Trebuchet MS"/>
              </a:defRPr>
            </a:pPr>
            <a:r>
              <a:t>SaaS Production Ready</a:t>
            </a:r>
          </a:p>
        </p:txBody>
      </p:sp>
      <p:sp>
        <p:nvSpPr>
          <p:cNvPr id="17" name="TextBox 16"/>
          <p:cNvSpPr txBox="1"/>
          <p:nvPr/>
        </p:nvSpPr>
        <p:spPr>
          <a:xfrm>
            <a:off x="8924544" y="3977640"/>
            <a:ext cx="2286000" cy="731520"/>
          </a:xfrm>
          <a:prstGeom prst="rect">
            <a:avLst/>
          </a:prstGeom>
          <a:noFill/>
        </p:spPr>
        <p:txBody>
          <a:bodyPr wrap="square">
            <a:spAutoFit/>
          </a:bodyPr>
          <a:lstStyle/>
          <a:p>
            <a:pPr algn="ctr">
              <a:defRPr sz="1200" b="0">
                <a:solidFill>
                  <a:srgbClr val="94A3B8"/>
                </a:solidFill>
                <a:latin typeface="Trebuchet MS"/>
              </a:defRPr>
            </a:pPr>
            <a:r>
              <a:t>Complete auth, payments,</a:t>
            </a:r>
            <a:br/>
            <a:r>
              <a:t>admin panel, and analytics</a:t>
            </a:r>
          </a:p>
        </p:txBody>
      </p:sp>
      <p:sp>
        <p:nvSpPr>
          <p:cNvPr id="18" name="TextBox 17"/>
          <p:cNvSpPr txBox="1"/>
          <p:nvPr/>
        </p:nvSpPr>
        <p:spPr>
          <a:xfrm>
            <a:off x="548640" y="5120640"/>
            <a:ext cx="11064240" cy="914400"/>
          </a:xfrm>
          <a:prstGeom prst="rect">
            <a:avLst/>
          </a:prstGeom>
          <a:noFill/>
        </p:spPr>
        <p:txBody>
          <a:bodyPr wrap="square">
            <a:spAutoFit/>
          </a:bodyPr>
          <a:lstStyle/>
          <a:p>
            <a:pPr algn="l">
              <a:defRPr sz="1400" b="0">
                <a:solidFill>
                  <a:srgbClr val="64748B"/>
                </a:solidFill>
                <a:latin typeface="Trebuchet MS"/>
              </a:defRPr>
            </a:pPr>
            <a:r>
              <a:t>The platform is production-ready with full authentication (Google OAuth + Email OTP), admin controls, CSV report generation, and a responsive React dashboard.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707886"/>
          </a:xfrm>
          <a:prstGeom prst="rect">
            <a:avLst/>
          </a:prstGeom>
          <a:noFill/>
        </p:spPr>
        <p:txBody>
          <a:bodyPr wrap="square">
            <a:spAutoFit/>
          </a:bodyPr>
          <a:lstStyle/>
          <a:p>
            <a:pPr algn="l">
              <a:defRPr sz="4000" b="1">
                <a:solidFill>
                  <a:srgbClr val="FF4D29"/>
                </a:solidFill>
                <a:latin typeface="Trebuchet MS"/>
              </a:defRPr>
            </a:pPr>
            <a:r>
              <a:rPr lang="en-US" dirty="0"/>
              <a:t>10</a:t>
            </a:r>
            <a:endParaRPr dirty="0"/>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Future Scope</a:t>
            </a:r>
          </a:p>
        </p:txBody>
      </p:sp>
      <p:sp>
        <p:nvSpPr>
          <p:cNvPr id="5" name="Rounded Rectangle 4"/>
          <p:cNvSpPr/>
          <p:nvPr/>
        </p:nvSpPr>
        <p:spPr>
          <a:xfrm>
            <a:off x="320040" y="169164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 y="2011680"/>
            <a:ext cx="320040" cy="32004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4572000" cy="365760"/>
          </a:xfrm>
          <a:prstGeom prst="rect">
            <a:avLst/>
          </a:prstGeom>
          <a:noFill/>
        </p:spPr>
        <p:txBody>
          <a:bodyPr wrap="square">
            <a:spAutoFit/>
          </a:bodyPr>
          <a:lstStyle/>
          <a:p>
            <a:pPr algn="l">
              <a:defRPr sz="1500" b="1">
                <a:solidFill>
                  <a:srgbClr val="FFFFFF"/>
                </a:solidFill>
                <a:latin typeface="Trebuchet MS"/>
              </a:defRPr>
            </a:pPr>
            <a:r>
              <a:t>Automated Payment Gateway</a:t>
            </a:r>
          </a:p>
        </p:txBody>
      </p:sp>
      <p:sp>
        <p:nvSpPr>
          <p:cNvPr id="8" name="TextBox 7"/>
          <p:cNvSpPr txBox="1"/>
          <p:nvPr/>
        </p:nvSpPr>
        <p:spPr>
          <a:xfrm>
            <a:off x="1005840" y="2331720"/>
            <a:ext cx="4572000" cy="640080"/>
          </a:xfrm>
          <a:prstGeom prst="rect">
            <a:avLst/>
          </a:prstGeom>
          <a:noFill/>
        </p:spPr>
        <p:txBody>
          <a:bodyPr wrap="square">
            <a:spAutoFit/>
          </a:bodyPr>
          <a:lstStyle/>
          <a:p>
            <a:pPr algn="l">
              <a:defRPr sz="1300" b="0">
                <a:solidFill>
                  <a:srgbClr val="94A3B8"/>
                </a:solidFill>
                <a:latin typeface="Trebuchet MS"/>
              </a:defRPr>
            </a:pPr>
            <a:r>
              <a:t>Replace manual UPI verification with Razorpay or Stripe for instant subscription activation.</a:t>
            </a:r>
          </a:p>
        </p:txBody>
      </p:sp>
      <p:sp>
        <p:nvSpPr>
          <p:cNvPr id="9" name="Rounded Rectangle 8"/>
          <p:cNvSpPr/>
          <p:nvPr/>
        </p:nvSpPr>
        <p:spPr>
          <a:xfrm>
            <a:off x="5943600" y="169164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172200" y="2011680"/>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1920240"/>
            <a:ext cx="4572000" cy="365760"/>
          </a:xfrm>
          <a:prstGeom prst="rect">
            <a:avLst/>
          </a:prstGeom>
          <a:noFill/>
        </p:spPr>
        <p:txBody>
          <a:bodyPr wrap="square">
            <a:spAutoFit/>
          </a:bodyPr>
          <a:lstStyle/>
          <a:p>
            <a:pPr algn="l">
              <a:defRPr sz="1500" b="1">
                <a:solidFill>
                  <a:srgbClr val="FFFFFF"/>
                </a:solidFill>
                <a:latin typeface="Trebuchet MS"/>
              </a:defRPr>
            </a:pPr>
            <a:r>
              <a:t>Demographic Estimation</a:t>
            </a:r>
          </a:p>
        </p:txBody>
      </p:sp>
      <p:sp>
        <p:nvSpPr>
          <p:cNvPr id="12" name="TextBox 11"/>
          <p:cNvSpPr txBox="1"/>
          <p:nvPr/>
        </p:nvSpPr>
        <p:spPr>
          <a:xfrm>
            <a:off x="6629400" y="2331720"/>
            <a:ext cx="4572000" cy="640080"/>
          </a:xfrm>
          <a:prstGeom prst="rect">
            <a:avLst/>
          </a:prstGeom>
          <a:noFill/>
        </p:spPr>
        <p:txBody>
          <a:bodyPr wrap="square">
            <a:spAutoFit/>
          </a:bodyPr>
          <a:lstStyle/>
          <a:p>
            <a:pPr algn="l">
              <a:defRPr sz="1300" b="0">
                <a:solidFill>
                  <a:srgbClr val="94A3B8"/>
                </a:solidFill>
                <a:latin typeface="Trebuchet MS"/>
              </a:defRPr>
            </a:pPr>
            <a:r>
              <a:t>Add age and gender estimation using deep learning to provide audience demographic insights.</a:t>
            </a:r>
          </a:p>
        </p:txBody>
      </p:sp>
      <p:sp>
        <p:nvSpPr>
          <p:cNvPr id="13" name="Rounded Rectangle 12"/>
          <p:cNvSpPr/>
          <p:nvPr/>
        </p:nvSpPr>
        <p:spPr>
          <a:xfrm>
            <a:off x="320040" y="324612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48640" y="3566160"/>
            <a:ext cx="320040" cy="32004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474720"/>
            <a:ext cx="4572000" cy="365760"/>
          </a:xfrm>
          <a:prstGeom prst="rect">
            <a:avLst/>
          </a:prstGeom>
          <a:noFill/>
        </p:spPr>
        <p:txBody>
          <a:bodyPr wrap="square">
            <a:spAutoFit/>
          </a:bodyPr>
          <a:lstStyle/>
          <a:p>
            <a:pPr algn="l">
              <a:defRPr sz="1500" b="1">
                <a:solidFill>
                  <a:srgbClr val="FFFFFF"/>
                </a:solidFill>
                <a:latin typeface="Trebuchet MS"/>
              </a:defRPr>
            </a:pPr>
            <a:r>
              <a:t>Frame-by-Frame Gaze Heatmaps</a:t>
            </a:r>
          </a:p>
        </p:txBody>
      </p:sp>
      <p:sp>
        <p:nvSpPr>
          <p:cNvPr id="16" name="TextBox 15"/>
          <p:cNvSpPr txBox="1"/>
          <p:nvPr/>
        </p:nvSpPr>
        <p:spPr>
          <a:xfrm>
            <a:off x="1005840" y="3886200"/>
            <a:ext cx="4572000" cy="640080"/>
          </a:xfrm>
          <a:prstGeom prst="rect">
            <a:avLst/>
          </a:prstGeom>
          <a:noFill/>
        </p:spPr>
        <p:txBody>
          <a:bodyPr wrap="square">
            <a:spAutoFit/>
          </a:bodyPr>
          <a:lstStyle/>
          <a:p>
            <a:pPr algn="l">
              <a:defRPr sz="1300" b="0">
                <a:solidFill>
                  <a:srgbClr val="94A3B8"/>
                </a:solidFill>
                <a:latin typeface="Trebuchet MS"/>
              </a:defRPr>
            </a:pPr>
            <a:r>
              <a:t>Generate pixel-level attention heatmaps overlaid directly on the advertisement creative.</a:t>
            </a:r>
          </a:p>
        </p:txBody>
      </p:sp>
      <p:sp>
        <p:nvSpPr>
          <p:cNvPr id="17" name="Rounded Rectangle 16"/>
          <p:cNvSpPr/>
          <p:nvPr/>
        </p:nvSpPr>
        <p:spPr>
          <a:xfrm>
            <a:off x="5943600" y="324612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172200" y="3566160"/>
            <a:ext cx="320040" cy="32004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3474720"/>
            <a:ext cx="4572000" cy="365760"/>
          </a:xfrm>
          <a:prstGeom prst="rect">
            <a:avLst/>
          </a:prstGeom>
          <a:noFill/>
        </p:spPr>
        <p:txBody>
          <a:bodyPr wrap="square">
            <a:spAutoFit/>
          </a:bodyPr>
          <a:lstStyle/>
          <a:p>
            <a:pPr algn="l">
              <a:defRPr sz="1500" b="1">
                <a:solidFill>
                  <a:srgbClr val="FFFFFF"/>
                </a:solidFill>
                <a:latin typeface="Trebuchet MS"/>
              </a:defRPr>
            </a:pPr>
            <a:r>
              <a:t>A/B Testing Engine</a:t>
            </a:r>
          </a:p>
        </p:txBody>
      </p:sp>
      <p:sp>
        <p:nvSpPr>
          <p:cNvPr id="20" name="TextBox 19"/>
          <p:cNvSpPr txBox="1"/>
          <p:nvPr/>
        </p:nvSpPr>
        <p:spPr>
          <a:xfrm>
            <a:off x="6629400" y="3886200"/>
            <a:ext cx="4572000" cy="640080"/>
          </a:xfrm>
          <a:prstGeom prst="rect">
            <a:avLst/>
          </a:prstGeom>
          <a:noFill/>
        </p:spPr>
        <p:txBody>
          <a:bodyPr wrap="square">
            <a:spAutoFit/>
          </a:bodyPr>
          <a:lstStyle/>
          <a:p>
            <a:pPr algn="l">
              <a:defRPr sz="1300" b="0">
                <a:solidFill>
                  <a:srgbClr val="94A3B8"/>
                </a:solidFill>
                <a:latin typeface="Trebuchet MS"/>
              </a:defRPr>
            </a:pPr>
            <a:r>
              <a:t>Allow advertisers to run split tests between different ad creatives and compare engagement.</a:t>
            </a:r>
          </a:p>
        </p:txBody>
      </p:sp>
      <p:sp>
        <p:nvSpPr>
          <p:cNvPr id="21" name="Rounded Rectangle 20"/>
          <p:cNvSpPr/>
          <p:nvPr/>
        </p:nvSpPr>
        <p:spPr>
          <a:xfrm>
            <a:off x="320040" y="480060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48640" y="5120640"/>
            <a:ext cx="320040" cy="32004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5029200"/>
            <a:ext cx="4572000" cy="365760"/>
          </a:xfrm>
          <a:prstGeom prst="rect">
            <a:avLst/>
          </a:prstGeom>
          <a:noFill/>
        </p:spPr>
        <p:txBody>
          <a:bodyPr wrap="square">
            <a:spAutoFit/>
          </a:bodyPr>
          <a:lstStyle/>
          <a:p>
            <a:pPr algn="l">
              <a:defRPr sz="1500" b="1">
                <a:solidFill>
                  <a:srgbClr val="FFFFFF"/>
                </a:solidFill>
                <a:latin typeface="Trebuchet MS"/>
              </a:defRPr>
            </a:pPr>
            <a:r>
              <a:t>Multi-Language Support</a:t>
            </a:r>
          </a:p>
        </p:txBody>
      </p:sp>
      <p:sp>
        <p:nvSpPr>
          <p:cNvPr id="24" name="TextBox 23"/>
          <p:cNvSpPr txBox="1"/>
          <p:nvPr/>
        </p:nvSpPr>
        <p:spPr>
          <a:xfrm>
            <a:off x="1005840" y="5440680"/>
            <a:ext cx="4572000" cy="640080"/>
          </a:xfrm>
          <a:prstGeom prst="rect">
            <a:avLst/>
          </a:prstGeom>
          <a:noFill/>
        </p:spPr>
        <p:txBody>
          <a:bodyPr wrap="square">
            <a:spAutoFit/>
          </a:bodyPr>
          <a:lstStyle/>
          <a:p>
            <a:pPr algn="l">
              <a:defRPr sz="1300" b="0">
                <a:solidFill>
                  <a:srgbClr val="94A3B8"/>
                </a:solidFill>
                <a:latin typeface="Trebuchet MS"/>
              </a:defRPr>
            </a:pPr>
            <a:r>
              <a:t>Internationalize the dashboard UI to support Hindi, Spanish, and other regional languages.</a:t>
            </a:r>
          </a:p>
        </p:txBody>
      </p:sp>
      <p:sp>
        <p:nvSpPr>
          <p:cNvPr id="25" name="Rounded Rectangle 24"/>
          <p:cNvSpPr/>
          <p:nvPr/>
        </p:nvSpPr>
        <p:spPr>
          <a:xfrm>
            <a:off x="5943600" y="4800600"/>
            <a:ext cx="5440680" cy="141732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72200" y="5120640"/>
            <a:ext cx="320040" cy="32004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29400" y="5029200"/>
            <a:ext cx="4572000" cy="365760"/>
          </a:xfrm>
          <a:prstGeom prst="rect">
            <a:avLst/>
          </a:prstGeom>
          <a:noFill/>
        </p:spPr>
        <p:txBody>
          <a:bodyPr wrap="square">
            <a:spAutoFit/>
          </a:bodyPr>
          <a:lstStyle/>
          <a:p>
            <a:pPr algn="l">
              <a:defRPr sz="1500" b="1">
                <a:solidFill>
                  <a:srgbClr val="FFFFFF"/>
                </a:solidFill>
                <a:latin typeface="Trebuchet MS"/>
              </a:defRPr>
            </a:pPr>
            <a:r>
              <a:t>Mobile SDK</a:t>
            </a:r>
          </a:p>
        </p:txBody>
      </p:sp>
      <p:sp>
        <p:nvSpPr>
          <p:cNvPr id="28" name="TextBox 27"/>
          <p:cNvSpPr txBox="1"/>
          <p:nvPr/>
        </p:nvSpPr>
        <p:spPr>
          <a:xfrm>
            <a:off x="6629400" y="5440680"/>
            <a:ext cx="4572000" cy="640080"/>
          </a:xfrm>
          <a:prstGeom prst="rect">
            <a:avLst/>
          </a:prstGeom>
          <a:noFill/>
        </p:spPr>
        <p:txBody>
          <a:bodyPr wrap="square">
            <a:spAutoFit/>
          </a:bodyPr>
          <a:lstStyle/>
          <a:p>
            <a:pPr algn="l">
              <a:defRPr sz="1300" b="0">
                <a:solidFill>
                  <a:srgbClr val="94A3B8"/>
                </a:solidFill>
                <a:latin typeface="Trebuchet MS"/>
              </a:defRPr>
            </a:pPr>
            <a:r>
              <a:t>Develop native Android/iOS SDKs for in-app ad tracking beyond browser environments.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 cy="707886"/>
          </a:xfrm>
          <a:prstGeom prst="rect">
            <a:avLst/>
          </a:prstGeom>
          <a:noFill/>
        </p:spPr>
        <p:txBody>
          <a:bodyPr wrap="square">
            <a:spAutoFit/>
          </a:bodyPr>
          <a:lstStyle/>
          <a:p>
            <a:pPr algn="l">
              <a:defRPr sz="4000" b="1">
                <a:solidFill>
                  <a:srgbClr val="FF4D29"/>
                </a:solidFill>
                <a:latin typeface="Trebuchet MS"/>
              </a:defRPr>
            </a:pPr>
            <a:r>
              <a:rPr dirty="0"/>
              <a:t>1</a:t>
            </a:r>
            <a:r>
              <a:rPr lang="en-US" dirty="0"/>
              <a:t>1</a:t>
            </a:r>
            <a:endParaRPr dirty="0"/>
          </a:p>
        </p:txBody>
      </p:sp>
      <p:sp>
        <p:nvSpPr>
          <p:cNvPr id="3" name="Rectangle 2"/>
          <p:cNvSpPr/>
          <p:nvPr/>
        </p:nvSpPr>
        <p:spPr>
          <a:xfrm>
            <a:off x="548640" y="868680"/>
            <a:ext cx="640080" cy="381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60120"/>
            <a:ext cx="10058400" cy="548640"/>
          </a:xfrm>
          <a:prstGeom prst="rect">
            <a:avLst/>
          </a:prstGeom>
          <a:noFill/>
        </p:spPr>
        <p:txBody>
          <a:bodyPr wrap="square">
            <a:spAutoFit/>
          </a:bodyPr>
          <a:lstStyle/>
          <a:p>
            <a:pPr algn="l">
              <a:defRPr sz="3800" b="1">
                <a:solidFill>
                  <a:srgbClr val="FFFFFF"/>
                </a:solidFill>
                <a:latin typeface="Trebuchet MS"/>
              </a:defRPr>
            </a:pPr>
            <a:r>
              <a:t>References</a:t>
            </a:r>
          </a:p>
        </p:txBody>
      </p:sp>
      <p:sp>
        <p:nvSpPr>
          <p:cNvPr id="5" name="Rounded Rectangle 4"/>
          <p:cNvSpPr/>
          <p:nvPr/>
        </p:nvSpPr>
        <p:spPr>
          <a:xfrm>
            <a:off x="320040" y="1737360"/>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783080"/>
            <a:ext cx="11064240" cy="365760"/>
          </a:xfrm>
          <a:prstGeom prst="rect">
            <a:avLst/>
          </a:prstGeom>
          <a:noFill/>
        </p:spPr>
        <p:txBody>
          <a:bodyPr wrap="square">
            <a:spAutoFit/>
          </a:bodyPr>
          <a:lstStyle/>
          <a:p>
            <a:pPr algn="l">
              <a:defRPr sz="1100" b="0">
                <a:solidFill>
                  <a:srgbClr val="94A3B8"/>
                </a:solidFill>
                <a:latin typeface="Trebuchet MS"/>
              </a:defRPr>
            </a:pPr>
            <a:r>
              <a:t>[1]   Google MediaPipe -- Face Mesh &amp; Iris Tracking                           https://developers.google.com/mediapipe</a:t>
            </a:r>
          </a:p>
        </p:txBody>
      </p:sp>
      <p:sp>
        <p:nvSpPr>
          <p:cNvPr id="7" name="Rounded Rectangle 6"/>
          <p:cNvSpPr/>
          <p:nvPr/>
        </p:nvSpPr>
        <p:spPr>
          <a:xfrm>
            <a:off x="320040" y="2212848"/>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258568"/>
            <a:ext cx="11064240" cy="365760"/>
          </a:xfrm>
          <a:prstGeom prst="rect">
            <a:avLst/>
          </a:prstGeom>
          <a:noFill/>
        </p:spPr>
        <p:txBody>
          <a:bodyPr wrap="square">
            <a:spAutoFit/>
          </a:bodyPr>
          <a:lstStyle/>
          <a:p>
            <a:pPr algn="l">
              <a:defRPr sz="1100" b="0">
                <a:solidFill>
                  <a:srgbClr val="94A3B8"/>
                </a:solidFill>
                <a:latin typeface="Trebuchet MS"/>
              </a:defRPr>
            </a:pPr>
            <a:r>
              <a:t>[2]   FER -- Facial Expression Recognition Library (CNN)                      https://github.com/justinshenk/fer</a:t>
            </a:r>
          </a:p>
        </p:txBody>
      </p:sp>
      <p:sp>
        <p:nvSpPr>
          <p:cNvPr id="9" name="Rounded Rectangle 8"/>
          <p:cNvSpPr/>
          <p:nvPr/>
        </p:nvSpPr>
        <p:spPr>
          <a:xfrm>
            <a:off x="320040" y="2688336"/>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734056"/>
            <a:ext cx="11064240" cy="365760"/>
          </a:xfrm>
          <a:prstGeom prst="rect">
            <a:avLst/>
          </a:prstGeom>
          <a:noFill/>
        </p:spPr>
        <p:txBody>
          <a:bodyPr wrap="square">
            <a:spAutoFit/>
          </a:bodyPr>
          <a:lstStyle/>
          <a:p>
            <a:pPr algn="l">
              <a:defRPr sz="1100" b="0">
                <a:solidFill>
                  <a:srgbClr val="94A3B8"/>
                </a:solidFill>
                <a:latin typeface="Trebuchet MS"/>
              </a:defRPr>
            </a:pPr>
            <a:r>
              <a:t>[3]   FastAPI -- Modern High-Performance Python Web Framework                 https://fastapi.tiangolo.com</a:t>
            </a:r>
          </a:p>
        </p:txBody>
      </p:sp>
      <p:sp>
        <p:nvSpPr>
          <p:cNvPr id="11" name="Rounded Rectangle 10"/>
          <p:cNvSpPr/>
          <p:nvPr/>
        </p:nvSpPr>
        <p:spPr>
          <a:xfrm>
            <a:off x="320040" y="3163824"/>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209544"/>
            <a:ext cx="11064240" cy="365760"/>
          </a:xfrm>
          <a:prstGeom prst="rect">
            <a:avLst/>
          </a:prstGeom>
          <a:noFill/>
        </p:spPr>
        <p:txBody>
          <a:bodyPr wrap="square">
            <a:spAutoFit/>
          </a:bodyPr>
          <a:lstStyle/>
          <a:p>
            <a:pPr algn="l">
              <a:defRPr sz="1100" b="0">
                <a:solidFill>
                  <a:srgbClr val="94A3B8"/>
                </a:solidFill>
                <a:latin typeface="Trebuchet MS"/>
              </a:defRPr>
            </a:pPr>
            <a:r>
              <a:t>[4]   React.js -- Declarative Frontend JavaScript Library                     https://react.dev</a:t>
            </a:r>
          </a:p>
        </p:txBody>
      </p:sp>
      <p:sp>
        <p:nvSpPr>
          <p:cNvPr id="13" name="Rounded Rectangle 12"/>
          <p:cNvSpPr/>
          <p:nvPr/>
        </p:nvSpPr>
        <p:spPr>
          <a:xfrm>
            <a:off x="320040" y="3639312"/>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685032"/>
            <a:ext cx="11064240" cy="365760"/>
          </a:xfrm>
          <a:prstGeom prst="rect">
            <a:avLst/>
          </a:prstGeom>
          <a:noFill/>
        </p:spPr>
        <p:txBody>
          <a:bodyPr wrap="square">
            <a:spAutoFit/>
          </a:bodyPr>
          <a:lstStyle/>
          <a:p>
            <a:pPr algn="l">
              <a:defRPr sz="1100" b="0">
                <a:solidFill>
                  <a:srgbClr val="94A3B8"/>
                </a:solidFill>
                <a:latin typeface="Trebuchet MS"/>
              </a:defRPr>
            </a:pPr>
            <a:r>
              <a:t>[5]   MongoDB Atlas -- Fully Managed Cloud Database Service                   https://www.mongodb.com/atlas</a:t>
            </a:r>
          </a:p>
        </p:txBody>
      </p:sp>
      <p:sp>
        <p:nvSpPr>
          <p:cNvPr id="15" name="Rounded Rectangle 14"/>
          <p:cNvSpPr/>
          <p:nvPr/>
        </p:nvSpPr>
        <p:spPr>
          <a:xfrm>
            <a:off x="320040" y="4114800"/>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160520"/>
            <a:ext cx="11064240" cy="365760"/>
          </a:xfrm>
          <a:prstGeom prst="rect">
            <a:avLst/>
          </a:prstGeom>
          <a:noFill/>
        </p:spPr>
        <p:txBody>
          <a:bodyPr wrap="square">
            <a:spAutoFit/>
          </a:bodyPr>
          <a:lstStyle/>
          <a:p>
            <a:pPr algn="l">
              <a:defRPr sz="1100" b="0">
                <a:solidFill>
                  <a:srgbClr val="94A3B8"/>
                </a:solidFill>
                <a:latin typeface="Trebuchet MS"/>
              </a:defRPr>
            </a:pPr>
            <a:r>
              <a:t>[6]   Tailwind CSS -- Utility-First CSS Framework                             https://tailwindcss.com</a:t>
            </a:r>
          </a:p>
        </p:txBody>
      </p:sp>
      <p:sp>
        <p:nvSpPr>
          <p:cNvPr id="17" name="Rounded Rectangle 16"/>
          <p:cNvSpPr/>
          <p:nvPr/>
        </p:nvSpPr>
        <p:spPr>
          <a:xfrm>
            <a:off x="320040" y="4590288"/>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4636008"/>
            <a:ext cx="11064240" cy="365760"/>
          </a:xfrm>
          <a:prstGeom prst="rect">
            <a:avLst/>
          </a:prstGeom>
          <a:noFill/>
        </p:spPr>
        <p:txBody>
          <a:bodyPr wrap="square">
            <a:spAutoFit/>
          </a:bodyPr>
          <a:lstStyle/>
          <a:p>
            <a:pPr algn="l">
              <a:defRPr sz="1100" b="0">
                <a:solidFill>
                  <a:srgbClr val="94A3B8"/>
                </a:solidFill>
                <a:latin typeface="Trebuchet MS"/>
              </a:defRPr>
            </a:pPr>
            <a:r>
              <a:t>[7]   OpenCV -- Open Source Computer Vision Library                           https://opencv.org</a:t>
            </a:r>
          </a:p>
        </p:txBody>
      </p:sp>
      <p:sp>
        <p:nvSpPr>
          <p:cNvPr id="19" name="Rounded Rectangle 18"/>
          <p:cNvSpPr/>
          <p:nvPr/>
        </p:nvSpPr>
        <p:spPr>
          <a:xfrm>
            <a:off x="320040" y="5065776"/>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5111496"/>
            <a:ext cx="11064240" cy="365760"/>
          </a:xfrm>
          <a:prstGeom prst="rect">
            <a:avLst/>
          </a:prstGeom>
          <a:noFill/>
        </p:spPr>
        <p:txBody>
          <a:bodyPr wrap="square">
            <a:spAutoFit/>
          </a:bodyPr>
          <a:lstStyle/>
          <a:p>
            <a:pPr algn="l">
              <a:defRPr sz="1100" b="0">
                <a:solidFill>
                  <a:srgbClr val="94A3B8"/>
                </a:solidFill>
                <a:latin typeface="Trebuchet MS"/>
              </a:defRPr>
            </a:pPr>
            <a:r>
              <a:t>[8]   python-jose -- JSON Web Token (JWT) Implementation                     https://github.com/mpdavis/python-jose</a:t>
            </a:r>
          </a:p>
        </p:txBody>
      </p:sp>
      <p:sp>
        <p:nvSpPr>
          <p:cNvPr id="21" name="Rounded Rectangle 20"/>
          <p:cNvSpPr/>
          <p:nvPr/>
        </p:nvSpPr>
        <p:spPr>
          <a:xfrm>
            <a:off x="320040" y="5541264"/>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586984"/>
            <a:ext cx="11064240" cy="365760"/>
          </a:xfrm>
          <a:prstGeom prst="rect">
            <a:avLst/>
          </a:prstGeom>
          <a:noFill/>
        </p:spPr>
        <p:txBody>
          <a:bodyPr wrap="square">
            <a:spAutoFit/>
          </a:bodyPr>
          <a:lstStyle/>
          <a:p>
            <a:pPr algn="l">
              <a:defRPr sz="1100" b="0">
                <a:solidFill>
                  <a:srgbClr val="94A3B8"/>
                </a:solidFill>
                <a:latin typeface="Trebuchet MS"/>
              </a:defRPr>
            </a:pPr>
            <a:r>
              <a:t>[9]   Vite -- Next-Generation Frontend Build Tool                            https://vitejs.dev</a:t>
            </a:r>
          </a:p>
        </p:txBody>
      </p:sp>
      <p:sp>
        <p:nvSpPr>
          <p:cNvPr id="23" name="Rounded Rectangle 22"/>
          <p:cNvSpPr/>
          <p:nvPr/>
        </p:nvSpPr>
        <p:spPr>
          <a:xfrm>
            <a:off x="320040" y="6016752"/>
            <a:ext cx="11430000" cy="411480"/>
          </a:xfrm>
          <a:prstGeom prst="roundRect">
            <a:avLst/>
          </a:prstGeom>
          <a:solidFill>
            <a:srgbClr val="111620"/>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062472"/>
            <a:ext cx="11064240" cy="365760"/>
          </a:xfrm>
          <a:prstGeom prst="rect">
            <a:avLst/>
          </a:prstGeom>
          <a:noFill/>
        </p:spPr>
        <p:txBody>
          <a:bodyPr wrap="square">
            <a:spAutoFit/>
          </a:bodyPr>
          <a:lstStyle/>
          <a:p>
            <a:pPr algn="l">
              <a:defRPr sz="1100" b="0">
                <a:solidFill>
                  <a:srgbClr val="94A3B8"/>
                </a:solidFill>
                <a:latin typeface="Trebuchet MS"/>
              </a:defRPr>
            </a:pPr>
            <a:r>
              <a:t>[10]  Recharts -- React Charting Library                                      https://recharts.org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D14"/>
        </a:solidFill>
        <a:effectLst/>
      </p:bgPr>
    </p:bg>
    <p:spTree>
      <p:nvGrpSpPr>
        <p:cNvPr id="1" name=""/>
        <p:cNvGrpSpPr/>
        <p:nvPr/>
      </p:nvGrpSpPr>
      <p:grpSpPr>
        <a:xfrm>
          <a:off x="0" y="0"/>
          <a:ext cx="0" cy="0"/>
          <a:chOff x="0" y="0"/>
          <a:chExt cx="0" cy="0"/>
        </a:xfrm>
      </p:grpSpPr>
      <p:sp>
        <p:nvSpPr>
          <p:cNvPr id="2" name="Oval 1"/>
          <p:cNvSpPr/>
          <p:nvPr/>
        </p:nvSpPr>
        <p:spPr>
          <a:xfrm>
            <a:off x="8229600" y="-1371600"/>
            <a:ext cx="4572000" cy="4572000"/>
          </a:xfrm>
          <a:prstGeom prst="ellipse">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3657600"/>
            <a:ext cx="4572000" cy="45720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0" y="2286000"/>
            <a:ext cx="4572000" cy="50800"/>
          </a:xfrm>
          <a:prstGeom prst="rect">
            <a:avLst/>
          </a:prstGeom>
          <a:solidFill>
            <a:srgbClr val="FF4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0"/>
            <a:ext cx="11247120" cy="914400"/>
          </a:xfrm>
          <a:prstGeom prst="rect">
            <a:avLst/>
          </a:prstGeom>
          <a:noFill/>
        </p:spPr>
        <p:txBody>
          <a:bodyPr wrap="square">
            <a:spAutoFit/>
          </a:bodyPr>
          <a:lstStyle/>
          <a:p>
            <a:pPr algn="ctr">
              <a:defRPr sz="5800" b="1">
                <a:solidFill>
                  <a:srgbClr val="FFFFFF"/>
                </a:solidFill>
                <a:latin typeface="Trebuchet MS"/>
              </a:defRPr>
            </a:pPr>
            <a:r>
              <a:t>Thank You!</a:t>
            </a:r>
          </a:p>
        </p:txBody>
      </p:sp>
      <p:sp>
        <p:nvSpPr>
          <p:cNvPr id="6" name="TextBox 5"/>
          <p:cNvSpPr txBox="1"/>
          <p:nvPr/>
        </p:nvSpPr>
        <p:spPr>
          <a:xfrm>
            <a:off x="457200" y="3657600"/>
            <a:ext cx="11247120" cy="457200"/>
          </a:xfrm>
          <a:prstGeom prst="rect">
            <a:avLst/>
          </a:prstGeom>
          <a:noFill/>
        </p:spPr>
        <p:txBody>
          <a:bodyPr wrap="square">
            <a:spAutoFit/>
          </a:bodyPr>
          <a:lstStyle/>
          <a:p>
            <a:pPr algn="ctr">
              <a:defRPr sz="2400" b="0">
                <a:solidFill>
                  <a:srgbClr val="FF4D29"/>
                </a:solidFill>
                <a:latin typeface="Trebuchet MS"/>
              </a:defRPr>
            </a:pPr>
            <a:r>
              <a:t>Questions &amp; Discussion</a:t>
            </a:r>
          </a:p>
        </p:txBody>
      </p:sp>
      <p:sp>
        <p:nvSpPr>
          <p:cNvPr id="7" name="TextBox 6"/>
          <p:cNvSpPr txBox="1"/>
          <p:nvPr/>
        </p:nvSpPr>
        <p:spPr>
          <a:xfrm>
            <a:off x="1371600" y="4846320"/>
            <a:ext cx="9418320" cy="457200"/>
          </a:xfrm>
          <a:prstGeom prst="rect">
            <a:avLst/>
          </a:prstGeom>
          <a:noFill/>
        </p:spPr>
        <p:txBody>
          <a:bodyPr wrap="square">
            <a:spAutoFit/>
          </a:bodyPr>
          <a:lstStyle/>
          <a:p>
            <a:pPr algn="ctr">
              <a:defRPr sz="1300" b="0">
                <a:solidFill>
                  <a:srgbClr val="64748B"/>
                </a:solidFill>
                <a:latin typeface="Trebuchet MS"/>
              </a:defRPr>
            </a:pPr>
            <a:r>
              <a:t>ATTENTION TRACE  |  AI-Powered Advertising Analytics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1450</Words>
  <Application>Microsoft Office PowerPoint</Application>
  <PresentationFormat>Widescreen</PresentationFormat>
  <Paragraphs>193</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sujanchaurasia22@gmail.com</cp:lastModifiedBy>
  <cp:revision>10</cp:revision>
  <dcterms:created xsi:type="dcterms:W3CDTF">2013-01-27T09:14:16Z</dcterms:created>
  <dcterms:modified xsi:type="dcterms:W3CDTF">2026-05-24T17:00:17Z</dcterms:modified>
  <cp:category/>
</cp:coreProperties>
</file>